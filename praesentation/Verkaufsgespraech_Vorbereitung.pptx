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f0185552-35d2-f0c3-c97c-7b19b2ca1b54}">
          <p14:sldIdLst>
            <p14:sldId id="256"/>
            <p14:sldId id="257"/>
          </p14:sldIdLst>
        </p14:section>
        <p14:section name="Die 8 Phasen" id="{eade0689-1136-f3c6-59c9-dc747edc157f}">
          <p14:sldIdLst>
            <p14:sldId id="258"/>
            <p14:sldId id="259"/>
            <p14:sldId id="260"/>
            <p14:sldId id="261"/>
            <p14:sldId id="262"/>
            <p14:sldId id="263"/>
            <p14:sldId id="264"/>
            <p14:sldId id="265"/>
            <p14:sldId id="266"/>
          </p14:sldIdLst>
        </p14:section>
        <p14:section name="Kundentypen" id="{cbce1a4e-1bd2-aee8-7593-01d539f13947}">
          <p14:sldIdLst>
            <p14:sldId id="267"/>
          </p14:sldIdLst>
        </p14:section>
        <p14:section name="Übung" id="{200a9aa5-eea3-97a3-242b-0a49ea450d4e}">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Fragen Sie die Klasse nach eigenen Erfahrungen als Kundin oder Kunde. Was macht ein gutes Verkaufsgespräch aus, was ein schlechtes? Die fünf Figuren sind die Kundinnen und Kunden aus der Übungs-App.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kurz vorlesen. Die App ist die Übungsphase im Anschluss, die Präsentation liefert das Handwerkszeug dafür.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Reihenfolge ist kein Zufall: Wer ohne Bedarfsermittlung Ware zeigt, verkauft am Bedarf vorbei. Der Fortschrittsbalken in der App zeigt dieselben acht Phasen.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im Rollenspiel vormachen lassen: Einmal „Kann ich helfen?“ und einmal warenbezogen. Wie reagiert die Kundin jeweils?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der App merkt man das sofort: Bei offenen Fragen erzählt die Kundschaft von sich aus von Knieproblemen, Enkelin oder Gartenliebe. Diese Informationen braucht man später für die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Düften gilt: Nach drei bis vier Proben riecht die Nase kaum noch Unterschiede. Darum auch hier wenige Artikel.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Übung: Lassen Sie die Klasse für die Regenjacke (wasserdichte Membran) und das Smartphone (großes Display) selbst Eigenschaft → Vorteil → Nutzen formulieren. Fachbegriffe wie „Sprengung“ immer übersetzen.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Preis soll nie „nackt“ im Raum stehen. Im Szenario mit Herrn Albers wird außerdem deutlich: den Preis klar und deutlich aussprechen, keine komplizierten Tarifdetails.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Gegenbeispiele aus der App: „Da kaufen Sie nur Schrott“ (abwerten), „Dann kaufen Sie doch online“ (aufgeben), „Ach, das ist doch übertrieben“ (Sorge wegwischen).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Tabelle zeigt die Ergänzungsangebote aus den fünf App-Szenarien. Fragen Sie: Welche Ergänzung wäre zu einem Fahrrad oder einem Kinderwagen sinnvoll?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Gegenbeispiele: „Tschüss“ mit Blick zum nächsten Kunden oder „So, jetzt aber raus, wir haben Feierabend.“ Ein schlechter Abschluss entwertet das ganze Gespräch.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Ladenschluss: Wer vor Ladenschluss im Geschäft ist, darf noch fertig bedient werden. Fragen an die Klasse: Welche Kundentypen haben Sie selbst schon erlebt? Was war schwierig?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Empfehlung: mit dem leichten Szenario beginnen. Die schwierigeren Kundentypen bauen auf den Grundlagen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Bestwerte werden nur auf dem jeweiligen iPad gespeichert. Für eine Klassenauswertung die Noten mündlich oder per Screenshot sammeln.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 Sicherung: Ergebnisse im Plenum sammeln. Anschließend können Paare ein Szenario als echtes Rollenspiel nachspielen, eine Person verkauft, die andere spielt die Kundenfigur.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949440" cy="411480"/>
          </a:xfrm>
          <a:prstGeom prst="rect">
            <a:avLst/>
          </a:prstGeom>
          <a:noFill/>
          <a:ln/>
        </p:spPr>
        <p:txBody>
          <a:bodyPr wrap="square" rtlCol="0"/>
          <a:lstStyle>
            <a:lvl1pPr indent="0" marL="0">
              <a:buNone/>
              <a:defRPr lang="en-US" sz="1400" b="1" spc="3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87452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023360"/>
            <a:ext cx="6583680" cy="146304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Verkaufstraining Einzelhandel</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949440" cy="411480"/>
          </a:xfrm>
          <a:prstGeom prst="rect">
            <a:avLst/>
          </a:prstGeom>
          <a:noFill/>
          <a:ln/>
        </p:spPr>
        <p:txBody>
          <a:bodyPr wrap="square" lIns="0" tIns="0" rIns="0" bIns="0" rtlCol="0"/>
          <a:lstStyle/>
          <a:p>
            <a:pPr indent="0" marL="0">
              <a:buNone/>
            </a:pPr>
            <a:r>
              <a:rPr lang="en-US" sz="1400" b="1" spc="300" kern="0" dirty="0">
                <a:solidFill>
                  <a:schemeClr val="accent5"/>
                </a:solidFill>
              </a:rPr>
              <a:t>VORBEREITUNG AUF DAS VERKAUFSTRAINING</a:t>
            </a:r>
            <a:endParaRPr lang="en-US" sz="1400" dirty="0"/>
          </a:p>
        </p:txBody>
      </p:sp>
      <p:sp>
        <p:nvSpPr>
          <p:cNvPr id="3" name="Text 0"/>
          <p:cNvSpPr/>
          <p:nvPr>
            <p:ph idx="101" type="title" hasCustomPrompt="1"/>
          </p:nvPr>
        </p:nvSpPr>
        <p:spPr>
          <a:xfrm>
            <a:off x="548640" y="1874520"/>
            <a:ext cx="6949440" cy="2011680"/>
          </a:xfrm>
          <a:prstGeom prst="rect">
            <a:avLst/>
          </a:prstGeom>
          <a:noFill/>
          <a:ln/>
        </p:spPr>
        <p:txBody>
          <a:bodyPr wrap="square" lIns="0" tIns="0" rIns="0" bIns="0" rtlCol="0" anchor="t"/>
          <a:lstStyle/>
          <a:p>
            <a:pPr algn="l" indent="0" marL="0">
              <a:buNone/>
            </a:pPr>
            <a:r>
              <a:rPr lang="en-US" sz="4400" b="1" dirty="0">
                <a:solidFill>
                  <a:schemeClr val="bg1"/>
                </a:solidFill>
              </a:rPr>
              <a:t>Das Verkaufsgespräch in 8 Phasen</a:t>
            </a:r>
            <a:endParaRPr lang="en-US" sz="4400" dirty="0"/>
          </a:p>
        </p:txBody>
      </p:sp>
      <p:sp>
        <p:nvSpPr>
          <p:cNvPr id="4" name="Text 0"/>
          <p:cNvSpPr/>
          <p:nvPr>
            <p:ph idx="102" type="body" hasCustomPrompt="1"/>
          </p:nvPr>
        </p:nvSpPr>
        <p:spPr>
          <a:xfrm>
            <a:off x="548640" y="4023360"/>
            <a:ext cx="6583680" cy="1463040"/>
          </a:xfrm>
          <a:prstGeom prst="rect">
            <a:avLst/>
          </a:prstGeom>
          <a:noFill/>
          <a:ln/>
        </p:spPr>
        <p:txBody>
          <a:bodyPr wrap="square" lIns="0" tIns="0" rIns="0" bIns="0" rtlCol="0" anchor="t"/>
          <a:lstStyle/>
          <a:p>
            <a:pPr algn="l" indent="0" marL="0">
              <a:buNone/>
            </a:pPr>
            <a:r>
              <a:rPr lang="en-US" sz="1800" dirty="0">
                <a:solidFill>
                  <a:schemeClr val="accent5"/>
                </a:solidFill>
              </a:rPr>
              <a:t>Methoden, Formulierungen und Kundentypen für die Übungen im Sporthaus, Elektromarkt, Modehaus, in der Küchenwelt und in der Parfümerie</a:t>
            </a:r>
            <a:endParaRPr lang="en-US" sz="1800" dirty="0"/>
          </a:p>
        </p:txBody>
      </p:sp>
      <p:pic>
        <p:nvPicPr>
          <p:cNvPr id="5" name="Image 0" descr="Kundenfigur Frau Becker">    </p:cNvPr>
          <p:cNvPicPr>
            <a:picLocks noChangeAspect="1"/>
          </p:cNvPicPr>
          <p:nvPr/>
        </p:nvPicPr>
        <p:blipFill>
          <a:blip r:embed="rId1"/>
          <a:stretch>
            <a:fillRect/>
          </a:stretch>
        </p:blipFill>
        <p:spPr>
          <a:xfrm>
            <a:off x="8138160" y="1097280"/>
            <a:ext cx="1737360" cy="1737360"/>
          </a:xfrm>
          <a:prstGeom prst="rect">
            <a:avLst/>
          </a:prstGeom>
        </p:spPr>
      </p:pic>
      <p:pic>
        <p:nvPicPr>
          <p:cNvPr id="6" name="Image 1" descr="Kundenfigur Herr Albers">    </p:cNvPr>
          <p:cNvPicPr>
            <a:picLocks noChangeAspect="1"/>
          </p:cNvPicPr>
          <p:nvPr/>
        </p:nvPicPr>
        <p:blipFill>
          <a:blip r:embed="rId2"/>
          <a:stretch>
            <a:fillRect/>
          </a:stretch>
        </p:blipFill>
        <p:spPr>
          <a:xfrm>
            <a:off x="9966960" y="1737360"/>
            <a:ext cx="1737360" cy="1737360"/>
          </a:xfrm>
          <a:prstGeom prst="rect">
            <a:avLst/>
          </a:prstGeom>
        </p:spPr>
      </p:pic>
      <p:pic>
        <p:nvPicPr>
          <p:cNvPr id="7" name="Image 2" descr="Kundenfigur Herr Yilmaz">    </p:cNvPr>
          <p:cNvPicPr>
            <a:picLocks noChangeAspect="1"/>
          </p:cNvPicPr>
          <p:nvPr/>
        </p:nvPicPr>
        <p:blipFill>
          <a:blip r:embed="rId3"/>
          <a:stretch>
            <a:fillRect/>
          </a:stretch>
        </p:blipFill>
        <p:spPr>
          <a:xfrm>
            <a:off x="7863840" y="3017520"/>
            <a:ext cx="1737360" cy="1737360"/>
          </a:xfrm>
          <a:prstGeom prst="rect">
            <a:avLst/>
          </a:prstGeom>
        </p:spPr>
      </p:pic>
      <p:pic>
        <p:nvPicPr>
          <p:cNvPr id="8" name="Image 3" descr="Kundenfigur Herr Brenner">    </p:cNvPr>
          <p:cNvPicPr>
            <a:picLocks noChangeAspect="1"/>
          </p:cNvPicPr>
          <p:nvPr/>
        </p:nvPicPr>
        <p:blipFill>
          <a:blip r:embed="rId4"/>
          <a:stretch>
            <a:fillRect/>
          </a:stretch>
        </p:blipFill>
        <p:spPr>
          <a:xfrm>
            <a:off x="9692640" y="3657600"/>
            <a:ext cx="1737360" cy="1737360"/>
          </a:xfrm>
          <a:prstGeom prst="rect">
            <a:avLst/>
          </a:prstGeom>
        </p:spPr>
      </p:pic>
      <p:pic>
        <p:nvPicPr>
          <p:cNvPr id="9" name="Image 4" descr="Kundenfigur Lea">    </p:cNvPr>
          <p:cNvPicPr>
            <a:picLocks noChangeAspect="1"/>
          </p:cNvPicPr>
          <p:nvPr/>
        </p:nvPicPr>
        <p:blipFill>
          <a:blip r:embed="rId5"/>
          <a:stretch>
            <a:fillRect/>
          </a:stretch>
        </p:blipFill>
        <p:spPr>
          <a:xfrm>
            <a:off x="8229600" y="4800600"/>
            <a:ext cx="173736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WORUM ES GEHT</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Nach dieser Stunde können Sie …</a:t>
            </a:r>
            <a:endParaRPr lang="en-US" sz="3400" dirty="0"/>
          </a:p>
        </p:txBody>
      </p:sp>
      <p:sp>
        <p:nvSpPr>
          <p:cNvPr id="4" name="Symbolkreis"/>
          <p:cNvSpPr/>
          <p:nvPr/>
        </p:nvSpPr>
        <p:spPr>
          <a:xfrm>
            <a:off x="548640" y="1691640"/>
            <a:ext cx="566928" cy="566928"/>
          </a:xfrm>
          <a:prstGeom prst="ellipse">
            <a:avLst/>
          </a:prstGeom>
          <a:solidFill>
            <a:schemeClr val="accent5"/>
          </a:solidFill>
          <a:ln/>
        </p:spPr>
      </p:sp>
      <p:pic>
        <p:nvPicPr>
          <p:cNvPr id="5" name="Image 0" descr="Symbol">    </p:cNvPr>
          <p:cNvPicPr>
            <a:picLocks noChangeAspect="1"/>
          </p:cNvPicPr>
          <p:nvPr/>
        </p:nvPicPr>
        <p:blipFill>
          <a:blip r:embed="rId1"/>
          <a:stretch>
            <a:fillRect/>
          </a:stretch>
        </p:blipFill>
        <p:spPr>
          <a:xfrm>
            <a:off x="673364" y="1816364"/>
            <a:ext cx="317480" cy="317480"/>
          </a:xfrm>
          <a:prstGeom prst="rect">
            <a:avLst/>
          </a:prstGeom>
        </p:spPr>
      </p:pic>
      <p:sp>
        <p:nvSpPr>
          <p:cNvPr id="6" name="Text 3"/>
          <p:cNvSpPr txBox="1"/>
          <p:nvPr/>
        </p:nvSpPr>
        <p:spPr>
          <a:xfrm>
            <a:off x="1325880" y="1691640"/>
            <a:ext cx="5989320" cy="329184"/>
          </a:xfrm>
          <a:prstGeom prst="rect">
            <a:avLst/>
          </a:prstGeom>
          <a:noFill/>
          <a:ln/>
        </p:spPr>
        <p:txBody>
          <a:bodyPr wrap="square" lIns="0" tIns="0" rIns="0" bIns="0" rtlCol="0" anchor="t"/>
          <a:lstStyle/>
          <a:p>
            <a:pPr indent="0" marL="0">
              <a:buNone/>
            </a:pPr>
            <a:r>
              <a:rPr lang="en-US" sz="1700" b="1" dirty="0">
                <a:solidFill>
                  <a:schemeClr val="tx1"/>
                </a:solidFill>
              </a:rPr>
              <a:t>die 8 Phasen eines Verkaufsgesprächs benennen</a:t>
            </a:r>
            <a:endParaRPr lang="en-US" sz="1700" dirty="0"/>
          </a:p>
        </p:txBody>
      </p:sp>
      <p:sp>
        <p:nvSpPr>
          <p:cNvPr id="7" name="Text 4"/>
          <p:cNvSpPr txBox="1"/>
          <p:nvPr/>
        </p:nvSpPr>
        <p:spPr>
          <a:xfrm>
            <a:off x="1325880" y="2039112"/>
            <a:ext cx="5989320" cy="566928"/>
          </a:xfrm>
          <a:prstGeom prst="rect">
            <a:avLst/>
          </a:prstGeom>
          <a:noFill/>
          <a:ln/>
        </p:spPr>
        <p:txBody>
          <a:bodyPr wrap="square" lIns="0" tIns="0" rIns="0" bIns="0" rtlCol="0" anchor="t"/>
          <a:lstStyle/>
          <a:p>
            <a:pPr indent="0" marL="0">
              <a:buNone/>
            </a:pPr>
            <a:r>
              <a:rPr lang="en-US" sz="1400" dirty="0">
                <a:solidFill>
                  <a:schemeClr val="accent6"/>
                </a:solidFill>
              </a:rPr>
              <a:t>Von der Kontaktaufnahme bis zur Verabschiedung, in der richtigen Reihenfolge.</a:t>
            </a:r>
            <a:endParaRPr lang="en-US" sz="1400" dirty="0"/>
          </a:p>
        </p:txBody>
      </p:sp>
      <p:sp>
        <p:nvSpPr>
          <p:cNvPr id="8" name="Symbolkreis"/>
          <p:cNvSpPr/>
          <p:nvPr/>
        </p:nvSpPr>
        <p:spPr>
          <a:xfrm>
            <a:off x="548640" y="2788920"/>
            <a:ext cx="566928" cy="566928"/>
          </a:xfrm>
          <a:prstGeom prst="ellipse">
            <a:avLst/>
          </a:prstGeom>
          <a:solidFill>
            <a:schemeClr val="accent5"/>
          </a:solidFill>
          <a:ln/>
        </p:spPr>
      </p:sp>
      <p:pic>
        <p:nvPicPr>
          <p:cNvPr id="9" name="Image 1" descr="Symbol">    </p:cNvPr>
          <p:cNvPicPr>
            <a:picLocks noChangeAspect="1"/>
          </p:cNvPicPr>
          <p:nvPr/>
        </p:nvPicPr>
        <p:blipFill>
          <a:blip r:embed="rId2"/>
          <a:stretch>
            <a:fillRect/>
          </a:stretch>
        </p:blipFill>
        <p:spPr>
          <a:xfrm>
            <a:off x="673364" y="2913644"/>
            <a:ext cx="317480" cy="317480"/>
          </a:xfrm>
          <a:prstGeom prst="rect">
            <a:avLst/>
          </a:prstGeom>
        </p:spPr>
      </p:pic>
      <p:sp>
        <p:nvSpPr>
          <p:cNvPr id="10" name="Text 6"/>
          <p:cNvSpPr txBox="1"/>
          <p:nvPr/>
        </p:nvSpPr>
        <p:spPr>
          <a:xfrm>
            <a:off x="1325880" y="2788920"/>
            <a:ext cx="5989320" cy="329184"/>
          </a:xfrm>
          <a:prstGeom prst="rect">
            <a:avLst/>
          </a:prstGeom>
          <a:noFill/>
          <a:ln/>
        </p:spPr>
        <p:txBody>
          <a:bodyPr wrap="square" lIns="0" tIns="0" rIns="0" bIns="0" rtlCol="0" anchor="t"/>
          <a:lstStyle/>
          <a:p>
            <a:pPr indent="0" marL="0">
              <a:buNone/>
            </a:pPr>
            <a:r>
              <a:rPr lang="en-US" sz="1700" b="1" dirty="0">
                <a:solidFill>
                  <a:schemeClr val="tx1"/>
                </a:solidFill>
              </a:rPr>
              <a:t>passende Fragetechniken und Argumente einsetzen</a:t>
            </a:r>
            <a:endParaRPr lang="en-US" sz="1700" dirty="0"/>
          </a:p>
        </p:txBody>
      </p:sp>
      <p:sp>
        <p:nvSpPr>
          <p:cNvPr id="11" name="Text 7"/>
          <p:cNvSpPr txBox="1"/>
          <p:nvPr/>
        </p:nvSpPr>
        <p:spPr>
          <a:xfrm>
            <a:off x="1325880" y="3136392"/>
            <a:ext cx="5989320" cy="566928"/>
          </a:xfrm>
          <a:prstGeom prst="rect">
            <a:avLst/>
          </a:prstGeom>
          <a:noFill/>
          <a:ln/>
        </p:spPr>
        <p:txBody>
          <a:bodyPr wrap="square" lIns="0" tIns="0" rIns="0" bIns="0" rtlCol="0" anchor="t"/>
          <a:lstStyle/>
          <a:p>
            <a:pPr indent="0" marL="0">
              <a:buNone/>
            </a:pPr>
            <a:r>
              <a:rPr lang="en-US" sz="1400" dirty="0">
                <a:solidFill>
                  <a:schemeClr val="accent6"/>
                </a:solidFill>
              </a:rPr>
              <a:t>Offene Fragen, Eigenschaft → Vorteil → Nutzen, Sie-Stil, Sandwich-Methode.</a:t>
            </a:r>
            <a:endParaRPr lang="en-US" sz="1400" dirty="0"/>
          </a:p>
        </p:txBody>
      </p:sp>
      <p:sp>
        <p:nvSpPr>
          <p:cNvPr id="12" name="Symbolkreis"/>
          <p:cNvSpPr/>
          <p:nvPr/>
        </p:nvSpPr>
        <p:spPr>
          <a:xfrm>
            <a:off x="548640" y="3886200"/>
            <a:ext cx="566928" cy="566928"/>
          </a:xfrm>
          <a:prstGeom prst="ellipse">
            <a:avLst/>
          </a:prstGeom>
          <a:solidFill>
            <a:schemeClr val="accent5"/>
          </a:solidFill>
          <a:ln/>
        </p:spPr>
      </p:sp>
      <p:pic>
        <p:nvPicPr>
          <p:cNvPr id="13" name="Image 2" descr="Symbol">    </p:cNvPr>
          <p:cNvPicPr>
            <a:picLocks noChangeAspect="1"/>
          </p:cNvPicPr>
          <p:nvPr/>
        </p:nvPicPr>
        <p:blipFill>
          <a:blip r:embed="rId3"/>
          <a:stretch>
            <a:fillRect/>
          </a:stretch>
        </p:blipFill>
        <p:spPr>
          <a:xfrm>
            <a:off x="673364" y="4010924"/>
            <a:ext cx="317480" cy="317480"/>
          </a:xfrm>
          <a:prstGeom prst="rect">
            <a:avLst/>
          </a:prstGeom>
        </p:spPr>
      </p:pic>
      <p:sp>
        <p:nvSpPr>
          <p:cNvPr id="14" name="Text 9"/>
          <p:cNvSpPr txBox="1"/>
          <p:nvPr/>
        </p:nvSpPr>
        <p:spPr>
          <a:xfrm>
            <a:off x="1325880" y="3886200"/>
            <a:ext cx="5989320" cy="329184"/>
          </a:xfrm>
          <a:prstGeom prst="rect">
            <a:avLst/>
          </a:prstGeom>
          <a:noFill/>
          <a:ln/>
        </p:spPr>
        <p:txBody>
          <a:bodyPr wrap="square" lIns="0" tIns="0" rIns="0" bIns="0" rtlCol="0" anchor="t"/>
          <a:lstStyle/>
          <a:p>
            <a:pPr indent="0" marL="0">
              <a:buNone/>
            </a:pPr>
            <a:r>
              <a:rPr lang="en-US" sz="1700" b="1" dirty="0">
                <a:solidFill>
                  <a:schemeClr val="tx1"/>
                </a:solidFill>
              </a:rPr>
              <a:t>Einwände souverän behandeln</a:t>
            </a:r>
            <a:endParaRPr lang="en-US" sz="1700" dirty="0"/>
          </a:p>
        </p:txBody>
      </p:sp>
      <p:sp>
        <p:nvSpPr>
          <p:cNvPr id="15" name="Text 10"/>
          <p:cNvSpPr txBox="1"/>
          <p:nvPr/>
        </p:nvSpPr>
        <p:spPr>
          <a:xfrm>
            <a:off x="1325880" y="4233672"/>
            <a:ext cx="5989320" cy="566928"/>
          </a:xfrm>
          <a:prstGeom prst="rect">
            <a:avLst/>
          </a:prstGeom>
          <a:noFill/>
          <a:ln/>
        </p:spPr>
        <p:txBody>
          <a:bodyPr wrap="square" lIns="0" tIns="0" rIns="0" bIns="0" rtlCol="0" anchor="t"/>
          <a:lstStyle/>
          <a:p>
            <a:pPr indent="0" marL="0">
              <a:buNone/>
            </a:pPr>
            <a:r>
              <a:rPr lang="en-US" sz="1400" dirty="0">
                <a:solidFill>
                  <a:schemeClr val="accent6"/>
                </a:solidFill>
              </a:rPr>
              <a:t>Mit der Ja-aber-Methode und weiteren Techniken, ohne zu widersprechen.</a:t>
            </a:r>
            <a:endParaRPr lang="en-US" sz="1400" dirty="0"/>
          </a:p>
        </p:txBody>
      </p:sp>
      <p:sp>
        <p:nvSpPr>
          <p:cNvPr id="16" name="Symbolkreis"/>
          <p:cNvSpPr/>
          <p:nvPr/>
        </p:nvSpPr>
        <p:spPr>
          <a:xfrm>
            <a:off x="548640" y="4983480"/>
            <a:ext cx="566928" cy="566928"/>
          </a:xfrm>
          <a:prstGeom prst="ellipse">
            <a:avLst/>
          </a:prstGeom>
          <a:solidFill>
            <a:schemeClr val="accent5"/>
          </a:solidFill>
          <a:ln/>
        </p:spPr>
      </p:sp>
      <p:pic>
        <p:nvPicPr>
          <p:cNvPr id="17" name="Image 3" descr="Symbol">    </p:cNvPr>
          <p:cNvPicPr>
            <a:picLocks noChangeAspect="1"/>
          </p:cNvPicPr>
          <p:nvPr/>
        </p:nvPicPr>
        <p:blipFill>
          <a:blip r:embed="rId4"/>
          <a:stretch>
            <a:fillRect/>
          </a:stretch>
        </p:blipFill>
        <p:spPr>
          <a:xfrm>
            <a:off x="673364" y="5108204"/>
            <a:ext cx="317480" cy="317480"/>
          </a:xfrm>
          <a:prstGeom prst="rect">
            <a:avLst/>
          </a:prstGeom>
        </p:spPr>
      </p:pic>
      <p:sp>
        <p:nvSpPr>
          <p:cNvPr id="18" name="Text 12"/>
          <p:cNvSpPr txBox="1"/>
          <p:nvPr/>
        </p:nvSpPr>
        <p:spPr>
          <a:xfrm>
            <a:off x="1325880" y="4983480"/>
            <a:ext cx="5989320" cy="329184"/>
          </a:xfrm>
          <a:prstGeom prst="rect">
            <a:avLst/>
          </a:prstGeom>
          <a:noFill/>
          <a:ln/>
        </p:spPr>
        <p:txBody>
          <a:bodyPr wrap="square" lIns="0" tIns="0" rIns="0" bIns="0" rtlCol="0" anchor="t"/>
          <a:lstStyle/>
          <a:p>
            <a:pPr indent="0" marL="0">
              <a:buNone/>
            </a:pPr>
            <a:r>
              <a:rPr lang="en-US" sz="1700" b="1" dirty="0">
                <a:solidFill>
                  <a:schemeClr val="tx1"/>
                </a:solidFill>
              </a:rPr>
              <a:t>sich auf verschiedene Kundentypen einstellen</a:t>
            </a:r>
            <a:endParaRPr lang="en-US" sz="1700" dirty="0"/>
          </a:p>
        </p:txBody>
      </p:sp>
      <p:sp>
        <p:nvSpPr>
          <p:cNvPr id="19" name="Text 13"/>
          <p:cNvSpPr txBox="1"/>
          <p:nvPr/>
        </p:nvSpPr>
        <p:spPr>
          <a:xfrm>
            <a:off x="1325880" y="5330952"/>
            <a:ext cx="5989320" cy="566928"/>
          </a:xfrm>
          <a:prstGeom prst="rect">
            <a:avLst/>
          </a:prstGeom>
          <a:noFill/>
          <a:ln/>
        </p:spPr>
        <p:txBody>
          <a:bodyPr wrap="square" lIns="0" tIns="0" rIns="0" bIns="0" rtlCol="0" anchor="t"/>
          <a:lstStyle/>
          <a:p>
            <a:pPr indent="0" marL="0">
              <a:buNone/>
            </a:pPr>
            <a:r>
              <a:rPr lang="en-US" sz="1400" dirty="0">
                <a:solidFill>
                  <a:schemeClr val="accent6"/>
                </a:solidFill>
              </a:rPr>
              <a:t>Ältere Kunden, Zeitdruck, Besserwisser und Unentschlossene.</a:t>
            </a:r>
            <a:endParaRPr lang="en-US" sz="1400" dirty="0"/>
          </a:p>
        </p:txBody>
      </p:sp>
      <p:sp>
        <p:nvSpPr>
          <p:cNvPr id="20" name="Karte"/>
          <p:cNvSpPr/>
          <p:nvPr/>
        </p:nvSpPr>
        <p:spPr>
          <a:xfrm>
            <a:off x="7863840" y="1691640"/>
            <a:ext cx="3776472" cy="4343400"/>
          </a:xfrm>
          <a:prstGeom prst="roundRect">
            <a:avLst>
              <a:gd name="adj" fmla="val 2906"/>
            </a:avLst>
          </a:prstGeom>
          <a:solidFill>
            <a:schemeClr val="tx2"/>
          </a:solidFill>
          <a:ln/>
          <a:effectLst>
            <a:outerShdw sx="100000" sy="100000" kx="0" ky="0" algn="bl" rotWithShape="0" blurRad="101600" dist="25400" dir="5400000">
              <a:srgbClr val="18202B">
                <a:alpha val="12000"/>
              </a:srgbClr>
            </a:outerShdw>
          </a:effectLst>
        </p:spPr>
      </p:sp>
      <p:sp>
        <p:nvSpPr>
          <p:cNvPr id="21" name="Text 15"/>
          <p:cNvSpPr txBox="1"/>
          <p:nvPr/>
        </p:nvSpPr>
        <p:spPr>
          <a:xfrm>
            <a:off x="8183880" y="1965960"/>
            <a:ext cx="3200400"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Danach</a:t>
            </a:r>
            <a:endParaRPr lang="en-US" sz="1400" dirty="0"/>
          </a:p>
        </p:txBody>
      </p:sp>
      <p:sp>
        <p:nvSpPr>
          <p:cNvPr id="22" name="Text 16"/>
          <p:cNvSpPr txBox="1"/>
          <p:nvPr/>
        </p:nvSpPr>
        <p:spPr>
          <a:xfrm>
            <a:off x="8183880" y="2377440"/>
            <a:ext cx="3200400" cy="1737360"/>
          </a:xfrm>
          <a:prstGeom prst="rect">
            <a:avLst/>
          </a:prstGeom>
          <a:noFill/>
          <a:ln/>
        </p:spPr>
        <p:txBody>
          <a:bodyPr wrap="square" lIns="0" tIns="0" rIns="0" bIns="0" rtlCol="0" anchor="t"/>
          <a:lstStyle/>
          <a:p>
            <a:pPr indent="0" marL="0">
              <a:buNone/>
            </a:pPr>
            <a:r>
              <a:rPr lang="en-US" sz="2000" dirty="0">
                <a:solidFill>
                  <a:schemeClr val="bg1"/>
                </a:solidFill>
                <a:latin typeface="Century Schoolbook" pitchFamily="34" charset="0"/>
                <a:ea typeface="Century Schoolbook" pitchFamily="34" charset="-122"/>
                <a:cs typeface="Century Schoolbook" pitchFamily="34" charset="-120"/>
              </a:rPr>
              <a:t>üben Sie alles in der App mit fünf Kundinnen und Kunden, die auf Ihre Antworten reagieren.</a:t>
            </a:r>
            <a:endParaRPr lang="en-US" sz="2000" dirty="0"/>
          </a:p>
        </p:txBody>
      </p:sp>
      <p:pic>
        <p:nvPicPr>
          <p:cNvPr id="23" name="Image 4" descr="Kundenfigur Herr Albers">    </p:cNvPr>
          <p:cNvPicPr>
            <a:picLocks noChangeAspect="1"/>
          </p:cNvPicPr>
          <p:nvPr/>
        </p:nvPicPr>
        <p:blipFill>
          <a:blip r:embed="rId5"/>
          <a:stretch>
            <a:fillRect/>
          </a:stretch>
        </p:blipFill>
        <p:spPr>
          <a:xfrm>
            <a:off x="9006840" y="4160520"/>
            <a:ext cx="1600200" cy="160020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ÜBERBLICK</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Ein Verkaufsgespräch hat einen festen Ablauf</a:t>
            </a:r>
            <a:endParaRPr lang="en-US" sz="3400" dirty="0"/>
          </a:p>
        </p:txBody>
      </p:sp>
      <p:sp>
        <p:nvSpPr>
          <p:cNvPr id="4" name="Karte"/>
          <p:cNvSpPr/>
          <p:nvPr/>
        </p:nvSpPr>
        <p:spPr>
          <a:xfrm>
            <a:off x="548640" y="1737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5" name="Phasennummer"/>
          <p:cNvSpPr/>
          <p:nvPr/>
        </p:nvSpPr>
        <p:spPr>
          <a:xfrm>
            <a:off x="777240" y="1965960"/>
            <a:ext cx="566928" cy="566928"/>
          </a:xfrm>
          <a:prstGeom prst="ellipse">
            <a:avLst/>
          </a:prstGeom>
          <a:solidFill>
            <a:schemeClr val="accent1"/>
          </a:solidFill>
          <a:ln/>
        </p:spPr>
      </p:sp>
      <p:sp>
        <p:nvSpPr>
          <p:cNvPr id="6" name="Text 4"/>
          <p:cNvSpPr txBox="1"/>
          <p:nvPr/>
        </p:nvSpPr>
        <p:spPr>
          <a:xfrm>
            <a:off x="777240" y="1965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1</a:t>
            </a:r>
            <a:endParaRPr lang="en-US" sz="2000" dirty="0"/>
          </a:p>
        </p:txBody>
      </p:sp>
      <p:sp>
        <p:nvSpPr>
          <p:cNvPr id="7" name="Text 5"/>
          <p:cNvSpPr txBox="1"/>
          <p:nvPr/>
        </p:nvSpPr>
        <p:spPr>
          <a:xfrm>
            <a:off x="77724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Kontaktaufnahme</a:t>
            </a:r>
            <a:endParaRPr lang="en-US" sz="1500" dirty="0"/>
          </a:p>
        </p:txBody>
      </p:sp>
      <p:sp>
        <p:nvSpPr>
          <p:cNvPr id="8" name="Text 6"/>
          <p:cNvSpPr txBox="1"/>
          <p:nvPr/>
        </p:nvSpPr>
        <p:spPr>
          <a:xfrm>
            <a:off x="77724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Begrüßen, ansprechen</a:t>
            </a:r>
            <a:endParaRPr lang="en-US" sz="1400" dirty="0"/>
          </a:p>
        </p:txBody>
      </p:sp>
      <p:sp>
        <p:nvSpPr>
          <p:cNvPr id="9" name="Karte"/>
          <p:cNvSpPr/>
          <p:nvPr/>
        </p:nvSpPr>
        <p:spPr>
          <a:xfrm>
            <a:off x="3383280" y="1737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10" name="Phasennummer"/>
          <p:cNvSpPr/>
          <p:nvPr/>
        </p:nvSpPr>
        <p:spPr>
          <a:xfrm>
            <a:off x="3611880" y="1965960"/>
            <a:ext cx="566928" cy="566928"/>
          </a:xfrm>
          <a:prstGeom prst="ellipse">
            <a:avLst/>
          </a:prstGeom>
          <a:solidFill>
            <a:schemeClr val="accent1"/>
          </a:solidFill>
          <a:ln/>
        </p:spPr>
      </p:sp>
      <p:sp>
        <p:nvSpPr>
          <p:cNvPr id="11" name="Text 9"/>
          <p:cNvSpPr txBox="1"/>
          <p:nvPr/>
        </p:nvSpPr>
        <p:spPr>
          <a:xfrm>
            <a:off x="3611880" y="1965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2</a:t>
            </a:r>
            <a:endParaRPr lang="en-US" sz="2000" dirty="0"/>
          </a:p>
        </p:txBody>
      </p:sp>
      <p:sp>
        <p:nvSpPr>
          <p:cNvPr id="12" name="Text 10"/>
          <p:cNvSpPr txBox="1"/>
          <p:nvPr/>
        </p:nvSpPr>
        <p:spPr>
          <a:xfrm>
            <a:off x="361188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Bedarfsermittlung</a:t>
            </a:r>
            <a:endParaRPr lang="en-US" sz="1500" dirty="0"/>
          </a:p>
        </p:txBody>
      </p:sp>
      <p:sp>
        <p:nvSpPr>
          <p:cNvPr id="13" name="Text 11"/>
          <p:cNvSpPr txBox="1"/>
          <p:nvPr/>
        </p:nvSpPr>
        <p:spPr>
          <a:xfrm>
            <a:off x="361188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Fragen, zuhören</a:t>
            </a:r>
            <a:endParaRPr lang="en-US" sz="1400" dirty="0"/>
          </a:p>
        </p:txBody>
      </p:sp>
      <p:sp>
        <p:nvSpPr>
          <p:cNvPr id="14" name="Karte"/>
          <p:cNvSpPr/>
          <p:nvPr/>
        </p:nvSpPr>
        <p:spPr>
          <a:xfrm>
            <a:off x="6217920" y="1737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15" name="Phasennummer"/>
          <p:cNvSpPr/>
          <p:nvPr/>
        </p:nvSpPr>
        <p:spPr>
          <a:xfrm>
            <a:off x="6446520" y="1965960"/>
            <a:ext cx="566928" cy="566928"/>
          </a:xfrm>
          <a:prstGeom prst="ellipse">
            <a:avLst/>
          </a:prstGeom>
          <a:solidFill>
            <a:schemeClr val="accent1"/>
          </a:solidFill>
          <a:ln/>
        </p:spPr>
      </p:sp>
      <p:sp>
        <p:nvSpPr>
          <p:cNvPr id="16" name="Text 14"/>
          <p:cNvSpPr txBox="1"/>
          <p:nvPr/>
        </p:nvSpPr>
        <p:spPr>
          <a:xfrm>
            <a:off x="6446520" y="1965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3</a:t>
            </a:r>
            <a:endParaRPr lang="en-US" sz="2000" dirty="0"/>
          </a:p>
        </p:txBody>
      </p:sp>
      <p:sp>
        <p:nvSpPr>
          <p:cNvPr id="17" name="Text 15"/>
          <p:cNvSpPr txBox="1"/>
          <p:nvPr/>
        </p:nvSpPr>
        <p:spPr>
          <a:xfrm>
            <a:off x="644652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Warenvorlage</a:t>
            </a:r>
            <a:endParaRPr lang="en-US" sz="1500" dirty="0"/>
          </a:p>
        </p:txBody>
      </p:sp>
      <p:sp>
        <p:nvSpPr>
          <p:cNvPr id="18" name="Text 16"/>
          <p:cNvSpPr txBox="1"/>
          <p:nvPr/>
        </p:nvSpPr>
        <p:spPr>
          <a:xfrm>
            <a:off x="644652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Passendes zeigen</a:t>
            </a:r>
            <a:endParaRPr lang="en-US" sz="1400" dirty="0"/>
          </a:p>
        </p:txBody>
      </p:sp>
      <p:sp>
        <p:nvSpPr>
          <p:cNvPr id="19" name="Karte"/>
          <p:cNvSpPr/>
          <p:nvPr/>
        </p:nvSpPr>
        <p:spPr>
          <a:xfrm>
            <a:off x="9052560" y="1737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20" name="Phasennummer"/>
          <p:cNvSpPr/>
          <p:nvPr/>
        </p:nvSpPr>
        <p:spPr>
          <a:xfrm>
            <a:off x="9281160" y="1965960"/>
            <a:ext cx="566928" cy="566928"/>
          </a:xfrm>
          <a:prstGeom prst="ellipse">
            <a:avLst/>
          </a:prstGeom>
          <a:solidFill>
            <a:schemeClr val="accent1"/>
          </a:solidFill>
          <a:ln/>
        </p:spPr>
      </p:sp>
      <p:sp>
        <p:nvSpPr>
          <p:cNvPr id="21" name="Text 19"/>
          <p:cNvSpPr txBox="1"/>
          <p:nvPr/>
        </p:nvSpPr>
        <p:spPr>
          <a:xfrm>
            <a:off x="9281160" y="1965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4</a:t>
            </a:r>
            <a:endParaRPr lang="en-US" sz="2000" dirty="0"/>
          </a:p>
        </p:txBody>
      </p:sp>
      <p:sp>
        <p:nvSpPr>
          <p:cNvPr id="22" name="Text 20"/>
          <p:cNvSpPr txBox="1"/>
          <p:nvPr/>
        </p:nvSpPr>
        <p:spPr>
          <a:xfrm>
            <a:off x="928116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Verkaufsargumentation</a:t>
            </a:r>
            <a:endParaRPr lang="en-US" sz="1500" dirty="0"/>
          </a:p>
        </p:txBody>
      </p:sp>
      <p:sp>
        <p:nvSpPr>
          <p:cNvPr id="23" name="Text 21"/>
          <p:cNvSpPr txBox="1"/>
          <p:nvPr/>
        </p:nvSpPr>
        <p:spPr>
          <a:xfrm>
            <a:off x="928116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Nutzen erklären</a:t>
            </a:r>
            <a:endParaRPr lang="en-US" sz="1400" dirty="0"/>
          </a:p>
        </p:txBody>
      </p:sp>
      <p:sp>
        <p:nvSpPr>
          <p:cNvPr id="24" name="Karte"/>
          <p:cNvSpPr/>
          <p:nvPr/>
        </p:nvSpPr>
        <p:spPr>
          <a:xfrm>
            <a:off x="548640" y="4023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25" name="Phasennummer"/>
          <p:cNvSpPr/>
          <p:nvPr/>
        </p:nvSpPr>
        <p:spPr>
          <a:xfrm>
            <a:off x="777240" y="4251960"/>
            <a:ext cx="566928" cy="566928"/>
          </a:xfrm>
          <a:prstGeom prst="ellipse">
            <a:avLst/>
          </a:prstGeom>
          <a:solidFill>
            <a:schemeClr val="accent1"/>
          </a:solidFill>
          <a:ln/>
        </p:spPr>
      </p:sp>
      <p:sp>
        <p:nvSpPr>
          <p:cNvPr id="26" name="Text 24"/>
          <p:cNvSpPr txBox="1"/>
          <p:nvPr/>
        </p:nvSpPr>
        <p:spPr>
          <a:xfrm>
            <a:off x="777240" y="4251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5</a:t>
            </a:r>
            <a:endParaRPr lang="en-US" sz="2000" dirty="0"/>
          </a:p>
        </p:txBody>
      </p:sp>
      <p:sp>
        <p:nvSpPr>
          <p:cNvPr id="27" name="Text 25"/>
          <p:cNvSpPr txBox="1"/>
          <p:nvPr/>
        </p:nvSpPr>
        <p:spPr>
          <a:xfrm>
            <a:off x="77724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Preisnennung</a:t>
            </a:r>
            <a:endParaRPr lang="en-US" sz="1500" dirty="0"/>
          </a:p>
        </p:txBody>
      </p:sp>
      <p:sp>
        <p:nvSpPr>
          <p:cNvPr id="28" name="Text 26"/>
          <p:cNvSpPr txBox="1"/>
          <p:nvPr/>
        </p:nvSpPr>
        <p:spPr>
          <a:xfrm>
            <a:off x="77724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Preis überzeugend nennen</a:t>
            </a:r>
            <a:endParaRPr lang="en-US" sz="1400" dirty="0"/>
          </a:p>
        </p:txBody>
      </p:sp>
      <p:sp>
        <p:nvSpPr>
          <p:cNvPr id="29" name="Karte"/>
          <p:cNvSpPr/>
          <p:nvPr/>
        </p:nvSpPr>
        <p:spPr>
          <a:xfrm>
            <a:off x="3383280" y="4023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30" name="Phasennummer"/>
          <p:cNvSpPr/>
          <p:nvPr/>
        </p:nvSpPr>
        <p:spPr>
          <a:xfrm>
            <a:off x="3611880" y="4251960"/>
            <a:ext cx="566928" cy="566928"/>
          </a:xfrm>
          <a:prstGeom prst="ellipse">
            <a:avLst/>
          </a:prstGeom>
          <a:solidFill>
            <a:schemeClr val="accent1"/>
          </a:solidFill>
          <a:ln/>
        </p:spPr>
      </p:sp>
      <p:sp>
        <p:nvSpPr>
          <p:cNvPr id="31" name="Text 29"/>
          <p:cNvSpPr txBox="1"/>
          <p:nvPr/>
        </p:nvSpPr>
        <p:spPr>
          <a:xfrm>
            <a:off x="3611880" y="4251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6</a:t>
            </a:r>
            <a:endParaRPr lang="en-US" sz="2000" dirty="0"/>
          </a:p>
        </p:txBody>
      </p:sp>
      <p:sp>
        <p:nvSpPr>
          <p:cNvPr id="32" name="Text 30"/>
          <p:cNvSpPr txBox="1"/>
          <p:nvPr/>
        </p:nvSpPr>
        <p:spPr>
          <a:xfrm>
            <a:off x="361188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Einwandbehandlung</a:t>
            </a:r>
            <a:endParaRPr lang="en-US" sz="1500" dirty="0"/>
          </a:p>
        </p:txBody>
      </p:sp>
      <p:sp>
        <p:nvSpPr>
          <p:cNvPr id="33" name="Text 31"/>
          <p:cNvSpPr txBox="1"/>
          <p:nvPr/>
        </p:nvSpPr>
        <p:spPr>
          <a:xfrm>
            <a:off x="361188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Bedenken ausräumen</a:t>
            </a:r>
            <a:endParaRPr lang="en-US" sz="1400" dirty="0"/>
          </a:p>
        </p:txBody>
      </p:sp>
      <p:sp>
        <p:nvSpPr>
          <p:cNvPr id="34" name="Karte"/>
          <p:cNvSpPr/>
          <p:nvPr/>
        </p:nvSpPr>
        <p:spPr>
          <a:xfrm>
            <a:off x="6217920" y="4023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35" name="Phasennummer"/>
          <p:cNvSpPr/>
          <p:nvPr/>
        </p:nvSpPr>
        <p:spPr>
          <a:xfrm>
            <a:off x="6446520" y="4251960"/>
            <a:ext cx="566928" cy="566928"/>
          </a:xfrm>
          <a:prstGeom prst="ellipse">
            <a:avLst/>
          </a:prstGeom>
          <a:solidFill>
            <a:schemeClr val="accent1"/>
          </a:solidFill>
          <a:ln/>
        </p:spPr>
      </p:sp>
      <p:sp>
        <p:nvSpPr>
          <p:cNvPr id="36" name="Text 34"/>
          <p:cNvSpPr txBox="1"/>
          <p:nvPr/>
        </p:nvSpPr>
        <p:spPr>
          <a:xfrm>
            <a:off x="6446520" y="4251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7</a:t>
            </a:r>
            <a:endParaRPr lang="en-US" sz="2000" dirty="0"/>
          </a:p>
        </p:txBody>
      </p:sp>
      <p:sp>
        <p:nvSpPr>
          <p:cNvPr id="37" name="Text 35"/>
          <p:cNvSpPr txBox="1"/>
          <p:nvPr/>
        </p:nvSpPr>
        <p:spPr>
          <a:xfrm>
            <a:off x="644652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Ergänzungsangebot</a:t>
            </a:r>
            <a:endParaRPr lang="en-US" sz="1500" dirty="0"/>
          </a:p>
        </p:txBody>
      </p:sp>
      <p:sp>
        <p:nvSpPr>
          <p:cNvPr id="38" name="Text 36"/>
          <p:cNvSpPr txBox="1"/>
          <p:nvPr/>
        </p:nvSpPr>
        <p:spPr>
          <a:xfrm>
            <a:off x="644652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Passendes dazu anbieten</a:t>
            </a:r>
            <a:endParaRPr lang="en-US" sz="1400" dirty="0"/>
          </a:p>
        </p:txBody>
      </p:sp>
      <p:sp>
        <p:nvSpPr>
          <p:cNvPr id="39" name="Karte"/>
          <p:cNvSpPr/>
          <p:nvPr/>
        </p:nvSpPr>
        <p:spPr>
          <a:xfrm>
            <a:off x="9052560" y="4023360"/>
            <a:ext cx="2560320" cy="1965960"/>
          </a:xfrm>
          <a:prstGeom prst="roundRect">
            <a:avLst>
              <a:gd name="adj" fmla="val 5581"/>
            </a:avLst>
          </a:prstGeom>
          <a:solidFill>
            <a:schemeClr val="bg1"/>
          </a:solidFill>
          <a:ln/>
          <a:effectLst>
            <a:outerShdw sx="100000" sy="100000" kx="0" ky="0" algn="bl" rotWithShape="0" blurRad="101600" dist="25400" dir="5400000">
              <a:srgbClr val="18202B">
                <a:alpha val="12000"/>
              </a:srgbClr>
            </a:outerShdw>
          </a:effectLst>
        </p:spPr>
      </p:sp>
      <p:sp>
        <p:nvSpPr>
          <p:cNvPr id="40" name="Phasennummer"/>
          <p:cNvSpPr/>
          <p:nvPr/>
        </p:nvSpPr>
        <p:spPr>
          <a:xfrm>
            <a:off x="9281160" y="4251960"/>
            <a:ext cx="566928" cy="566928"/>
          </a:xfrm>
          <a:prstGeom prst="ellipse">
            <a:avLst/>
          </a:prstGeom>
          <a:solidFill>
            <a:schemeClr val="accent1"/>
          </a:solidFill>
          <a:ln/>
        </p:spPr>
      </p:sp>
      <p:sp>
        <p:nvSpPr>
          <p:cNvPr id="41" name="Text 39"/>
          <p:cNvSpPr txBox="1"/>
          <p:nvPr/>
        </p:nvSpPr>
        <p:spPr>
          <a:xfrm>
            <a:off x="9281160" y="4251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Century Schoolbook" pitchFamily="34" charset="0"/>
                <a:ea typeface="Century Schoolbook" pitchFamily="34" charset="-122"/>
                <a:cs typeface="Century Schoolbook" pitchFamily="34" charset="-120"/>
              </a:rPr>
              <a:t>8</a:t>
            </a:r>
            <a:endParaRPr lang="en-US" sz="2000" dirty="0"/>
          </a:p>
        </p:txBody>
      </p:sp>
      <p:sp>
        <p:nvSpPr>
          <p:cNvPr id="42" name="Text 40"/>
          <p:cNvSpPr txBox="1"/>
          <p:nvPr/>
        </p:nvSpPr>
        <p:spPr>
          <a:xfrm>
            <a:off x="928116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Abschluss &amp; Verabschiedung</a:t>
            </a:r>
            <a:endParaRPr lang="en-US" sz="1500" dirty="0"/>
          </a:p>
        </p:txBody>
      </p:sp>
      <p:sp>
        <p:nvSpPr>
          <p:cNvPr id="43" name="Text 41"/>
          <p:cNvSpPr txBox="1"/>
          <p:nvPr/>
        </p:nvSpPr>
        <p:spPr>
          <a:xfrm>
            <a:off x="928116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Kauf bestätigen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Der erste Eindruck entscheidet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Symbolkreis"/>
          <p:cNvSpPr/>
          <p:nvPr/>
        </p:nvSpPr>
        <p:spPr>
          <a:xfrm>
            <a:off x="548640" y="1737360"/>
            <a:ext cx="566928" cy="566928"/>
          </a:xfrm>
          <a:prstGeom prst="ellipse">
            <a:avLst/>
          </a:prstGeom>
          <a:solidFill>
            <a:schemeClr val="accent5"/>
          </a:solidFill>
          <a:ln/>
        </p:spPr>
      </p:sp>
      <p:pic>
        <p:nvPicPr>
          <p:cNvPr id="13" name="Image 0" descr="Symbol">    </p:cNvPr>
          <p:cNvPicPr>
            <a:picLocks noChangeAspect="1"/>
          </p:cNvPicPr>
          <p:nvPr/>
        </p:nvPicPr>
        <p:blipFill>
          <a:blip r:embed="rId1"/>
          <a:stretch>
            <a:fillRect/>
          </a:stretch>
        </p:blipFill>
        <p:spPr>
          <a:xfrm>
            <a:off x="673364" y="1862084"/>
            <a:ext cx="317480" cy="317480"/>
          </a:xfrm>
          <a:prstGeom prst="rect">
            <a:avLst/>
          </a:prstGeom>
        </p:spPr>
      </p:pic>
      <p:sp>
        <p:nvSpPr>
          <p:cNvPr id="14" name="Text 11"/>
          <p:cNvSpPr txBox="1"/>
          <p:nvPr/>
        </p:nvSpPr>
        <p:spPr>
          <a:xfrm>
            <a:off x="1325880" y="1737360"/>
            <a:ext cx="4709160" cy="329184"/>
          </a:xfrm>
          <a:prstGeom prst="rect">
            <a:avLst/>
          </a:prstGeom>
          <a:noFill/>
          <a:ln/>
        </p:spPr>
        <p:txBody>
          <a:bodyPr wrap="square" lIns="0" tIns="0" rIns="0" bIns="0" rtlCol="0" anchor="t"/>
          <a:lstStyle/>
          <a:p>
            <a:pPr indent="0" marL="0">
              <a:buNone/>
            </a:pPr>
            <a:r>
              <a:rPr lang="en-US" sz="1700" b="1" dirty="0">
                <a:solidFill>
                  <a:schemeClr val="tx1"/>
                </a:solidFill>
              </a:rPr>
              <a:t>Hingehen statt rufen</a:t>
            </a:r>
            <a:endParaRPr lang="en-US" sz="1700" dirty="0"/>
          </a:p>
        </p:txBody>
      </p:sp>
      <p:sp>
        <p:nvSpPr>
          <p:cNvPr id="15" name="Text 12"/>
          <p:cNvSpPr txBox="1"/>
          <p:nvPr/>
        </p:nvSpPr>
        <p:spPr>
          <a:xfrm>
            <a:off x="1325880" y="2084832"/>
            <a:ext cx="4709160" cy="566928"/>
          </a:xfrm>
          <a:prstGeom prst="rect">
            <a:avLst/>
          </a:prstGeom>
          <a:noFill/>
          <a:ln/>
        </p:spPr>
        <p:txBody>
          <a:bodyPr wrap="square" lIns="0" tIns="0" rIns="0" bIns="0" rtlCol="0" anchor="t"/>
          <a:lstStyle/>
          <a:p>
            <a:pPr indent="0" marL="0">
              <a:buNone/>
            </a:pPr>
            <a:r>
              <a:rPr lang="en-US" sz="1400" dirty="0">
                <a:solidFill>
                  <a:schemeClr val="accent6"/>
                </a:solidFill>
              </a:rPr>
              <a:t>Gehen Sie auf die Kundschaft zu, halten Sie Blickkontakt und lächeln Sie.</a:t>
            </a:r>
            <a:endParaRPr lang="en-US" sz="1400" dirty="0"/>
          </a:p>
        </p:txBody>
      </p:sp>
      <p:sp>
        <p:nvSpPr>
          <p:cNvPr id="16" name="Symbolkreis"/>
          <p:cNvSpPr/>
          <p:nvPr/>
        </p:nvSpPr>
        <p:spPr>
          <a:xfrm>
            <a:off x="548640" y="3063240"/>
            <a:ext cx="566928" cy="566928"/>
          </a:xfrm>
          <a:prstGeom prst="ellipse">
            <a:avLst/>
          </a:prstGeom>
          <a:solidFill>
            <a:schemeClr val="accent5"/>
          </a:solidFill>
          <a:ln/>
        </p:spPr>
      </p:sp>
      <p:pic>
        <p:nvPicPr>
          <p:cNvPr id="17" name="Image 1" descr="Symbol">    </p:cNvPr>
          <p:cNvPicPr>
            <a:picLocks noChangeAspect="1"/>
          </p:cNvPicPr>
          <p:nvPr/>
        </p:nvPicPr>
        <p:blipFill>
          <a:blip r:embed="rId2"/>
          <a:stretch>
            <a:fillRect/>
          </a:stretch>
        </p:blipFill>
        <p:spPr>
          <a:xfrm>
            <a:off x="673364" y="3187964"/>
            <a:ext cx="317480" cy="317480"/>
          </a:xfrm>
          <a:prstGeom prst="rect">
            <a:avLst/>
          </a:prstGeom>
        </p:spPr>
      </p:pic>
      <p:sp>
        <p:nvSpPr>
          <p:cNvPr id="18" name="Text 14"/>
          <p:cNvSpPr txBox="1"/>
          <p:nvPr/>
        </p:nvSpPr>
        <p:spPr>
          <a:xfrm>
            <a:off x="1325880" y="3063240"/>
            <a:ext cx="4709160" cy="329184"/>
          </a:xfrm>
          <a:prstGeom prst="rect">
            <a:avLst/>
          </a:prstGeom>
          <a:noFill/>
          <a:ln/>
        </p:spPr>
        <p:txBody>
          <a:bodyPr wrap="square" lIns="0" tIns="0" rIns="0" bIns="0" rtlCol="0" anchor="t"/>
          <a:lstStyle/>
          <a:p>
            <a:pPr indent="0" marL="0">
              <a:buNone/>
            </a:pPr>
            <a:r>
              <a:rPr lang="en-US" sz="1700" b="1" dirty="0">
                <a:solidFill>
                  <a:schemeClr val="tx1"/>
                </a:solidFill>
              </a:rPr>
              <a:t>Freundlich begrüßen</a:t>
            </a:r>
            <a:endParaRPr lang="en-US" sz="1700" dirty="0"/>
          </a:p>
        </p:txBody>
      </p:sp>
      <p:sp>
        <p:nvSpPr>
          <p:cNvPr id="19" name="Text 15"/>
          <p:cNvSpPr txBox="1"/>
          <p:nvPr/>
        </p:nvSpPr>
        <p:spPr>
          <a:xfrm>
            <a:off x="1325880" y="3410712"/>
            <a:ext cx="4709160" cy="566928"/>
          </a:xfrm>
          <a:prstGeom prst="rect">
            <a:avLst/>
          </a:prstGeom>
          <a:noFill/>
          <a:ln/>
        </p:spPr>
        <p:txBody>
          <a:bodyPr wrap="square" lIns="0" tIns="0" rIns="0" bIns="0" rtlCol="0" anchor="t"/>
          <a:lstStyle/>
          <a:p>
            <a:pPr indent="0" marL="0">
              <a:buNone/>
            </a:pPr>
            <a:r>
              <a:rPr lang="en-US" sz="1400" dirty="0">
                <a:solidFill>
                  <a:schemeClr val="accent6"/>
                </a:solidFill>
              </a:rPr>
              <a:t>„Guten Tag!“ – höflich, deutlich, in ganzen Sätzen.</a:t>
            </a:r>
            <a:endParaRPr lang="en-US" sz="1400" dirty="0"/>
          </a:p>
        </p:txBody>
      </p:sp>
      <p:sp>
        <p:nvSpPr>
          <p:cNvPr id="20" name="Symbolkreis"/>
          <p:cNvSpPr/>
          <p:nvPr/>
        </p:nvSpPr>
        <p:spPr>
          <a:xfrm>
            <a:off x="548640" y="4389120"/>
            <a:ext cx="566928" cy="566928"/>
          </a:xfrm>
          <a:prstGeom prst="ellipse">
            <a:avLst/>
          </a:prstGeom>
          <a:solidFill>
            <a:schemeClr val="accent5"/>
          </a:solidFill>
          <a:ln/>
        </p:spPr>
      </p:sp>
      <p:pic>
        <p:nvPicPr>
          <p:cNvPr id="21" name="Image 2" descr="Symbol">    </p:cNvPr>
          <p:cNvPicPr>
            <a:picLocks noChangeAspect="1"/>
          </p:cNvPicPr>
          <p:nvPr/>
        </p:nvPicPr>
        <p:blipFill>
          <a:blip r:embed="rId3"/>
          <a:stretch>
            <a:fillRect/>
          </a:stretch>
        </p:blipFill>
        <p:spPr>
          <a:xfrm>
            <a:off x="673364" y="4513844"/>
            <a:ext cx="317480" cy="317480"/>
          </a:xfrm>
          <a:prstGeom prst="rect">
            <a:avLst/>
          </a:prstGeom>
        </p:spPr>
      </p:pic>
      <p:sp>
        <p:nvSpPr>
          <p:cNvPr id="22" name="Text 17"/>
          <p:cNvSpPr txBox="1"/>
          <p:nvPr/>
        </p:nvSpPr>
        <p:spPr>
          <a:xfrm>
            <a:off x="1325880" y="4389120"/>
            <a:ext cx="4709160" cy="329184"/>
          </a:xfrm>
          <a:prstGeom prst="rect">
            <a:avLst/>
          </a:prstGeom>
          <a:noFill/>
          <a:ln/>
        </p:spPr>
        <p:txBody>
          <a:bodyPr wrap="square" lIns="0" tIns="0" rIns="0" bIns="0" rtlCol="0" anchor="t"/>
          <a:lstStyle/>
          <a:p>
            <a:pPr indent="0" marL="0">
              <a:buNone/>
            </a:pPr>
            <a:r>
              <a:rPr lang="en-US" sz="1700" b="1" dirty="0">
                <a:solidFill>
                  <a:schemeClr val="tx1"/>
                </a:solidFill>
              </a:rPr>
              <a:t>Warenbezogen ansprechen</a:t>
            </a:r>
            <a:endParaRPr lang="en-US" sz="1700" dirty="0"/>
          </a:p>
        </p:txBody>
      </p:sp>
      <p:sp>
        <p:nvSpPr>
          <p:cNvPr id="23" name="Text 18"/>
          <p:cNvSpPr txBox="1"/>
          <p:nvPr/>
        </p:nvSpPr>
        <p:spPr>
          <a:xfrm>
            <a:off x="1325880" y="4736592"/>
            <a:ext cx="4709160" cy="566928"/>
          </a:xfrm>
          <a:prstGeom prst="rect">
            <a:avLst/>
          </a:prstGeom>
          <a:noFill/>
          <a:ln/>
        </p:spPr>
        <p:txBody>
          <a:bodyPr wrap="square" lIns="0" tIns="0" rIns="0" bIns="0" rtlCol="0" anchor="t"/>
          <a:lstStyle/>
          <a:p>
            <a:pPr indent="0" marL="0">
              <a:buNone/>
            </a:pPr>
            <a:r>
              <a:rPr lang="en-US" sz="1400" dirty="0">
                <a:solidFill>
                  <a:schemeClr val="accent6"/>
                </a:solidFill>
              </a:rPr>
              <a:t>An den Artikel anknüpfen, den die Kundin gerade in der Hand hält.</a:t>
            </a:r>
            <a:endParaRPr lang="en-US" sz="1400" dirty="0"/>
          </a:p>
        </p:txBody>
      </p:sp>
      <p:sp>
        <p:nvSpPr>
          <p:cNvPr id="24" name="Karte"/>
          <p:cNvSpPr/>
          <p:nvPr/>
        </p:nvSpPr>
        <p:spPr>
          <a:xfrm>
            <a:off x="6400800" y="1737360"/>
            <a:ext cx="5239512" cy="2011680"/>
          </a:xfrm>
          <a:prstGeom prst="roundRect">
            <a:avLst>
              <a:gd name="adj" fmla="val 5455"/>
            </a:avLst>
          </a:prstGeom>
          <a:solidFill>
            <a:schemeClr val="bg1"/>
          </a:solidFill>
          <a:ln/>
          <a:effectLst>
            <a:outerShdw sx="100000" sy="100000" kx="0" ky="0" algn="bl" rotWithShape="0" blurRad="101600" dist="25400" dir="5400000">
              <a:srgbClr val="18202B">
                <a:alpha val="12000"/>
              </a:srgbClr>
            </a:outerShdw>
          </a:effectLst>
        </p:spPr>
      </p:sp>
      <p:sp>
        <p:nvSpPr>
          <p:cNvPr id="25" name="Etikett"/>
          <p:cNvSpPr/>
          <p:nvPr/>
        </p:nvSpPr>
        <p:spPr>
          <a:xfrm>
            <a:off x="6675120" y="1993392"/>
            <a:ext cx="1371600" cy="292608"/>
          </a:xfrm>
          <a:prstGeom prst="roundRect">
            <a:avLst>
              <a:gd name="adj" fmla="val 50000"/>
            </a:avLst>
          </a:prstGeom>
          <a:solidFill>
            <a:schemeClr val="accent3"/>
          </a:solidFill>
          <a:ln/>
        </p:spPr>
      </p:sp>
      <p:sp>
        <p:nvSpPr>
          <p:cNvPr id="26" name="Text 21"/>
          <p:cNvSpPr txBox="1"/>
          <p:nvPr/>
        </p:nvSpPr>
        <p:spPr>
          <a:xfrm>
            <a:off x="6675120" y="1993392"/>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Ungünstig</a:t>
            </a:r>
            <a:endParaRPr lang="en-US" sz="1100" dirty="0"/>
          </a:p>
        </p:txBody>
      </p:sp>
      <p:sp>
        <p:nvSpPr>
          <p:cNvPr id="27" name="Text 22"/>
          <p:cNvSpPr txBox="1"/>
          <p:nvPr/>
        </p:nvSpPr>
        <p:spPr>
          <a:xfrm>
            <a:off x="6675120" y="2423160"/>
            <a:ext cx="4690872" cy="822960"/>
          </a:xfrm>
          <a:prstGeom prst="rect">
            <a:avLst/>
          </a:prstGeom>
          <a:noFill/>
          <a:ln/>
        </p:spPr>
        <p:txBody>
          <a:bodyPr wrap="square" lIns="0" tIns="0" rIns="0" bIns="0" rtlCol="0" anchor="t"/>
          <a:lstStyle/>
          <a:p>
            <a:pPr indent="0" marL="0">
              <a:buNone/>
            </a:pPr>
            <a:r>
              <a:rPr lang="en-US" sz="1700" b="1" i="1" dirty="0">
                <a:solidFill>
                  <a:schemeClr val="tx1"/>
                </a:solidFill>
              </a:rPr>
              <a:t>„Kann ich Ihnen helfen?“</a:t>
            </a:r>
            <a:endParaRPr lang="en-US" sz="1700" dirty="0"/>
          </a:p>
        </p:txBody>
      </p:sp>
      <p:sp>
        <p:nvSpPr>
          <p:cNvPr id="28" name="Text 23"/>
          <p:cNvSpPr txBox="1"/>
          <p:nvPr/>
        </p:nvSpPr>
        <p:spPr>
          <a:xfrm>
            <a:off x="6675120" y="3246120"/>
            <a:ext cx="4690872" cy="320040"/>
          </a:xfrm>
          <a:prstGeom prst="rect">
            <a:avLst/>
          </a:prstGeom>
          <a:noFill/>
          <a:ln/>
        </p:spPr>
        <p:txBody>
          <a:bodyPr wrap="square" lIns="0" tIns="0" rIns="0" bIns="0" rtlCol="0" anchor="t"/>
          <a:lstStyle/>
          <a:p>
            <a:pPr indent="0" marL="0">
              <a:buNone/>
            </a:pPr>
            <a:r>
              <a:rPr lang="en-US" sz="1400" dirty="0">
                <a:solidFill>
                  <a:schemeClr val="accent6"/>
                </a:solidFill>
              </a:rPr>
              <a:t>Geschlossene Frage. Typische Antwort: „Nein danke, ich schaue nur.“</a:t>
            </a:r>
            <a:endParaRPr lang="en-US" sz="1400" dirty="0"/>
          </a:p>
        </p:txBody>
      </p:sp>
      <p:sp>
        <p:nvSpPr>
          <p:cNvPr id="29" name="Karte"/>
          <p:cNvSpPr/>
          <p:nvPr/>
        </p:nvSpPr>
        <p:spPr>
          <a:xfrm>
            <a:off x="6400800" y="3977640"/>
            <a:ext cx="5239512" cy="2103120"/>
          </a:xfrm>
          <a:prstGeom prst="roundRect">
            <a:avLst>
              <a:gd name="adj" fmla="val 5217"/>
            </a:avLst>
          </a:prstGeom>
          <a:solidFill>
            <a:schemeClr val="bg1"/>
          </a:solidFill>
          <a:ln/>
          <a:effectLst>
            <a:outerShdw sx="100000" sy="100000" kx="0" ky="0" algn="bl" rotWithShape="0" blurRad="101600" dist="25400" dir="5400000">
              <a:srgbClr val="18202B">
                <a:alpha val="12000"/>
              </a:srgbClr>
            </a:outerShdw>
          </a:effectLst>
        </p:spPr>
      </p:sp>
      <p:sp>
        <p:nvSpPr>
          <p:cNvPr id="30" name="Etikett"/>
          <p:cNvSpPr/>
          <p:nvPr/>
        </p:nvSpPr>
        <p:spPr>
          <a:xfrm>
            <a:off x="6675120" y="4233672"/>
            <a:ext cx="1371600" cy="292608"/>
          </a:xfrm>
          <a:prstGeom prst="roundRect">
            <a:avLst>
              <a:gd name="adj" fmla="val 50000"/>
            </a:avLst>
          </a:prstGeom>
          <a:solidFill>
            <a:schemeClr val="accent2"/>
          </a:solidFill>
          <a:ln/>
        </p:spPr>
      </p:sp>
      <p:sp>
        <p:nvSpPr>
          <p:cNvPr id="31" name="Text 26"/>
          <p:cNvSpPr txBox="1"/>
          <p:nvPr/>
        </p:nvSpPr>
        <p:spPr>
          <a:xfrm>
            <a:off x="6675120" y="4233672"/>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Besser</a:t>
            </a:r>
            <a:endParaRPr lang="en-US" sz="1100" dirty="0"/>
          </a:p>
        </p:txBody>
      </p:sp>
      <p:sp>
        <p:nvSpPr>
          <p:cNvPr id="32" name="Text 27"/>
          <p:cNvSpPr txBox="1"/>
          <p:nvPr/>
        </p:nvSpPr>
        <p:spPr>
          <a:xfrm>
            <a:off x="6675120" y="4663440"/>
            <a:ext cx="4690872" cy="822960"/>
          </a:xfrm>
          <a:prstGeom prst="rect">
            <a:avLst/>
          </a:prstGeom>
          <a:noFill/>
          <a:ln/>
        </p:spPr>
        <p:txBody>
          <a:bodyPr wrap="square" lIns="0" tIns="0" rIns="0" bIns="0" rtlCol="0" anchor="t"/>
          <a:lstStyle/>
          <a:p>
            <a:pPr indent="0" marL="0">
              <a:buNone/>
            </a:pPr>
            <a:r>
              <a:rPr lang="en-US" sz="1700" b="1" i="1" dirty="0">
                <a:solidFill>
                  <a:schemeClr val="tx1"/>
                </a:solidFill>
              </a:rPr>
              <a:t>„Das ist unser AeroRun. Laufen Sie eher auf der Straße oder im Gelände?“</a:t>
            </a:r>
            <a:endParaRPr lang="en-US" sz="1700" dirty="0"/>
          </a:p>
        </p:txBody>
      </p:sp>
      <p:sp>
        <p:nvSpPr>
          <p:cNvPr id="33" name="Text 28"/>
          <p:cNvSpPr txBox="1"/>
          <p:nvPr/>
        </p:nvSpPr>
        <p:spPr>
          <a:xfrm>
            <a:off x="6675120" y="5486400"/>
            <a:ext cx="4690872" cy="411480"/>
          </a:xfrm>
          <a:prstGeom prst="rect">
            <a:avLst/>
          </a:prstGeom>
          <a:noFill/>
          <a:ln/>
        </p:spPr>
        <p:txBody>
          <a:bodyPr wrap="square" lIns="0" tIns="0" rIns="0" bIns="0" rtlCol="0" anchor="t"/>
          <a:lstStyle/>
          <a:p>
            <a:pPr indent="0" marL="0">
              <a:buNone/>
            </a:pPr>
            <a:r>
              <a:rPr lang="en-US" sz="1400" dirty="0">
                <a:solidFill>
                  <a:schemeClr val="accent6"/>
                </a:solidFill>
              </a:rPr>
              <a:t>Knüpft an die Ware an und öffnet sofort ein Gespräch.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2 · BEDARFSERMITTLUNG</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Wer fragt, der führt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3502152" cy="3429000"/>
          </a:xfrm>
          <a:prstGeom prst="roundRect">
            <a:avLst>
              <a:gd name="adj" fmla="val 3200"/>
            </a:avLst>
          </a:prstGeom>
          <a:solidFill>
            <a:schemeClr val="bg1"/>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822960" y="1965960"/>
            <a:ext cx="2953512" cy="411480"/>
          </a:xfrm>
          <a:prstGeom prst="rect">
            <a:avLst/>
          </a:prstGeom>
          <a:noFill/>
          <a:ln/>
        </p:spPr>
        <p:txBody>
          <a:bodyPr wrap="square" lIns="0" tIns="0" rIns="0" bIns="0" rtlCol="0" anchor="t"/>
          <a:lstStyle/>
          <a:p>
            <a:pPr indent="0" marL="0">
              <a:buNone/>
            </a:pPr>
            <a:r>
              <a:rPr lang="en-US" sz="2000" b="1" dirty="0">
                <a:solidFill>
                  <a:schemeClr val="accent2"/>
                </a:solidFill>
                <a:latin typeface="Century Schoolbook" pitchFamily="34" charset="0"/>
                <a:ea typeface="Century Schoolbook" pitchFamily="34" charset="-122"/>
                <a:cs typeface="Century Schoolbook" pitchFamily="34" charset="-120"/>
              </a:rPr>
              <a:t>Offene Fragen</a:t>
            </a:r>
            <a:endParaRPr lang="en-US" sz="2000" dirty="0"/>
          </a:p>
        </p:txBody>
      </p:sp>
      <p:sp>
        <p:nvSpPr>
          <p:cNvPr id="14" name="Text 12"/>
          <p:cNvSpPr txBox="1"/>
          <p:nvPr/>
        </p:nvSpPr>
        <p:spPr>
          <a:xfrm>
            <a:off x="822960" y="2395728"/>
            <a:ext cx="2953512" cy="365760"/>
          </a:xfrm>
          <a:prstGeom prst="rect">
            <a:avLst/>
          </a:prstGeom>
          <a:noFill/>
          <a:ln/>
        </p:spPr>
        <p:txBody>
          <a:bodyPr wrap="square" lIns="0" tIns="0" rIns="0" bIns="0" rtlCol="0" anchor="t"/>
          <a:lstStyle/>
          <a:p>
            <a:pPr indent="0" marL="0">
              <a:buNone/>
            </a:pPr>
            <a:r>
              <a:rPr lang="en-US" sz="1400" dirty="0">
                <a:solidFill>
                  <a:schemeClr val="accent6"/>
                </a:solidFill>
              </a:rPr>
              <a:t>W-Fragen: Wie? Was? Wo? Wie oft?</a:t>
            </a:r>
            <a:endParaRPr lang="en-US" sz="1400" dirty="0"/>
          </a:p>
        </p:txBody>
      </p:sp>
      <p:sp>
        <p:nvSpPr>
          <p:cNvPr id="15" name="Text 13"/>
          <p:cNvSpPr txBox="1"/>
          <p:nvPr/>
        </p:nvSpPr>
        <p:spPr>
          <a:xfrm>
            <a:off x="822960" y="2880360"/>
            <a:ext cx="2953512" cy="1280160"/>
          </a:xfrm>
          <a:prstGeom prst="rect">
            <a:avLst/>
          </a:prstGeom>
          <a:noFill/>
          <a:ln/>
        </p:spPr>
        <p:txBody>
          <a:bodyPr wrap="square" lIns="0" tIns="0" rIns="0" bIns="0" rtlCol="0" anchor="t"/>
          <a:lstStyle/>
          <a:p>
            <a:pPr indent="0" marL="0">
              <a:buNone/>
            </a:pPr>
            <a:r>
              <a:rPr lang="en-US" sz="1600" i="1" dirty="0">
                <a:solidFill>
                  <a:schemeClr val="tx1"/>
                </a:solidFill>
              </a:rPr>
              <a:t>„Wie oft möchten Sie laufen, und auf welchem Untergrund?“</a:t>
            </a:r>
            <a:endParaRPr lang="en-US" sz="1600" dirty="0"/>
          </a:p>
        </p:txBody>
      </p:sp>
      <p:sp>
        <p:nvSpPr>
          <p:cNvPr id="16" name="Text 14"/>
          <p:cNvSpPr txBox="1"/>
          <p:nvPr/>
        </p:nvSpPr>
        <p:spPr>
          <a:xfrm>
            <a:off x="822960" y="4343400"/>
            <a:ext cx="2953512" cy="640080"/>
          </a:xfrm>
          <a:prstGeom prst="rect">
            <a:avLst/>
          </a:prstGeom>
          <a:noFill/>
          <a:ln/>
        </p:spPr>
        <p:txBody>
          <a:bodyPr wrap="square" lIns="0" tIns="0" rIns="0" bIns="0" rtlCol="0" anchor="t"/>
          <a:lstStyle/>
          <a:p>
            <a:pPr indent="0" marL="0">
              <a:buNone/>
            </a:pPr>
            <a:r>
              <a:rPr lang="en-US" sz="1400" b="1" dirty="0">
                <a:solidFill>
                  <a:schemeClr val="accent2"/>
                </a:solidFill>
              </a:rPr>
              <a:t>Liefern viele Informationen</a:t>
            </a:r>
            <a:endParaRPr lang="en-US" sz="1400" dirty="0"/>
          </a:p>
        </p:txBody>
      </p:sp>
      <p:sp>
        <p:nvSpPr>
          <p:cNvPr id="17" name="Karte"/>
          <p:cNvSpPr/>
          <p:nvPr/>
        </p:nvSpPr>
        <p:spPr>
          <a:xfrm>
            <a:off x="4325112" y="1737360"/>
            <a:ext cx="3502152" cy="3429000"/>
          </a:xfrm>
          <a:prstGeom prst="roundRect">
            <a:avLst>
              <a:gd name="adj" fmla="val 3200"/>
            </a:avLst>
          </a:prstGeom>
          <a:solidFill>
            <a:schemeClr val="bg1"/>
          </a:solidFill>
          <a:ln/>
          <a:effectLst>
            <a:outerShdw sx="100000" sy="100000" kx="0" ky="0" algn="bl" rotWithShape="0" blurRad="101600" dist="25400" dir="5400000">
              <a:srgbClr val="18202B">
                <a:alpha val="12000"/>
              </a:srgbClr>
            </a:outerShdw>
          </a:effectLst>
        </p:spPr>
      </p:sp>
      <p:sp>
        <p:nvSpPr>
          <p:cNvPr id="18" name="Text 16"/>
          <p:cNvSpPr txBox="1"/>
          <p:nvPr/>
        </p:nvSpPr>
        <p:spPr>
          <a:xfrm>
            <a:off x="4599432" y="1965960"/>
            <a:ext cx="2953512" cy="411480"/>
          </a:xfrm>
          <a:prstGeom prst="rect">
            <a:avLst/>
          </a:prstGeom>
          <a:noFill/>
          <a:ln/>
        </p:spPr>
        <p:txBody>
          <a:bodyPr wrap="square" lIns="0" tIns="0" rIns="0" bIns="0" rtlCol="0" anchor="t"/>
          <a:lstStyle/>
          <a:p>
            <a:pPr indent="0" marL="0">
              <a:buNone/>
            </a:pPr>
            <a:r>
              <a:rPr lang="en-US" sz="2000" b="1" dirty="0">
                <a:solidFill>
                  <a:schemeClr val="accent1"/>
                </a:solidFill>
                <a:latin typeface="Century Schoolbook" pitchFamily="34" charset="0"/>
                <a:ea typeface="Century Schoolbook" pitchFamily="34" charset="-122"/>
                <a:cs typeface="Century Schoolbook" pitchFamily="34" charset="-120"/>
              </a:rPr>
              <a:t>Alternativfragen</a:t>
            </a:r>
            <a:endParaRPr lang="en-US" sz="2000" dirty="0"/>
          </a:p>
        </p:txBody>
      </p:sp>
      <p:sp>
        <p:nvSpPr>
          <p:cNvPr id="19" name="Text 17"/>
          <p:cNvSpPr txBox="1"/>
          <p:nvPr/>
        </p:nvSpPr>
        <p:spPr>
          <a:xfrm>
            <a:off x="4599432" y="2395728"/>
            <a:ext cx="2953512" cy="365760"/>
          </a:xfrm>
          <a:prstGeom prst="rect">
            <a:avLst/>
          </a:prstGeom>
          <a:noFill/>
          <a:ln/>
        </p:spPr>
        <p:txBody>
          <a:bodyPr wrap="square" lIns="0" tIns="0" rIns="0" bIns="0" rtlCol="0" anchor="t"/>
          <a:lstStyle/>
          <a:p>
            <a:pPr indent="0" marL="0">
              <a:buNone/>
            </a:pPr>
            <a:r>
              <a:rPr lang="en-US" sz="1400" dirty="0">
                <a:solidFill>
                  <a:schemeClr val="accent6"/>
                </a:solidFill>
              </a:rPr>
              <a:t>Zwei Möglichkeiten zur Wahl</a:t>
            </a:r>
            <a:endParaRPr lang="en-US" sz="1400" dirty="0"/>
          </a:p>
        </p:txBody>
      </p:sp>
      <p:sp>
        <p:nvSpPr>
          <p:cNvPr id="20" name="Text 18"/>
          <p:cNvSpPr txBox="1"/>
          <p:nvPr/>
        </p:nvSpPr>
        <p:spPr>
          <a:xfrm>
            <a:off x="4599432" y="2880360"/>
            <a:ext cx="2953512" cy="1280160"/>
          </a:xfrm>
          <a:prstGeom prst="rect">
            <a:avLst/>
          </a:prstGeom>
          <a:noFill/>
          <a:ln/>
        </p:spPr>
        <p:txBody>
          <a:bodyPr wrap="square" lIns="0" tIns="0" rIns="0" bIns="0" rtlCol="0" anchor="t"/>
          <a:lstStyle/>
          <a:p>
            <a:pPr indent="0" marL="0">
              <a:buNone/>
            </a:pPr>
            <a:r>
              <a:rPr lang="en-US" sz="1600" i="1" dirty="0">
                <a:solidFill>
                  <a:schemeClr val="tx1"/>
                </a:solidFill>
              </a:rPr>
              <a:t>„Brauchen Sie eher Regenschutz oder etwas Warmes?“</a:t>
            </a:r>
            <a:endParaRPr lang="en-US" sz="1600" dirty="0"/>
          </a:p>
        </p:txBody>
      </p:sp>
      <p:sp>
        <p:nvSpPr>
          <p:cNvPr id="21" name="Text 19"/>
          <p:cNvSpPr txBox="1"/>
          <p:nvPr/>
        </p:nvSpPr>
        <p:spPr>
          <a:xfrm>
            <a:off x="4599432" y="4343400"/>
            <a:ext cx="2953512" cy="640080"/>
          </a:xfrm>
          <a:prstGeom prst="rect">
            <a:avLst/>
          </a:prstGeom>
          <a:noFill/>
          <a:ln/>
        </p:spPr>
        <p:txBody>
          <a:bodyPr wrap="square" lIns="0" tIns="0" rIns="0" bIns="0" rtlCol="0" anchor="t"/>
          <a:lstStyle/>
          <a:p>
            <a:pPr indent="0" marL="0">
              <a:buNone/>
            </a:pPr>
            <a:r>
              <a:rPr lang="en-US" sz="1400" b="1" dirty="0">
                <a:solidFill>
                  <a:schemeClr val="accent1"/>
                </a:solidFill>
              </a:rPr>
              <a:t>Schnelle Klarheit, gut bei Zeitdruck</a:t>
            </a:r>
            <a:endParaRPr lang="en-US" sz="1400" dirty="0"/>
          </a:p>
        </p:txBody>
      </p:sp>
      <p:sp>
        <p:nvSpPr>
          <p:cNvPr id="22" name="Karte"/>
          <p:cNvSpPr/>
          <p:nvPr/>
        </p:nvSpPr>
        <p:spPr>
          <a:xfrm>
            <a:off x="8101584" y="1737360"/>
            <a:ext cx="3502152" cy="3429000"/>
          </a:xfrm>
          <a:prstGeom prst="roundRect">
            <a:avLst>
              <a:gd name="adj" fmla="val 3200"/>
            </a:avLst>
          </a:prstGeom>
          <a:solidFill>
            <a:schemeClr val="bg1"/>
          </a:solidFill>
          <a:ln/>
          <a:effectLst>
            <a:outerShdw sx="100000" sy="100000" kx="0" ky="0" algn="bl" rotWithShape="0" blurRad="101600" dist="25400" dir="5400000">
              <a:srgbClr val="18202B">
                <a:alpha val="12000"/>
              </a:srgbClr>
            </a:outerShdw>
          </a:effectLst>
        </p:spPr>
      </p:sp>
      <p:sp>
        <p:nvSpPr>
          <p:cNvPr id="23" name="Text 21"/>
          <p:cNvSpPr txBox="1"/>
          <p:nvPr/>
        </p:nvSpPr>
        <p:spPr>
          <a:xfrm>
            <a:off x="8375904" y="1965960"/>
            <a:ext cx="2953512" cy="411480"/>
          </a:xfrm>
          <a:prstGeom prst="rect">
            <a:avLst/>
          </a:prstGeom>
          <a:noFill/>
          <a:ln/>
        </p:spPr>
        <p:txBody>
          <a:bodyPr wrap="square" lIns="0" tIns="0" rIns="0" bIns="0" rtlCol="0" anchor="t"/>
          <a:lstStyle/>
          <a:p>
            <a:pPr indent="0" marL="0">
              <a:buNone/>
            </a:pPr>
            <a:r>
              <a:rPr lang="en-US" sz="2000" b="1" dirty="0">
                <a:solidFill>
                  <a:schemeClr val="accent3"/>
                </a:solidFill>
                <a:latin typeface="Century Schoolbook" pitchFamily="34" charset="0"/>
                <a:ea typeface="Century Schoolbook" pitchFamily="34" charset="-122"/>
                <a:cs typeface="Century Schoolbook" pitchFamily="34" charset="-120"/>
              </a:rPr>
              <a:t>Geschlossene Fragen</a:t>
            </a:r>
            <a:endParaRPr lang="en-US" sz="2000" dirty="0"/>
          </a:p>
        </p:txBody>
      </p:sp>
      <p:sp>
        <p:nvSpPr>
          <p:cNvPr id="24" name="Text 22"/>
          <p:cNvSpPr txBox="1"/>
          <p:nvPr/>
        </p:nvSpPr>
        <p:spPr>
          <a:xfrm>
            <a:off x="8375904" y="2395728"/>
            <a:ext cx="2953512" cy="365760"/>
          </a:xfrm>
          <a:prstGeom prst="rect">
            <a:avLst/>
          </a:prstGeom>
          <a:noFill/>
          <a:ln/>
        </p:spPr>
        <p:txBody>
          <a:bodyPr wrap="square" lIns="0" tIns="0" rIns="0" bIns="0" rtlCol="0" anchor="t"/>
          <a:lstStyle/>
          <a:p>
            <a:pPr indent="0" marL="0">
              <a:buNone/>
            </a:pPr>
            <a:r>
              <a:rPr lang="en-US" sz="1400" dirty="0">
                <a:solidFill>
                  <a:schemeClr val="accent6"/>
                </a:solidFill>
              </a:rPr>
              <a:t>Antwort nur Ja oder Nein</a:t>
            </a:r>
            <a:endParaRPr lang="en-US" sz="1400" dirty="0"/>
          </a:p>
        </p:txBody>
      </p:sp>
      <p:sp>
        <p:nvSpPr>
          <p:cNvPr id="25" name="Text 23"/>
          <p:cNvSpPr txBox="1"/>
          <p:nvPr/>
        </p:nvSpPr>
        <p:spPr>
          <a:xfrm>
            <a:off x="8375904" y="2880360"/>
            <a:ext cx="2953512" cy="1280160"/>
          </a:xfrm>
          <a:prstGeom prst="rect">
            <a:avLst/>
          </a:prstGeom>
          <a:noFill/>
          <a:ln/>
        </p:spPr>
        <p:txBody>
          <a:bodyPr wrap="square" lIns="0" tIns="0" rIns="0" bIns="0" rtlCol="0" anchor="t"/>
          <a:lstStyle/>
          <a:p>
            <a:pPr indent="0" marL="0">
              <a:buNone/>
            </a:pPr>
            <a:r>
              <a:rPr lang="en-US" sz="1600" i="1" dirty="0">
                <a:solidFill>
                  <a:schemeClr val="tx1"/>
                </a:solidFill>
              </a:rPr>
              <a:t>„Wollen Sie viel laufen?“</a:t>
            </a:r>
            <a:endParaRPr lang="en-US" sz="1600" dirty="0"/>
          </a:p>
        </p:txBody>
      </p:sp>
      <p:sp>
        <p:nvSpPr>
          <p:cNvPr id="26" name="Text 24"/>
          <p:cNvSpPr txBox="1"/>
          <p:nvPr/>
        </p:nvSpPr>
        <p:spPr>
          <a:xfrm>
            <a:off x="8375904" y="4343400"/>
            <a:ext cx="2953512" cy="640080"/>
          </a:xfrm>
          <a:prstGeom prst="rect">
            <a:avLst/>
          </a:prstGeom>
          <a:noFill/>
          <a:ln/>
        </p:spPr>
        <p:txBody>
          <a:bodyPr wrap="square" lIns="0" tIns="0" rIns="0" bIns="0" rtlCol="0" anchor="t"/>
          <a:lstStyle/>
          <a:p>
            <a:pPr indent="0" marL="0">
              <a:buNone/>
            </a:pPr>
            <a:r>
              <a:rPr lang="en-US" sz="1400" b="1" dirty="0">
                <a:solidFill>
                  <a:schemeClr val="accent3"/>
                </a:solidFill>
              </a:rPr>
              <a:t>Wenig Information, für den Einstieg ungeeignet</a:t>
            </a:r>
            <a:endParaRPr lang="en-US" sz="1400" dirty="0"/>
          </a:p>
        </p:txBody>
      </p:sp>
      <p:sp>
        <p:nvSpPr>
          <p:cNvPr id="27" name="Symbolkreis"/>
          <p:cNvSpPr/>
          <p:nvPr/>
        </p:nvSpPr>
        <p:spPr>
          <a:xfrm>
            <a:off x="548640" y="5440680"/>
            <a:ext cx="548640" cy="548640"/>
          </a:xfrm>
          <a:prstGeom prst="ellipse">
            <a:avLst/>
          </a:prstGeom>
          <a:solidFill>
            <a:schemeClr val="accent5"/>
          </a:solidFill>
          <a:ln/>
        </p:spPr>
      </p:sp>
      <p:pic>
        <p:nvPicPr>
          <p:cNvPr id="28" name="Image 0" descr="Symbol">    </p:cNvPr>
          <p:cNvPicPr>
            <a:picLocks noChangeAspect="1"/>
          </p:cNvPicPr>
          <p:nvPr/>
        </p:nvPicPr>
        <p:blipFill>
          <a:blip r:embed="rId1"/>
          <a:stretch>
            <a:fillRect/>
          </a:stretch>
        </p:blipFill>
        <p:spPr>
          <a:xfrm>
            <a:off x="669341" y="5561381"/>
            <a:ext cx="307238" cy="307238"/>
          </a:xfrm>
          <a:prstGeom prst="rect">
            <a:avLst/>
          </a:prstGeom>
        </p:spPr>
      </p:pic>
      <p:sp>
        <p:nvSpPr>
          <p:cNvPr id="29" name="Text 26"/>
          <p:cNvSpPr txBox="1"/>
          <p:nvPr/>
        </p:nvSpPr>
        <p:spPr>
          <a:xfrm>
            <a:off x="1280160" y="5532120"/>
            <a:ext cx="10058400" cy="411480"/>
          </a:xfrm>
          <a:prstGeom prst="rect">
            <a:avLst/>
          </a:prstGeom>
          <a:noFill/>
          <a:ln/>
        </p:spPr>
        <p:txBody>
          <a:bodyPr wrap="square" lIns="0" tIns="0" rIns="0" bIns="0" rtlCol="0" anchor="t"/>
          <a:lstStyle/>
          <a:p>
            <a:pPr indent="0" marL="0">
              <a:buNone/>
            </a:pPr>
            <a:r>
              <a:rPr lang="en-US" sz="1600" b="1" dirty="0">
                <a:solidFill>
                  <a:schemeClr val="tx1"/>
                </a:solidFill>
              </a:rPr>
              <a:t>Aktiv zuhören: </a:t>
            </a:r>
            <a:pPr indent="0" marL="0">
              <a:buNone/>
            </a:pPr>
            <a:r>
              <a:rPr lang="en-US" sz="1600" dirty="0">
                <a:solidFill>
                  <a:schemeClr val="tx1"/>
                </a:solidFill>
              </a:rPr>
              <a:t>ausreden lassen, nachfragen, das Gehörte kurz zusammenfassen.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3 · WARENVORLAGE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Weniger zeigen, mehr erleben lassen</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3657600" cy="4343400"/>
          </a:xfrm>
          <a:prstGeom prst="roundRect">
            <a:avLst>
              <a:gd name="adj" fmla="val 3000"/>
            </a:avLst>
          </a:prstGeom>
          <a:solidFill>
            <a:schemeClr val="tx2"/>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868680" y="2103120"/>
            <a:ext cx="3017520" cy="1371600"/>
          </a:xfrm>
          <a:prstGeom prst="rect">
            <a:avLst/>
          </a:prstGeom>
          <a:noFill/>
          <a:ln/>
        </p:spPr>
        <p:txBody>
          <a:bodyPr wrap="square" lIns="0" tIns="0" rIns="0" bIns="0" rtlCol="0" anchor="t"/>
          <a:lstStyle/>
          <a:p>
            <a:pPr indent="0" marL="0">
              <a:buNone/>
            </a:pPr>
            <a:r>
              <a:rPr lang="en-US" sz="8000" b="1" dirty="0">
                <a:solidFill>
                  <a:schemeClr val="bg1"/>
                </a:solidFill>
                <a:latin typeface="Century Schoolbook" pitchFamily="34" charset="0"/>
                <a:ea typeface="Century Schoolbook" pitchFamily="34" charset="-122"/>
                <a:cs typeface="Century Schoolbook" pitchFamily="34" charset="-120"/>
              </a:rPr>
              <a:t>2–3</a:t>
            </a:r>
            <a:endParaRPr lang="en-US" sz="8000" dirty="0"/>
          </a:p>
        </p:txBody>
      </p:sp>
      <p:sp>
        <p:nvSpPr>
          <p:cNvPr id="14" name="Text 12"/>
          <p:cNvSpPr txBox="1"/>
          <p:nvPr/>
        </p:nvSpPr>
        <p:spPr>
          <a:xfrm>
            <a:off x="868680" y="3611880"/>
            <a:ext cx="3017520" cy="1463040"/>
          </a:xfrm>
          <a:prstGeom prst="rect">
            <a:avLst/>
          </a:prstGeom>
          <a:noFill/>
          <a:ln/>
        </p:spPr>
        <p:txBody>
          <a:bodyPr wrap="square" lIns="0" tIns="0" rIns="0" bIns="0" rtlCol="0" anchor="t"/>
          <a:lstStyle/>
          <a:p>
            <a:pPr indent="0" marL="0">
              <a:buNone/>
            </a:pPr>
            <a:r>
              <a:rPr lang="en-US" sz="1700" dirty="0">
                <a:solidFill>
                  <a:schemeClr val="accent5"/>
                </a:solidFill>
              </a:rPr>
              <a:t>passende Artikel reichen. Mehr Auswahl überfordert, vor allem unentschlossene Kundschaft.</a:t>
            </a:r>
            <a:endParaRPr lang="en-US" sz="1700" dirty="0"/>
          </a:p>
        </p:txBody>
      </p:sp>
      <p:sp>
        <p:nvSpPr>
          <p:cNvPr id="15" name="Symbolkreis"/>
          <p:cNvSpPr/>
          <p:nvPr/>
        </p:nvSpPr>
        <p:spPr>
          <a:xfrm>
            <a:off x="4663440" y="1737360"/>
            <a:ext cx="566928" cy="566928"/>
          </a:xfrm>
          <a:prstGeom prst="ellipse">
            <a:avLst/>
          </a:prstGeom>
          <a:solidFill>
            <a:schemeClr val="accent5"/>
          </a:solidFill>
          <a:ln/>
        </p:spPr>
      </p:sp>
      <p:pic>
        <p:nvPicPr>
          <p:cNvPr id="16" name="Image 0" descr="Symbol">    </p:cNvPr>
          <p:cNvPicPr>
            <a:picLocks noChangeAspect="1"/>
          </p:cNvPicPr>
          <p:nvPr/>
        </p:nvPicPr>
        <p:blipFill>
          <a:blip r:embed="rId1"/>
          <a:stretch>
            <a:fillRect/>
          </a:stretch>
        </p:blipFill>
        <p:spPr>
          <a:xfrm>
            <a:off x="4788164" y="1862084"/>
            <a:ext cx="317480" cy="317480"/>
          </a:xfrm>
          <a:prstGeom prst="rect">
            <a:avLst/>
          </a:prstGeom>
        </p:spPr>
      </p:pic>
      <p:sp>
        <p:nvSpPr>
          <p:cNvPr id="17" name="Text 14"/>
          <p:cNvSpPr txBox="1"/>
          <p:nvPr/>
        </p:nvSpPr>
        <p:spPr>
          <a:xfrm>
            <a:off x="5440680" y="1737360"/>
            <a:ext cx="6172200" cy="329184"/>
          </a:xfrm>
          <a:prstGeom prst="rect">
            <a:avLst/>
          </a:prstGeom>
          <a:noFill/>
          <a:ln/>
        </p:spPr>
        <p:txBody>
          <a:bodyPr wrap="square" lIns="0" tIns="0" rIns="0" bIns="0" rtlCol="0" anchor="t"/>
          <a:lstStyle/>
          <a:p>
            <a:pPr indent="0" marL="0">
              <a:buNone/>
            </a:pPr>
            <a:r>
              <a:rPr lang="en-US" sz="1700" b="1" dirty="0">
                <a:solidFill>
                  <a:schemeClr val="tx1"/>
                </a:solidFill>
              </a:rPr>
              <a:t>Mittlere Preislage zuerst</a:t>
            </a:r>
            <a:endParaRPr lang="en-US" sz="1700" dirty="0"/>
          </a:p>
        </p:txBody>
      </p:sp>
      <p:sp>
        <p:nvSpPr>
          <p:cNvPr id="18" name="Text 15"/>
          <p:cNvSpPr txBox="1"/>
          <p:nvPr/>
        </p:nvSpPr>
        <p:spPr>
          <a:xfrm>
            <a:off x="5440680" y="208483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Nicht mit dem teuersten oder billigsten Artikel beginnen.</a:t>
            </a:r>
            <a:endParaRPr lang="en-US" sz="1400" dirty="0"/>
          </a:p>
        </p:txBody>
      </p:sp>
      <p:sp>
        <p:nvSpPr>
          <p:cNvPr id="19" name="Symbolkreis"/>
          <p:cNvSpPr/>
          <p:nvPr/>
        </p:nvSpPr>
        <p:spPr>
          <a:xfrm>
            <a:off x="4663440" y="2834640"/>
            <a:ext cx="566928" cy="566928"/>
          </a:xfrm>
          <a:prstGeom prst="ellipse">
            <a:avLst/>
          </a:prstGeom>
          <a:solidFill>
            <a:schemeClr val="accent5"/>
          </a:solidFill>
          <a:ln/>
        </p:spPr>
      </p:sp>
      <p:pic>
        <p:nvPicPr>
          <p:cNvPr id="20" name="Image 1" descr="Symbol">    </p:cNvPr>
          <p:cNvPicPr>
            <a:picLocks noChangeAspect="1"/>
          </p:cNvPicPr>
          <p:nvPr/>
        </p:nvPicPr>
        <p:blipFill>
          <a:blip r:embed="rId2"/>
          <a:stretch>
            <a:fillRect/>
          </a:stretch>
        </p:blipFill>
        <p:spPr>
          <a:xfrm>
            <a:off x="4788164" y="2959364"/>
            <a:ext cx="317480" cy="317480"/>
          </a:xfrm>
          <a:prstGeom prst="rect">
            <a:avLst/>
          </a:prstGeom>
        </p:spPr>
      </p:pic>
      <p:sp>
        <p:nvSpPr>
          <p:cNvPr id="21" name="Text 17"/>
          <p:cNvSpPr txBox="1"/>
          <p:nvPr/>
        </p:nvSpPr>
        <p:spPr>
          <a:xfrm>
            <a:off x="5440680" y="2834640"/>
            <a:ext cx="6172200" cy="329184"/>
          </a:xfrm>
          <a:prstGeom prst="rect">
            <a:avLst/>
          </a:prstGeom>
          <a:noFill/>
          <a:ln/>
        </p:spPr>
        <p:txBody>
          <a:bodyPr wrap="square" lIns="0" tIns="0" rIns="0" bIns="0" rtlCol="0" anchor="t"/>
          <a:lstStyle/>
          <a:p>
            <a:pPr indent="0" marL="0">
              <a:buNone/>
            </a:pPr>
            <a:r>
              <a:rPr lang="en-US" sz="1700" b="1" dirty="0">
                <a:solidFill>
                  <a:schemeClr val="tx1"/>
                </a:solidFill>
              </a:rPr>
              <a:t>Ware in die Hand geben</a:t>
            </a:r>
            <a:endParaRPr lang="en-US" sz="1700" dirty="0"/>
          </a:p>
        </p:txBody>
      </p:sp>
      <p:sp>
        <p:nvSpPr>
          <p:cNvPr id="22" name="Text 18"/>
          <p:cNvSpPr txBox="1"/>
          <p:nvPr/>
        </p:nvSpPr>
        <p:spPr>
          <a:xfrm>
            <a:off x="5440680" y="318211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Anfassen, anprobieren, riechen, schmecken: Alle Sinne überzeugen.</a:t>
            </a:r>
            <a:endParaRPr lang="en-US" sz="1400" dirty="0"/>
          </a:p>
        </p:txBody>
      </p:sp>
      <p:sp>
        <p:nvSpPr>
          <p:cNvPr id="23" name="Symbolkreis"/>
          <p:cNvSpPr/>
          <p:nvPr/>
        </p:nvSpPr>
        <p:spPr>
          <a:xfrm>
            <a:off x="4663440" y="3931920"/>
            <a:ext cx="566928" cy="566928"/>
          </a:xfrm>
          <a:prstGeom prst="ellipse">
            <a:avLst/>
          </a:prstGeom>
          <a:solidFill>
            <a:schemeClr val="accent5"/>
          </a:solidFill>
          <a:ln/>
        </p:spPr>
      </p:sp>
      <p:pic>
        <p:nvPicPr>
          <p:cNvPr id="24" name="Image 2" descr="Symbol">    </p:cNvPr>
          <p:cNvPicPr>
            <a:picLocks noChangeAspect="1"/>
          </p:cNvPicPr>
          <p:nvPr/>
        </p:nvPicPr>
        <p:blipFill>
          <a:blip r:embed="rId3"/>
          <a:stretch>
            <a:fillRect/>
          </a:stretch>
        </p:blipFill>
        <p:spPr>
          <a:xfrm>
            <a:off x="4788164" y="4056644"/>
            <a:ext cx="317480" cy="317480"/>
          </a:xfrm>
          <a:prstGeom prst="rect">
            <a:avLst/>
          </a:prstGeom>
        </p:spPr>
      </p:pic>
      <p:sp>
        <p:nvSpPr>
          <p:cNvPr id="25" name="Text 20"/>
          <p:cNvSpPr txBox="1"/>
          <p:nvPr/>
        </p:nvSpPr>
        <p:spPr>
          <a:xfrm>
            <a:off x="5440680" y="3931920"/>
            <a:ext cx="6172200" cy="329184"/>
          </a:xfrm>
          <a:prstGeom prst="rect">
            <a:avLst/>
          </a:prstGeom>
          <a:noFill/>
          <a:ln/>
        </p:spPr>
        <p:txBody>
          <a:bodyPr wrap="square" lIns="0" tIns="0" rIns="0" bIns="0" rtlCol="0" anchor="t"/>
          <a:lstStyle/>
          <a:p>
            <a:pPr indent="0" marL="0">
              <a:buNone/>
            </a:pPr>
            <a:r>
              <a:rPr lang="en-US" sz="1700" b="1" dirty="0">
                <a:solidFill>
                  <a:schemeClr val="tx1"/>
                </a:solidFill>
              </a:rPr>
              <a:t>Auf den Bedarf vorbereiten</a:t>
            </a:r>
            <a:endParaRPr lang="en-US" sz="1700" dirty="0"/>
          </a:p>
        </p:txBody>
      </p:sp>
      <p:sp>
        <p:nvSpPr>
          <p:cNvPr id="26" name="Text 21"/>
          <p:cNvSpPr txBox="1"/>
          <p:nvPr/>
        </p:nvSpPr>
        <p:spPr>
          <a:xfrm>
            <a:off x="5440680" y="427939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Beispiel: beim Smartphone für Herrn Albers schon die große Schrift einstellen.</a:t>
            </a:r>
            <a:endParaRPr lang="en-US" sz="1400" dirty="0"/>
          </a:p>
        </p:txBody>
      </p:sp>
      <p:sp>
        <p:nvSpPr>
          <p:cNvPr id="27" name="Symbolkreis"/>
          <p:cNvSpPr/>
          <p:nvPr/>
        </p:nvSpPr>
        <p:spPr>
          <a:xfrm>
            <a:off x="4663440" y="5029200"/>
            <a:ext cx="566928" cy="566928"/>
          </a:xfrm>
          <a:prstGeom prst="ellipse">
            <a:avLst/>
          </a:prstGeom>
          <a:solidFill>
            <a:schemeClr val="accent5"/>
          </a:solidFill>
          <a:ln/>
        </p:spPr>
      </p:sp>
      <p:pic>
        <p:nvPicPr>
          <p:cNvPr id="28" name="Image 3" descr="Symbol">    </p:cNvPr>
          <p:cNvPicPr>
            <a:picLocks noChangeAspect="1"/>
          </p:cNvPicPr>
          <p:nvPr/>
        </p:nvPicPr>
        <p:blipFill>
          <a:blip r:embed="rId4"/>
          <a:stretch>
            <a:fillRect/>
          </a:stretch>
        </p:blipFill>
        <p:spPr>
          <a:xfrm>
            <a:off x="4788164" y="5153924"/>
            <a:ext cx="317480" cy="317480"/>
          </a:xfrm>
          <a:prstGeom prst="rect">
            <a:avLst/>
          </a:prstGeom>
        </p:spPr>
      </p:pic>
      <p:sp>
        <p:nvSpPr>
          <p:cNvPr id="29" name="Text 23"/>
          <p:cNvSpPr txBox="1"/>
          <p:nvPr/>
        </p:nvSpPr>
        <p:spPr>
          <a:xfrm>
            <a:off x="5440680" y="5029200"/>
            <a:ext cx="6172200" cy="329184"/>
          </a:xfrm>
          <a:prstGeom prst="rect">
            <a:avLst/>
          </a:prstGeom>
          <a:noFill/>
          <a:ln/>
        </p:spPr>
        <p:txBody>
          <a:bodyPr wrap="square" lIns="0" tIns="0" rIns="0" bIns="0" rtlCol="0" anchor="t"/>
          <a:lstStyle/>
          <a:p>
            <a:pPr indent="0" marL="0">
              <a:buNone/>
            </a:pPr>
            <a:r>
              <a:rPr lang="en-US" sz="1700" b="1" dirty="0">
                <a:solidFill>
                  <a:schemeClr val="tx1"/>
                </a:solidFill>
              </a:rPr>
              <a:t>Nicht am Bedarf vorbei</a:t>
            </a:r>
            <a:endParaRPr lang="en-US" sz="1700" dirty="0"/>
          </a:p>
        </p:txBody>
      </p:sp>
      <p:sp>
        <p:nvSpPr>
          <p:cNvPr id="30" name="Text 24"/>
          <p:cNvSpPr txBox="1"/>
          <p:nvPr/>
        </p:nvSpPr>
        <p:spPr>
          <a:xfrm>
            <a:off x="5440680" y="537667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Kein Wettkampfschuh für die Einsteigerin, keine Daunenjacke gegen Dauerregen.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4 · VERKAUFSARGUMENTATION</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Vom Merkmal zum Kundennutzen</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chemeClr val="accent1"/>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3291840" cy="2103120"/>
          </a:xfrm>
          <a:prstGeom prst="roundRect">
            <a:avLst>
              <a:gd name="adj" fmla="val 5217"/>
            </a:avLst>
          </a:prstGeom>
          <a:solidFill>
            <a:schemeClr val="bg1"/>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822960" y="1920240"/>
            <a:ext cx="2743200" cy="411480"/>
          </a:xfrm>
          <a:prstGeom prst="rect">
            <a:avLst/>
          </a:prstGeom>
          <a:noFill/>
          <a:ln/>
        </p:spPr>
        <p:txBody>
          <a:bodyPr wrap="square" lIns="0" tIns="0" rIns="0" bIns="0" rtlCol="0" anchor="t"/>
          <a:lstStyle/>
          <a:p>
            <a:pPr indent="0" marL="0">
              <a:buNone/>
            </a:pPr>
            <a:r>
              <a:rPr lang="en-US" sz="2200" b="1" dirty="0">
                <a:solidFill>
                  <a:schemeClr val="tx1"/>
                </a:solidFill>
                <a:latin typeface="Century Schoolbook" pitchFamily="34" charset="0"/>
                <a:ea typeface="Century Schoolbook" pitchFamily="34" charset="-122"/>
                <a:cs typeface="Century Schoolbook" pitchFamily="34" charset="-120"/>
              </a:rPr>
              <a:t>Eigenschaft</a:t>
            </a:r>
            <a:endParaRPr lang="en-US" sz="2200" dirty="0"/>
          </a:p>
        </p:txBody>
      </p:sp>
      <p:sp>
        <p:nvSpPr>
          <p:cNvPr id="14" name="Text 12"/>
          <p:cNvSpPr txBox="1"/>
          <p:nvPr/>
        </p:nvSpPr>
        <p:spPr>
          <a:xfrm>
            <a:off x="822960" y="2359152"/>
            <a:ext cx="2743200" cy="320040"/>
          </a:xfrm>
          <a:prstGeom prst="rect">
            <a:avLst/>
          </a:prstGeom>
          <a:noFill/>
          <a:ln/>
        </p:spPr>
        <p:txBody>
          <a:bodyPr wrap="square" lIns="0" tIns="0" rIns="0" bIns="0" rtlCol="0" anchor="t"/>
          <a:lstStyle/>
          <a:p>
            <a:pPr indent="0" marL="0">
              <a:buNone/>
            </a:pPr>
            <a:r>
              <a:rPr lang="en-US" sz="1400" dirty="0">
                <a:solidFill>
                  <a:schemeClr val="accent6"/>
                </a:solidFill>
              </a:rPr>
              <a:t>Was hat der Artikel?</a:t>
            </a:r>
            <a:endParaRPr lang="en-US" sz="1400" dirty="0"/>
          </a:p>
        </p:txBody>
      </p:sp>
      <p:sp>
        <p:nvSpPr>
          <p:cNvPr id="15" name="Text 13"/>
          <p:cNvSpPr txBox="1"/>
          <p:nvPr/>
        </p:nvSpPr>
        <p:spPr>
          <a:xfrm>
            <a:off x="822960" y="2834640"/>
            <a:ext cx="2743200" cy="822960"/>
          </a:xfrm>
          <a:prstGeom prst="rect">
            <a:avLst/>
          </a:prstGeom>
          <a:noFill/>
          <a:ln/>
        </p:spPr>
        <p:txBody>
          <a:bodyPr wrap="square" lIns="0" tIns="0" rIns="0" bIns="0" rtlCol="0" anchor="t"/>
          <a:lstStyle/>
          <a:p>
            <a:pPr indent="0" marL="0">
              <a:buNone/>
            </a:pPr>
            <a:r>
              <a:rPr lang="en-US" sz="1700" i="1" dirty="0">
                <a:solidFill>
                  <a:schemeClr val="tx1"/>
                </a:solidFill>
              </a:rPr>
              <a:t>dicke, weiche Zwischensohle</a:t>
            </a:r>
            <a:endParaRPr lang="en-US" sz="1700" dirty="0"/>
          </a:p>
        </p:txBody>
      </p:sp>
      <p:sp>
        <p:nvSpPr>
          <p:cNvPr id="16" name="Pfeil"/>
          <p:cNvSpPr/>
          <p:nvPr/>
        </p:nvSpPr>
        <p:spPr>
          <a:xfrm>
            <a:off x="3950208" y="2606040"/>
            <a:ext cx="329184" cy="365760"/>
          </a:xfrm>
          <a:prstGeom prst="rightArrow">
            <a:avLst/>
          </a:prstGeom>
          <a:solidFill>
            <a:schemeClr val="accent1"/>
          </a:solidFill>
          <a:ln/>
        </p:spPr>
      </p:sp>
      <p:sp>
        <p:nvSpPr>
          <p:cNvPr id="17" name="Karte"/>
          <p:cNvSpPr/>
          <p:nvPr/>
        </p:nvSpPr>
        <p:spPr>
          <a:xfrm>
            <a:off x="4389120" y="1737360"/>
            <a:ext cx="3291840" cy="2103120"/>
          </a:xfrm>
          <a:prstGeom prst="roundRect">
            <a:avLst>
              <a:gd name="adj" fmla="val 5217"/>
            </a:avLst>
          </a:prstGeom>
          <a:solidFill>
            <a:schemeClr val="bg1"/>
          </a:solidFill>
          <a:ln/>
          <a:effectLst>
            <a:outerShdw sx="100000" sy="100000" kx="0" ky="0" algn="bl" rotWithShape="0" blurRad="101600" dist="25400" dir="5400000">
              <a:srgbClr val="18202B">
                <a:alpha val="12000"/>
              </a:srgbClr>
            </a:outerShdw>
          </a:effectLst>
        </p:spPr>
      </p:sp>
      <p:sp>
        <p:nvSpPr>
          <p:cNvPr id="18" name="Text 16"/>
          <p:cNvSpPr txBox="1"/>
          <p:nvPr/>
        </p:nvSpPr>
        <p:spPr>
          <a:xfrm>
            <a:off x="4663440" y="1920240"/>
            <a:ext cx="2743200" cy="411480"/>
          </a:xfrm>
          <a:prstGeom prst="rect">
            <a:avLst/>
          </a:prstGeom>
          <a:noFill/>
          <a:ln/>
        </p:spPr>
        <p:txBody>
          <a:bodyPr wrap="square" lIns="0" tIns="0" rIns="0" bIns="0" rtlCol="0" anchor="t"/>
          <a:lstStyle/>
          <a:p>
            <a:pPr indent="0" marL="0">
              <a:buNone/>
            </a:pPr>
            <a:r>
              <a:rPr lang="en-US" sz="2200" b="1" dirty="0">
                <a:solidFill>
                  <a:schemeClr val="tx1"/>
                </a:solidFill>
                <a:latin typeface="Century Schoolbook" pitchFamily="34" charset="0"/>
                <a:ea typeface="Century Schoolbook" pitchFamily="34" charset="-122"/>
                <a:cs typeface="Century Schoolbook" pitchFamily="34" charset="-120"/>
              </a:rPr>
              <a:t>Vorteil</a:t>
            </a:r>
            <a:endParaRPr lang="en-US" sz="2200" dirty="0"/>
          </a:p>
        </p:txBody>
      </p:sp>
      <p:sp>
        <p:nvSpPr>
          <p:cNvPr id="19" name="Text 17"/>
          <p:cNvSpPr txBox="1"/>
          <p:nvPr/>
        </p:nvSpPr>
        <p:spPr>
          <a:xfrm>
            <a:off x="4663440" y="2359152"/>
            <a:ext cx="2743200" cy="320040"/>
          </a:xfrm>
          <a:prstGeom prst="rect">
            <a:avLst/>
          </a:prstGeom>
          <a:noFill/>
          <a:ln/>
        </p:spPr>
        <p:txBody>
          <a:bodyPr wrap="square" lIns="0" tIns="0" rIns="0" bIns="0" rtlCol="0" anchor="t"/>
          <a:lstStyle/>
          <a:p>
            <a:pPr indent="0" marL="0">
              <a:buNone/>
            </a:pPr>
            <a:r>
              <a:rPr lang="en-US" sz="1400" dirty="0">
                <a:solidFill>
                  <a:schemeClr val="accent6"/>
                </a:solidFill>
              </a:rPr>
              <a:t>Was bewirkt das?</a:t>
            </a:r>
            <a:endParaRPr lang="en-US" sz="1400" dirty="0"/>
          </a:p>
        </p:txBody>
      </p:sp>
      <p:sp>
        <p:nvSpPr>
          <p:cNvPr id="20" name="Text 18"/>
          <p:cNvSpPr txBox="1"/>
          <p:nvPr/>
        </p:nvSpPr>
        <p:spPr>
          <a:xfrm>
            <a:off x="4663440" y="2834640"/>
            <a:ext cx="2743200" cy="822960"/>
          </a:xfrm>
          <a:prstGeom prst="rect">
            <a:avLst/>
          </a:prstGeom>
          <a:noFill/>
          <a:ln/>
        </p:spPr>
        <p:txBody>
          <a:bodyPr wrap="square" lIns="0" tIns="0" rIns="0" bIns="0" rtlCol="0" anchor="t"/>
          <a:lstStyle/>
          <a:p>
            <a:pPr indent="0" marL="0">
              <a:buNone/>
            </a:pPr>
            <a:r>
              <a:rPr lang="en-US" sz="1700" i="1" dirty="0">
                <a:solidFill>
                  <a:schemeClr val="tx1"/>
                </a:solidFill>
              </a:rPr>
              <a:t>fängt den Aufprall auf Asphalt ab</a:t>
            </a:r>
            <a:endParaRPr lang="en-US" sz="1700" dirty="0"/>
          </a:p>
        </p:txBody>
      </p:sp>
      <p:sp>
        <p:nvSpPr>
          <p:cNvPr id="21" name="Pfeil"/>
          <p:cNvSpPr/>
          <p:nvPr/>
        </p:nvSpPr>
        <p:spPr>
          <a:xfrm>
            <a:off x="7790688" y="2606040"/>
            <a:ext cx="329184" cy="365760"/>
          </a:xfrm>
          <a:prstGeom prst="rightArrow">
            <a:avLst/>
          </a:prstGeom>
          <a:solidFill>
            <a:schemeClr val="accent1"/>
          </a:solidFill>
          <a:ln/>
        </p:spPr>
      </p:sp>
      <p:sp>
        <p:nvSpPr>
          <p:cNvPr id="22" name="Karte"/>
          <p:cNvSpPr/>
          <p:nvPr/>
        </p:nvSpPr>
        <p:spPr>
          <a:xfrm>
            <a:off x="8229600" y="1737360"/>
            <a:ext cx="3291840" cy="2103120"/>
          </a:xfrm>
          <a:prstGeom prst="roundRect">
            <a:avLst>
              <a:gd name="adj" fmla="val 5217"/>
            </a:avLst>
          </a:prstGeom>
          <a:solidFill>
            <a:schemeClr val="accent1"/>
          </a:solidFill>
          <a:ln/>
          <a:effectLst>
            <a:outerShdw sx="100000" sy="100000" kx="0" ky="0" algn="bl" rotWithShape="0" blurRad="101600" dist="25400" dir="5400000">
              <a:srgbClr val="18202B">
                <a:alpha val="12000"/>
              </a:srgbClr>
            </a:outerShdw>
          </a:effectLst>
        </p:spPr>
      </p:sp>
      <p:sp>
        <p:nvSpPr>
          <p:cNvPr id="23" name="Text 21"/>
          <p:cNvSpPr txBox="1"/>
          <p:nvPr/>
        </p:nvSpPr>
        <p:spPr>
          <a:xfrm>
            <a:off x="8503920" y="1920240"/>
            <a:ext cx="2743200" cy="411480"/>
          </a:xfrm>
          <a:prstGeom prst="rect">
            <a:avLst/>
          </a:prstGeom>
          <a:noFill/>
          <a:ln/>
        </p:spPr>
        <p:txBody>
          <a:bodyPr wrap="square" lIns="0" tIns="0" rIns="0" bIns="0" rtlCol="0" anchor="t"/>
          <a:lstStyle/>
          <a:p>
            <a:pPr indent="0" marL="0">
              <a:buNone/>
            </a:pPr>
            <a:r>
              <a:rPr lang="en-US" sz="2200" b="1" dirty="0">
                <a:solidFill>
                  <a:schemeClr val="bg1"/>
                </a:solidFill>
                <a:latin typeface="Century Schoolbook" pitchFamily="34" charset="0"/>
                <a:ea typeface="Century Schoolbook" pitchFamily="34" charset="-122"/>
                <a:cs typeface="Century Schoolbook" pitchFamily="34" charset="-120"/>
              </a:rPr>
              <a:t>Nutzen</a:t>
            </a:r>
            <a:endParaRPr lang="en-US" sz="2200" dirty="0"/>
          </a:p>
        </p:txBody>
      </p:sp>
      <p:sp>
        <p:nvSpPr>
          <p:cNvPr id="24" name="Text 22"/>
          <p:cNvSpPr txBox="1"/>
          <p:nvPr/>
        </p:nvSpPr>
        <p:spPr>
          <a:xfrm>
            <a:off x="8503920" y="2359152"/>
            <a:ext cx="2743200" cy="320040"/>
          </a:xfrm>
          <a:prstGeom prst="rect">
            <a:avLst/>
          </a:prstGeom>
          <a:noFill/>
          <a:ln/>
        </p:spPr>
        <p:txBody>
          <a:bodyPr wrap="square" lIns="0" tIns="0" rIns="0" bIns="0" rtlCol="0" anchor="t"/>
          <a:lstStyle/>
          <a:p>
            <a:pPr indent="0" marL="0">
              <a:buNone/>
            </a:pPr>
            <a:r>
              <a:rPr lang="en-US" sz="1400" dirty="0">
                <a:solidFill>
                  <a:schemeClr val="accent5"/>
                </a:solidFill>
              </a:rPr>
              <a:t>Was bringt es IHNEN?</a:t>
            </a:r>
            <a:endParaRPr lang="en-US" sz="1400" dirty="0"/>
          </a:p>
        </p:txBody>
      </p:sp>
      <p:sp>
        <p:nvSpPr>
          <p:cNvPr id="25" name="Text 23"/>
          <p:cNvSpPr txBox="1"/>
          <p:nvPr/>
        </p:nvSpPr>
        <p:spPr>
          <a:xfrm>
            <a:off x="8503920" y="2834640"/>
            <a:ext cx="2743200" cy="822960"/>
          </a:xfrm>
          <a:prstGeom prst="rect">
            <a:avLst/>
          </a:prstGeom>
          <a:noFill/>
          <a:ln/>
        </p:spPr>
        <p:txBody>
          <a:bodyPr wrap="square" lIns="0" tIns="0" rIns="0" bIns="0" rtlCol="0" anchor="t"/>
          <a:lstStyle/>
          <a:p>
            <a:pPr indent="0" marL="0">
              <a:buNone/>
            </a:pPr>
            <a:r>
              <a:rPr lang="en-US" sz="1700" i="1" dirty="0">
                <a:solidFill>
                  <a:schemeClr val="bg1"/>
                </a:solidFill>
              </a:rPr>
              <a:t>entlastet Ihr Knie bei jedem Schritt</a:t>
            </a:r>
            <a:endParaRPr lang="en-US" sz="1700" dirty="0"/>
          </a:p>
        </p:txBody>
      </p:sp>
      <p:sp>
        <p:nvSpPr>
          <p:cNvPr id="26" name="Karte"/>
          <p:cNvSpPr/>
          <p:nvPr/>
        </p:nvSpPr>
        <p:spPr>
          <a:xfrm>
            <a:off x="548640" y="4114800"/>
            <a:ext cx="5440680" cy="2011680"/>
          </a:xfrm>
          <a:prstGeom prst="roundRect">
            <a:avLst>
              <a:gd name="adj" fmla="val 5455"/>
            </a:avLst>
          </a:prstGeom>
          <a:solidFill>
            <a:schemeClr val="bg1"/>
          </a:solidFill>
          <a:ln/>
          <a:effectLst>
            <a:outerShdw sx="100000" sy="100000" kx="0" ky="0" algn="bl" rotWithShape="0" blurRad="101600" dist="25400" dir="5400000">
              <a:srgbClr val="18202B">
                <a:alpha val="12000"/>
              </a:srgbClr>
            </a:outerShdw>
          </a:effectLst>
        </p:spPr>
      </p:sp>
      <p:sp>
        <p:nvSpPr>
          <p:cNvPr id="27" name="Etikett"/>
          <p:cNvSpPr/>
          <p:nvPr/>
        </p:nvSpPr>
        <p:spPr>
          <a:xfrm>
            <a:off x="822960" y="4370832"/>
            <a:ext cx="1371600" cy="292608"/>
          </a:xfrm>
          <a:prstGeom prst="roundRect">
            <a:avLst>
              <a:gd name="adj" fmla="val 50000"/>
            </a:avLst>
          </a:prstGeom>
          <a:solidFill>
            <a:schemeClr val="accent3"/>
          </a:solidFill>
          <a:ln/>
        </p:spPr>
      </p:sp>
      <p:sp>
        <p:nvSpPr>
          <p:cNvPr id="28" name="Text 26"/>
          <p:cNvSpPr txBox="1"/>
          <p:nvPr/>
        </p:nvSpPr>
        <p:spPr>
          <a:xfrm>
            <a:off x="822960" y="4370832"/>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Wir-Stil</a:t>
            </a:r>
            <a:endParaRPr lang="en-US" sz="1100" dirty="0"/>
          </a:p>
        </p:txBody>
      </p:sp>
      <p:sp>
        <p:nvSpPr>
          <p:cNvPr id="29" name="Text 27"/>
          <p:cNvSpPr txBox="1"/>
          <p:nvPr/>
        </p:nvSpPr>
        <p:spPr>
          <a:xfrm>
            <a:off x="822960" y="4800600"/>
            <a:ext cx="4892040" cy="822960"/>
          </a:xfrm>
          <a:prstGeom prst="rect">
            <a:avLst/>
          </a:prstGeom>
          <a:noFill/>
          <a:ln/>
        </p:spPr>
        <p:txBody>
          <a:bodyPr wrap="square" lIns="0" tIns="0" rIns="0" bIns="0" rtlCol="0" anchor="t"/>
          <a:lstStyle/>
          <a:p>
            <a:pPr indent="0" marL="0">
              <a:buNone/>
            </a:pPr>
            <a:r>
              <a:rPr lang="en-US" sz="1700" b="1" i="1" dirty="0">
                <a:solidFill>
                  <a:schemeClr val="tx1"/>
                </a:solidFill>
              </a:rPr>
              <a:t>„Wir finden den super, den verkaufen wir am meisten.“</a:t>
            </a:r>
            <a:endParaRPr lang="en-US" sz="1700" dirty="0"/>
          </a:p>
        </p:txBody>
      </p:sp>
      <p:sp>
        <p:nvSpPr>
          <p:cNvPr id="30" name="Text 28"/>
          <p:cNvSpPr txBox="1"/>
          <p:nvPr/>
        </p:nvSpPr>
        <p:spPr>
          <a:xfrm>
            <a:off x="822960" y="5623560"/>
            <a:ext cx="4892040" cy="320040"/>
          </a:xfrm>
          <a:prstGeom prst="rect">
            <a:avLst/>
          </a:prstGeom>
          <a:noFill/>
          <a:ln/>
        </p:spPr>
        <p:txBody>
          <a:bodyPr wrap="square" lIns="0" tIns="0" rIns="0" bIns="0" rtlCol="0" anchor="t"/>
          <a:lstStyle/>
          <a:p>
            <a:pPr indent="0" marL="0">
              <a:buNone/>
            </a:pPr>
            <a:r>
              <a:rPr lang="en-US" sz="1400" dirty="0">
                <a:solidFill>
                  <a:schemeClr val="accent6"/>
                </a:solidFill>
              </a:rPr>
              <a:t>Es geht um das Geschäft, nicht um die Kundschaft.</a:t>
            </a:r>
            <a:endParaRPr lang="en-US" sz="1400" dirty="0"/>
          </a:p>
        </p:txBody>
      </p:sp>
      <p:sp>
        <p:nvSpPr>
          <p:cNvPr id="31" name="Karte"/>
          <p:cNvSpPr/>
          <p:nvPr/>
        </p:nvSpPr>
        <p:spPr>
          <a:xfrm>
            <a:off x="6199632" y="4114800"/>
            <a:ext cx="5440680" cy="2011680"/>
          </a:xfrm>
          <a:prstGeom prst="roundRect">
            <a:avLst>
              <a:gd name="adj" fmla="val 5455"/>
            </a:avLst>
          </a:prstGeom>
          <a:solidFill>
            <a:schemeClr val="bg1"/>
          </a:solidFill>
          <a:ln/>
          <a:effectLst>
            <a:outerShdw sx="100000" sy="100000" kx="0" ky="0" algn="bl" rotWithShape="0" blurRad="101600" dist="25400" dir="5400000">
              <a:srgbClr val="18202B">
                <a:alpha val="12000"/>
              </a:srgbClr>
            </a:outerShdw>
          </a:effectLst>
        </p:spPr>
      </p:sp>
      <p:sp>
        <p:nvSpPr>
          <p:cNvPr id="32" name="Etikett"/>
          <p:cNvSpPr/>
          <p:nvPr/>
        </p:nvSpPr>
        <p:spPr>
          <a:xfrm>
            <a:off x="6473952" y="4370832"/>
            <a:ext cx="1371600" cy="292608"/>
          </a:xfrm>
          <a:prstGeom prst="roundRect">
            <a:avLst>
              <a:gd name="adj" fmla="val 50000"/>
            </a:avLst>
          </a:prstGeom>
          <a:solidFill>
            <a:schemeClr val="accent2"/>
          </a:solidFill>
          <a:ln/>
        </p:spPr>
      </p:sp>
      <p:sp>
        <p:nvSpPr>
          <p:cNvPr id="33" name="Text 31"/>
          <p:cNvSpPr txBox="1"/>
          <p:nvPr/>
        </p:nvSpPr>
        <p:spPr>
          <a:xfrm>
            <a:off x="6473952" y="4370832"/>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Sie-Stil</a:t>
            </a:r>
            <a:endParaRPr lang="en-US" sz="1100" dirty="0"/>
          </a:p>
        </p:txBody>
      </p:sp>
      <p:sp>
        <p:nvSpPr>
          <p:cNvPr id="34" name="Text 32"/>
          <p:cNvSpPr txBox="1"/>
          <p:nvPr/>
        </p:nvSpPr>
        <p:spPr>
          <a:xfrm>
            <a:off x="6473952" y="4800600"/>
            <a:ext cx="4892040" cy="822960"/>
          </a:xfrm>
          <a:prstGeom prst="rect">
            <a:avLst/>
          </a:prstGeom>
          <a:noFill/>
          <a:ln/>
        </p:spPr>
        <p:txBody>
          <a:bodyPr wrap="square" lIns="0" tIns="0" rIns="0" bIns="0" rtlCol="0" anchor="t"/>
          <a:lstStyle/>
          <a:p>
            <a:pPr indent="0" marL="0">
              <a:buNone/>
            </a:pPr>
            <a:r>
              <a:rPr lang="en-US" sz="1700" b="1" i="1" dirty="0">
                <a:solidFill>
                  <a:schemeClr val="tx1"/>
                </a:solidFill>
              </a:rPr>
              <a:t>„Damit können Sie beschwerdefrei laufen.“</a:t>
            </a:r>
            <a:endParaRPr lang="en-US" sz="1700" dirty="0"/>
          </a:p>
        </p:txBody>
      </p:sp>
      <p:sp>
        <p:nvSpPr>
          <p:cNvPr id="35" name="Text 33"/>
          <p:cNvSpPr txBox="1"/>
          <p:nvPr/>
        </p:nvSpPr>
        <p:spPr>
          <a:xfrm>
            <a:off x="6473952" y="5623560"/>
            <a:ext cx="4892040" cy="320040"/>
          </a:xfrm>
          <a:prstGeom prst="rect">
            <a:avLst/>
          </a:prstGeom>
          <a:noFill/>
          <a:ln/>
        </p:spPr>
        <p:txBody>
          <a:bodyPr wrap="square" lIns="0" tIns="0" rIns="0" bIns="0" rtlCol="0" anchor="t"/>
          <a:lstStyle/>
          <a:p>
            <a:pPr indent="0" marL="0">
              <a:buNone/>
            </a:pPr>
            <a:r>
              <a:rPr lang="en-US" sz="1400" dirty="0">
                <a:solidFill>
                  <a:schemeClr val="accent6"/>
                </a:solidFill>
              </a:rPr>
              <a:t>Die Kundschaft steht im Mittelpunkt.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5 · PREISNENNUNG</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Die Sandwich-Methode</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chemeClr val="accent1"/>
          </a:solidFill>
          <a:ln/>
        </p:spPr>
      </p:sp>
      <p:sp>
        <p:nvSpPr>
          <p:cNvPr id="8" name="Phasenpunkt"/>
          <p:cNvSpPr/>
          <p:nvPr/>
        </p:nvSpPr>
        <p:spPr>
          <a:xfrm>
            <a:off x="10634472" y="429768"/>
            <a:ext cx="155448" cy="155448"/>
          </a:xfrm>
          <a:prstGeom prst="ellipse">
            <a:avLst/>
          </a:prstGeom>
          <a:solidFill>
            <a:schemeClr val="accent1"/>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83080"/>
            <a:ext cx="6583680" cy="1188720"/>
          </a:xfrm>
          <a:prstGeom prst="roundRect">
            <a:avLst>
              <a:gd name="adj" fmla="val 9231"/>
            </a:avLst>
          </a:prstGeom>
          <a:solidFill>
            <a:schemeClr val="accent5"/>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868680" y="1947672"/>
            <a:ext cx="1463040" cy="822960"/>
          </a:xfrm>
          <a:prstGeom prst="rect">
            <a:avLst/>
          </a:prstGeom>
          <a:noFill/>
          <a:ln/>
        </p:spPr>
        <p:txBody>
          <a:bodyPr wrap="square" lIns="0" tIns="0" rIns="0" bIns="0" rtlCol="0" anchor="ctr"/>
          <a:lstStyle/>
          <a:p>
            <a:pPr indent="0" marL="0">
              <a:buNone/>
            </a:pPr>
            <a:r>
              <a:rPr lang="en-US" sz="2200" b="1" dirty="0">
                <a:solidFill>
                  <a:schemeClr val="tx1"/>
                </a:solidFill>
                <a:latin typeface="Century Schoolbook" pitchFamily="34" charset="0"/>
                <a:ea typeface="Century Schoolbook" pitchFamily="34" charset="-122"/>
                <a:cs typeface="Century Schoolbook" pitchFamily="34" charset="-120"/>
              </a:rPr>
              <a:t>Nutzen</a:t>
            </a:r>
            <a:endParaRPr lang="en-US" sz="2200" dirty="0"/>
          </a:p>
        </p:txBody>
      </p:sp>
      <p:sp>
        <p:nvSpPr>
          <p:cNvPr id="14" name="Text 12"/>
          <p:cNvSpPr txBox="1"/>
          <p:nvPr/>
        </p:nvSpPr>
        <p:spPr>
          <a:xfrm>
            <a:off x="2377440" y="1947672"/>
            <a:ext cx="4526280" cy="822960"/>
          </a:xfrm>
          <a:prstGeom prst="rect">
            <a:avLst/>
          </a:prstGeom>
          <a:noFill/>
          <a:ln/>
        </p:spPr>
        <p:txBody>
          <a:bodyPr wrap="square" lIns="0" tIns="0" rIns="0" bIns="0" rtlCol="0" anchor="ctr"/>
          <a:lstStyle/>
          <a:p>
            <a:pPr indent="0" marL="0">
              <a:buNone/>
            </a:pPr>
            <a:r>
              <a:rPr lang="en-US" sz="1700" i="1" dirty="0">
                <a:solidFill>
                  <a:schemeClr val="tx1"/>
                </a:solidFill>
              </a:rPr>
              <a:t>„Mit der starken Dämpfung schonen Sie Ihr Knie.“</a:t>
            </a:r>
            <a:endParaRPr lang="en-US" sz="1700" dirty="0"/>
          </a:p>
        </p:txBody>
      </p:sp>
      <p:sp>
        <p:nvSpPr>
          <p:cNvPr id="15" name="Karte"/>
          <p:cNvSpPr/>
          <p:nvPr/>
        </p:nvSpPr>
        <p:spPr>
          <a:xfrm>
            <a:off x="548640" y="3154680"/>
            <a:ext cx="6583680" cy="1188720"/>
          </a:xfrm>
          <a:prstGeom prst="roundRect">
            <a:avLst>
              <a:gd name="adj" fmla="val 9231"/>
            </a:avLst>
          </a:prstGeom>
          <a:solidFill>
            <a:schemeClr val="accent1"/>
          </a:solidFill>
          <a:ln/>
          <a:effectLst>
            <a:outerShdw sx="100000" sy="100000" kx="0" ky="0" algn="bl" rotWithShape="0" blurRad="101600" dist="25400" dir="5400000">
              <a:srgbClr val="18202B">
                <a:alpha val="12000"/>
              </a:srgbClr>
            </a:outerShdw>
          </a:effectLst>
        </p:spPr>
      </p:sp>
      <p:sp>
        <p:nvSpPr>
          <p:cNvPr id="16" name="Text 14"/>
          <p:cNvSpPr txBox="1"/>
          <p:nvPr/>
        </p:nvSpPr>
        <p:spPr>
          <a:xfrm>
            <a:off x="868680" y="3319272"/>
            <a:ext cx="1463040" cy="822960"/>
          </a:xfrm>
          <a:prstGeom prst="rect">
            <a:avLst/>
          </a:prstGeom>
          <a:noFill/>
          <a:ln/>
        </p:spPr>
        <p:txBody>
          <a:bodyPr wrap="square" lIns="0" tIns="0" rIns="0" bIns="0" rtlCol="0" anchor="ctr"/>
          <a:lstStyle/>
          <a:p>
            <a:pPr indent="0" marL="0">
              <a:buNone/>
            </a:pPr>
            <a:r>
              <a:rPr lang="en-US" sz="2200" b="1" dirty="0">
                <a:solidFill>
                  <a:schemeClr val="bg1"/>
                </a:solidFill>
                <a:latin typeface="Century Schoolbook" pitchFamily="34" charset="0"/>
                <a:ea typeface="Century Schoolbook" pitchFamily="34" charset="-122"/>
                <a:cs typeface="Century Schoolbook" pitchFamily="34" charset="-120"/>
              </a:rPr>
              <a:t>Preis</a:t>
            </a:r>
            <a:endParaRPr lang="en-US" sz="2200" dirty="0"/>
          </a:p>
        </p:txBody>
      </p:sp>
      <p:sp>
        <p:nvSpPr>
          <p:cNvPr id="17" name="Text 15"/>
          <p:cNvSpPr txBox="1"/>
          <p:nvPr/>
        </p:nvSpPr>
        <p:spPr>
          <a:xfrm>
            <a:off x="2377440" y="3319272"/>
            <a:ext cx="4526280" cy="822960"/>
          </a:xfrm>
          <a:prstGeom prst="rect">
            <a:avLst/>
          </a:prstGeom>
          <a:noFill/>
          <a:ln/>
        </p:spPr>
        <p:txBody>
          <a:bodyPr wrap="square" lIns="0" tIns="0" rIns="0" bIns="0" rtlCol="0" anchor="ctr"/>
          <a:lstStyle/>
          <a:p>
            <a:pPr indent="0" marL="0">
              <a:buNone/>
            </a:pPr>
            <a:r>
              <a:rPr lang="en-US" sz="1700" i="1" dirty="0">
                <a:solidFill>
                  <a:schemeClr val="bg1"/>
                </a:solidFill>
              </a:rPr>
              <a:t>„Der AeroRun kostet 89,95 €,“</a:t>
            </a:r>
            <a:endParaRPr lang="en-US" sz="1700" dirty="0"/>
          </a:p>
        </p:txBody>
      </p:sp>
      <p:sp>
        <p:nvSpPr>
          <p:cNvPr id="18" name="Karte"/>
          <p:cNvSpPr/>
          <p:nvPr/>
        </p:nvSpPr>
        <p:spPr>
          <a:xfrm>
            <a:off x="548640" y="4526280"/>
            <a:ext cx="6583680" cy="1188720"/>
          </a:xfrm>
          <a:prstGeom prst="roundRect">
            <a:avLst>
              <a:gd name="adj" fmla="val 9231"/>
            </a:avLst>
          </a:prstGeom>
          <a:solidFill>
            <a:schemeClr val="accent5"/>
          </a:solidFill>
          <a:ln/>
          <a:effectLst>
            <a:outerShdw sx="100000" sy="100000" kx="0" ky="0" algn="bl" rotWithShape="0" blurRad="101600" dist="25400" dir="5400000">
              <a:srgbClr val="18202B">
                <a:alpha val="12000"/>
              </a:srgbClr>
            </a:outerShdw>
          </a:effectLst>
        </p:spPr>
      </p:sp>
      <p:sp>
        <p:nvSpPr>
          <p:cNvPr id="19" name="Text 17"/>
          <p:cNvSpPr txBox="1"/>
          <p:nvPr/>
        </p:nvSpPr>
        <p:spPr>
          <a:xfrm>
            <a:off x="868680" y="4690872"/>
            <a:ext cx="1463040" cy="822960"/>
          </a:xfrm>
          <a:prstGeom prst="rect">
            <a:avLst/>
          </a:prstGeom>
          <a:noFill/>
          <a:ln/>
        </p:spPr>
        <p:txBody>
          <a:bodyPr wrap="square" lIns="0" tIns="0" rIns="0" bIns="0" rtlCol="0" anchor="ctr"/>
          <a:lstStyle/>
          <a:p>
            <a:pPr indent="0" marL="0">
              <a:buNone/>
            </a:pPr>
            <a:r>
              <a:rPr lang="en-US" sz="2200" b="1" dirty="0">
                <a:solidFill>
                  <a:schemeClr val="tx1"/>
                </a:solidFill>
                <a:latin typeface="Century Schoolbook" pitchFamily="34" charset="0"/>
                <a:ea typeface="Century Schoolbook" pitchFamily="34" charset="-122"/>
                <a:cs typeface="Century Schoolbook" pitchFamily="34" charset="-120"/>
              </a:rPr>
              <a:t>Nutzen</a:t>
            </a:r>
            <a:endParaRPr lang="en-US" sz="2200" dirty="0"/>
          </a:p>
        </p:txBody>
      </p:sp>
      <p:sp>
        <p:nvSpPr>
          <p:cNvPr id="20" name="Text 18"/>
          <p:cNvSpPr txBox="1"/>
          <p:nvPr/>
        </p:nvSpPr>
        <p:spPr>
          <a:xfrm>
            <a:off x="2377440" y="4690872"/>
            <a:ext cx="4526280" cy="822960"/>
          </a:xfrm>
          <a:prstGeom prst="rect">
            <a:avLst/>
          </a:prstGeom>
          <a:noFill/>
          <a:ln/>
        </p:spPr>
        <p:txBody>
          <a:bodyPr wrap="square" lIns="0" tIns="0" rIns="0" bIns="0" rtlCol="0" anchor="ctr"/>
          <a:lstStyle/>
          <a:p>
            <a:pPr indent="0" marL="0">
              <a:buNone/>
            </a:pPr>
            <a:r>
              <a:rPr lang="en-US" sz="1700" i="1" dirty="0">
                <a:solidFill>
                  <a:schemeClr val="tx1"/>
                </a:solidFill>
              </a:rPr>
              <a:t>„… und die Sohle hält gut 800 Kilometer.“</a:t>
            </a:r>
            <a:endParaRPr lang="en-US" sz="1700" dirty="0"/>
          </a:p>
        </p:txBody>
      </p:sp>
      <p:sp>
        <p:nvSpPr>
          <p:cNvPr id="21" name="Karte"/>
          <p:cNvSpPr/>
          <p:nvPr/>
        </p:nvSpPr>
        <p:spPr>
          <a:xfrm>
            <a:off x="7498080" y="1783080"/>
            <a:ext cx="4142232" cy="3931920"/>
          </a:xfrm>
          <a:prstGeom prst="roundRect">
            <a:avLst>
              <a:gd name="adj" fmla="val 2791"/>
            </a:avLst>
          </a:prstGeom>
          <a:solidFill>
            <a:schemeClr val="bg1"/>
          </a:solidFill>
          <a:ln/>
          <a:effectLst>
            <a:outerShdw sx="100000" sy="100000" kx="0" ky="0" algn="bl" rotWithShape="0" blurRad="101600" dist="25400" dir="5400000">
              <a:srgbClr val="18202B">
                <a:alpha val="12000"/>
              </a:srgbClr>
            </a:outerShdw>
          </a:effectLst>
        </p:spPr>
      </p:sp>
      <p:sp>
        <p:nvSpPr>
          <p:cNvPr id="22" name="Symbolkreis"/>
          <p:cNvSpPr/>
          <p:nvPr/>
        </p:nvSpPr>
        <p:spPr>
          <a:xfrm>
            <a:off x="7772400" y="2011680"/>
            <a:ext cx="566928" cy="566928"/>
          </a:xfrm>
          <a:prstGeom prst="ellipse">
            <a:avLst/>
          </a:prstGeom>
          <a:solidFill>
            <a:srgbClr val="F8E1DE"/>
          </a:solidFill>
          <a:ln/>
        </p:spPr>
      </p:sp>
      <p:pic>
        <p:nvPicPr>
          <p:cNvPr id="23" name="Image 0" descr="Symbol">    </p:cNvPr>
          <p:cNvPicPr>
            <a:picLocks noChangeAspect="1"/>
          </p:cNvPicPr>
          <p:nvPr/>
        </p:nvPicPr>
        <p:blipFill>
          <a:blip r:embed="rId1"/>
          <a:stretch>
            <a:fillRect/>
          </a:stretch>
        </p:blipFill>
        <p:spPr>
          <a:xfrm>
            <a:off x="7897124" y="2136404"/>
            <a:ext cx="317480" cy="317480"/>
          </a:xfrm>
          <a:prstGeom prst="rect">
            <a:avLst/>
          </a:prstGeom>
        </p:spPr>
      </p:pic>
      <p:sp>
        <p:nvSpPr>
          <p:cNvPr id="24" name="Text 21"/>
          <p:cNvSpPr txBox="1"/>
          <p:nvPr/>
        </p:nvSpPr>
        <p:spPr>
          <a:xfrm>
            <a:off x="8503920" y="2103120"/>
            <a:ext cx="2926080" cy="411480"/>
          </a:xfrm>
          <a:prstGeom prst="rect">
            <a:avLst/>
          </a:prstGeom>
          <a:noFill/>
          <a:ln/>
        </p:spPr>
        <p:txBody>
          <a:bodyPr wrap="square" lIns="0" tIns="0" rIns="0" bIns="0" rtlCol="0" anchor="t"/>
          <a:lstStyle/>
          <a:p>
            <a:pPr indent="0" marL="0">
              <a:buNone/>
            </a:pPr>
            <a:r>
              <a:rPr lang="en-US" sz="1900" b="1" dirty="0">
                <a:solidFill>
                  <a:schemeClr val="accent3"/>
                </a:solidFill>
              </a:rPr>
              <a:t>Tabu beim Preis</a:t>
            </a:r>
            <a:endParaRPr lang="en-US" sz="1900" dirty="0"/>
          </a:p>
        </p:txBody>
      </p:sp>
      <p:sp>
        <p:nvSpPr>
          <p:cNvPr id="25" name="Text 22"/>
          <p:cNvSpPr txBox="1"/>
          <p:nvPr/>
        </p:nvSpPr>
        <p:spPr>
          <a:xfrm>
            <a:off x="7772400" y="278892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„leider“, „nur“, „nicht ganz billig“</a:t>
            </a:r>
            <a:endParaRPr lang="en-US" sz="1600" dirty="0"/>
          </a:p>
          <a:p>
            <a:pPr marL="342900" indent="-342900">
              <a:spcAft>
                <a:spcPts val="800"/>
              </a:spcAft>
              <a:buSzPct val="100000"/>
              <a:buChar char="•"/>
            </a:pPr>
            <a:r>
              <a:rPr lang="en-US" sz="1600" dirty="0">
                <a:solidFill>
                  <a:schemeClr val="tx1"/>
                </a:solidFill>
              </a:rPr>
              <a:t>sich für den Preis entschuldigen</a:t>
            </a:r>
            <a:endParaRPr lang="en-US" sz="1600" dirty="0"/>
          </a:p>
          <a:p>
            <a:pPr marL="342900" indent="-342900">
              <a:spcAft>
                <a:spcPts val="800"/>
              </a:spcAft>
              <a:buSzPct val="100000"/>
              <a:buChar char="•"/>
            </a:pPr>
            <a:r>
              <a:rPr lang="en-US" sz="1600" dirty="0">
                <a:solidFill>
                  <a:schemeClr val="tx1"/>
                </a:solidFill>
              </a:rPr>
              <a:t>leise oder nuschelnd sprechen</a:t>
            </a:r>
            <a:endParaRPr lang="en-US" sz="1600" dirty="0"/>
          </a:p>
          <a:p>
            <a:pPr marL="342900" indent="-342900">
              <a:spcAft>
                <a:spcPts val="800"/>
              </a:spcAft>
              <a:buSzPct val="100000"/>
              <a:buChar char="•"/>
            </a:pPr>
            <a:r>
              <a:rPr lang="en-US" sz="1600" dirty="0">
                <a:solidFill>
                  <a:schemeClr val="tx1"/>
                </a:solidFill>
              </a:rPr>
              <a:t>ungefragt über Rabatte reden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6 · EINWANDBEHANDLUNG</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Einwände sind Kaufsignale</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chemeClr val="accent1"/>
          </a:solidFill>
          <a:ln/>
        </p:spPr>
      </p:sp>
      <p:sp>
        <p:nvSpPr>
          <p:cNvPr id="8" name="Phasenpunkt"/>
          <p:cNvSpPr/>
          <p:nvPr/>
        </p:nvSpPr>
        <p:spPr>
          <a:xfrm>
            <a:off x="10634472" y="429768"/>
            <a:ext cx="155448" cy="155448"/>
          </a:xfrm>
          <a:prstGeom prst="ellipse">
            <a:avLst/>
          </a:prstGeom>
          <a:solidFill>
            <a:schemeClr val="accent1"/>
          </a:solidFill>
          <a:ln/>
        </p:spPr>
      </p:sp>
      <p:sp>
        <p:nvSpPr>
          <p:cNvPr id="9" name="Phasenpunkt"/>
          <p:cNvSpPr/>
          <p:nvPr/>
        </p:nvSpPr>
        <p:spPr>
          <a:xfrm>
            <a:off x="10881360" y="429768"/>
            <a:ext cx="155448" cy="155448"/>
          </a:xfrm>
          <a:prstGeom prst="ellipse">
            <a:avLst/>
          </a:prstGeom>
          <a:solidFill>
            <a:schemeClr val="accent1"/>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5760720" cy="4343400"/>
          </a:xfrm>
          <a:prstGeom prst="roundRect">
            <a:avLst>
              <a:gd name="adj" fmla="val 2526"/>
            </a:avLst>
          </a:prstGeom>
          <a:solidFill>
            <a:schemeClr val="tx2"/>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914400" y="2011680"/>
            <a:ext cx="5029200" cy="457200"/>
          </a:xfrm>
          <a:prstGeom prst="rect">
            <a:avLst/>
          </a:prstGeom>
          <a:noFill/>
          <a:ln/>
        </p:spPr>
        <p:txBody>
          <a:bodyPr wrap="square" lIns="0" tIns="0" rIns="0" bIns="0" rtlCol="0" anchor="t"/>
          <a:lstStyle/>
          <a:p>
            <a:pPr indent="0" marL="0">
              <a:buNone/>
            </a:pPr>
            <a:r>
              <a:rPr lang="en-US" sz="2400" b="1" dirty="0">
                <a:solidFill>
                  <a:schemeClr val="bg1"/>
                </a:solidFill>
                <a:latin typeface="Century Schoolbook" pitchFamily="34" charset="0"/>
                <a:ea typeface="Century Schoolbook" pitchFamily="34" charset="-122"/>
                <a:cs typeface="Century Schoolbook" pitchFamily="34" charset="-120"/>
              </a:rPr>
              <a:t>Ja-aber-Methode</a:t>
            </a:r>
            <a:endParaRPr lang="en-US" sz="2400" dirty="0"/>
          </a:p>
        </p:txBody>
      </p:sp>
      <p:sp>
        <p:nvSpPr>
          <p:cNvPr id="14" name="Text 12"/>
          <p:cNvSpPr txBox="1"/>
          <p:nvPr/>
        </p:nvSpPr>
        <p:spPr>
          <a:xfrm>
            <a:off x="914400" y="2514600"/>
            <a:ext cx="5029200" cy="365760"/>
          </a:xfrm>
          <a:prstGeom prst="rect">
            <a:avLst/>
          </a:prstGeom>
          <a:noFill/>
          <a:ln/>
        </p:spPr>
        <p:txBody>
          <a:bodyPr wrap="square" lIns="0" tIns="0" rIns="0" bIns="0" rtlCol="0" anchor="t"/>
          <a:lstStyle/>
          <a:p>
            <a:pPr indent="0" marL="0">
              <a:buNone/>
            </a:pPr>
            <a:r>
              <a:rPr lang="en-US" sz="1500" dirty="0">
                <a:solidFill>
                  <a:schemeClr val="accent5"/>
                </a:solidFill>
              </a:rPr>
              <a:t>Erst recht geben, dann auf die Vorteile lenken.</a:t>
            </a:r>
            <a:endParaRPr lang="en-US" sz="1500" dirty="0"/>
          </a:p>
        </p:txBody>
      </p:sp>
      <p:sp>
        <p:nvSpPr>
          <p:cNvPr id="15" name="Text 13"/>
          <p:cNvSpPr txBox="1"/>
          <p:nvPr/>
        </p:nvSpPr>
        <p:spPr>
          <a:xfrm>
            <a:off x="914400" y="3108960"/>
            <a:ext cx="5029200" cy="640080"/>
          </a:xfrm>
          <a:prstGeom prst="rect">
            <a:avLst/>
          </a:prstGeom>
          <a:noFill/>
          <a:ln/>
        </p:spPr>
        <p:txBody>
          <a:bodyPr wrap="square" lIns="0" tIns="0" rIns="0" bIns="0" rtlCol="0" anchor="t"/>
          <a:lstStyle/>
          <a:p>
            <a:pPr indent="0" marL="0">
              <a:buNone/>
            </a:pPr>
            <a:r>
              <a:rPr lang="en-US" sz="1600" i="1" dirty="0">
                <a:solidFill>
                  <a:schemeClr val="accent5"/>
                </a:solidFill>
              </a:rPr>
              <a:t>Kundin: „Im Internet gibt es Laufschuhe schon für 40 Euro.“</a:t>
            </a:r>
            <a:endParaRPr lang="en-US" sz="1600" dirty="0"/>
          </a:p>
        </p:txBody>
      </p:sp>
      <p:sp>
        <p:nvSpPr>
          <p:cNvPr id="16" name="Text 14"/>
          <p:cNvSpPr txBox="1"/>
          <p:nvPr/>
        </p:nvSpPr>
        <p:spPr>
          <a:xfrm>
            <a:off x="914400" y="3840480"/>
            <a:ext cx="5029200" cy="1920240"/>
          </a:xfrm>
          <a:prstGeom prst="rect">
            <a:avLst/>
          </a:prstGeom>
          <a:noFill/>
          <a:ln/>
        </p:spPr>
        <p:txBody>
          <a:bodyPr wrap="square" lIns="0" tIns="0" rIns="0" bIns="0" rtlCol="0" anchor="t"/>
          <a:lstStyle/>
          <a:p>
            <a:pPr indent="0" marL="0">
              <a:buNone/>
            </a:pPr>
            <a:r>
              <a:rPr lang="en-US" sz="1700" i="1" dirty="0">
                <a:solidFill>
                  <a:schemeClr val="bg1"/>
                </a:solidFill>
              </a:rPr>
              <a:t>„Ja, da haben Sie recht, es gibt günstigere Schuhe. Dieser hier hat aber genau die Dämpfung, die Ihr Knie braucht, und Sie haben ihn gerade getestet.“</a:t>
            </a:r>
            <a:endParaRPr lang="en-US" sz="1700" dirty="0"/>
          </a:p>
        </p:txBody>
      </p:sp>
      <p:sp>
        <p:nvSpPr>
          <p:cNvPr id="17" name="Symbolkreis"/>
          <p:cNvSpPr/>
          <p:nvPr/>
        </p:nvSpPr>
        <p:spPr>
          <a:xfrm>
            <a:off x="6675120" y="1737360"/>
            <a:ext cx="566928" cy="566928"/>
          </a:xfrm>
          <a:prstGeom prst="ellipse">
            <a:avLst/>
          </a:prstGeom>
          <a:solidFill>
            <a:schemeClr val="accent5"/>
          </a:solidFill>
          <a:ln/>
        </p:spPr>
      </p:sp>
      <p:pic>
        <p:nvPicPr>
          <p:cNvPr id="18" name="Image 0" descr="Symbol">    </p:cNvPr>
          <p:cNvPicPr>
            <a:picLocks noChangeAspect="1"/>
          </p:cNvPicPr>
          <p:nvPr/>
        </p:nvPicPr>
        <p:blipFill>
          <a:blip r:embed="rId1"/>
          <a:stretch>
            <a:fillRect/>
          </a:stretch>
        </p:blipFill>
        <p:spPr>
          <a:xfrm>
            <a:off x="6799844" y="1862084"/>
            <a:ext cx="317480" cy="317480"/>
          </a:xfrm>
          <a:prstGeom prst="rect">
            <a:avLst/>
          </a:prstGeom>
        </p:spPr>
      </p:pic>
      <p:sp>
        <p:nvSpPr>
          <p:cNvPr id="19" name="Text 16"/>
          <p:cNvSpPr txBox="1"/>
          <p:nvPr/>
        </p:nvSpPr>
        <p:spPr>
          <a:xfrm>
            <a:off x="7452360" y="1737360"/>
            <a:ext cx="4160520" cy="329184"/>
          </a:xfrm>
          <a:prstGeom prst="rect">
            <a:avLst/>
          </a:prstGeom>
          <a:noFill/>
          <a:ln/>
        </p:spPr>
        <p:txBody>
          <a:bodyPr wrap="square" lIns="0" tIns="0" rIns="0" bIns="0" rtlCol="0" anchor="t"/>
          <a:lstStyle/>
          <a:p>
            <a:pPr indent="0" marL="0">
              <a:buNone/>
            </a:pPr>
            <a:r>
              <a:rPr lang="en-US" sz="1700" b="1" dirty="0">
                <a:solidFill>
                  <a:schemeClr val="tx1"/>
                </a:solidFill>
              </a:rPr>
              <a:t>Rückfrage</a:t>
            </a:r>
            <a:endParaRPr lang="en-US" sz="1700" dirty="0"/>
          </a:p>
        </p:txBody>
      </p:sp>
      <p:sp>
        <p:nvSpPr>
          <p:cNvPr id="20" name="Text 17"/>
          <p:cNvSpPr txBox="1"/>
          <p:nvPr/>
        </p:nvSpPr>
        <p:spPr>
          <a:xfrm>
            <a:off x="7452360" y="208483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„Was genau ist Ihnen dabei wichtig?“ So erfahren Sie den wahren Grund.</a:t>
            </a:r>
            <a:endParaRPr lang="en-US" sz="1400" dirty="0"/>
          </a:p>
        </p:txBody>
      </p:sp>
      <p:sp>
        <p:nvSpPr>
          <p:cNvPr id="21" name="Symbolkreis"/>
          <p:cNvSpPr/>
          <p:nvPr/>
        </p:nvSpPr>
        <p:spPr>
          <a:xfrm>
            <a:off x="6675120" y="2971800"/>
            <a:ext cx="566928" cy="566928"/>
          </a:xfrm>
          <a:prstGeom prst="ellipse">
            <a:avLst/>
          </a:prstGeom>
          <a:solidFill>
            <a:schemeClr val="accent5"/>
          </a:solidFill>
          <a:ln/>
        </p:spPr>
      </p:sp>
      <p:pic>
        <p:nvPicPr>
          <p:cNvPr id="22" name="Image 1" descr="Symbol">    </p:cNvPr>
          <p:cNvPicPr>
            <a:picLocks noChangeAspect="1"/>
          </p:cNvPicPr>
          <p:nvPr/>
        </p:nvPicPr>
        <p:blipFill>
          <a:blip r:embed="rId2"/>
          <a:stretch>
            <a:fillRect/>
          </a:stretch>
        </p:blipFill>
        <p:spPr>
          <a:xfrm>
            <a:off x="6799844" y="3096524"/>
            <a:ext cx="317480" cy="317480"/>
          </a:xfrm>
          <a:prstGeom prst="rect">
            <a:avLst/>
          </a:prstGeom>
        </p:spPr>
      </p:pic>
      <p:sp>
        <p:nvSpPr>
          <p:cNvPr id="23" name="Text 19"/>
          <p:cNvSpPr txBox="1"/>
          <p:nvPr/>
        </p:nvSpPr>
        <p:spPr>
          <a:xfrm>
            <a:off x="7452360" y="2971800"/>
            <a:ext cx="4160520" cy="329184"/>
          </a:xfrm>
          <a:prstGeom prst="rect">
            <a:avLst/>
          </a:prstGeom>
          <a:noFill/>
          <a:ln/>
        </p:spPr>
        <p:txBody>
          <a:bodyPr wrap="square" lIns="0" tIns="0" rIns="0" bIns="0" rtlCol="0" anchor="t"/>
          <a:lstStyle/>
          <a:p>
            <a:pPr indent="0" marL="0">
              <a:buNone/>
            </a:pPr>
            <a:r>
              <a:rPr lang="en-US" sz="1700" b="1" dirty="0">
                <a:solidFill>
                  <a:schemeClr val="tx1"/>
                </a:solidFill>
              </a:rPr>
              <a:t>Lösung anbieten</a:t>
            </a:r>
            <a:endParaRPr lang="en-US" sz="1700" dirty="0"/>
          </a:p>
        </p:txBody>
      </p:sp>
      <p:sp>
        <p:nvSpPr>
          <p:cNvPr id="24" name="Text 20"/>
          <p:cNvSpPr txBox="1"/>
          <p:nvPr/>
        </p:nvSpPr>
        <p:spPr>
          <a:xfrm>
            <a:off x="7452360" y="331927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„Wir stellen das Telefon so ein, dass nur Ihre Kontakte anrufen können.“</a:t>
            </a:r>
            <a:endParaRPr lang="en-US" sz="1400" dirty="0"/>
          </a:p>
        </p:txBody>
      </p:sp>
      <p:sp>
        <p:nvSpPr>
          <p:cNvPr id="25" name="Symbolkreis"/>
          <p:cNvSpPr/>
          <p:nvPr/>
        </p:nvSpPr>
        <p:spPr>
          <a:xfrm>
            <a:off x="6675120" y="4206240"/>
            <a:ext cx="566928" cy="566928"/>
          </a:xfrm>
          <a:prstGeom prst="ellipse">
            <a:avLst/>
          </a:prstGeom>
          <a:solidFill>
            <a:schemeClr val="accent5"/>
          </a:solidFill>
          <a:ln/>
        </p:spPr>
      </p:sp>
      <p:pic>
        <p:nvPicPr>
          <p:cNvPr id="26" name="Image 2" descr="Symbol">    </p:cNvPr>
          <p:cNvPicPr>
            <a:picLocks noChangeAspect="1"/>
          </p:cNvPicPr>
          <p:nvPr/>
        </p:nvPicPr>
        <p:blipFill>
          <a:blip r:embed="rId3"/>
          <a:stretch>
            <a:fillRect/>
          </a:stretch>
        </p:blipFill>
        <p:spPr>
          <a:xfrm>
            <a:off x="6799844" y="4330964"/>
            <a:ext cx="317480" cy="317480"/>
          </a:xfrm>
          <a:prstGeom prst="rect">
            <a:avLst/>
          </a:prstGeom>
        </p:spPr>
      </p:pic>
      <p:sp>
        <p:nvSpPr>
          <p:cNvPr id="27" name="Text 22"/>
          <p:cNvSpPr txBox="1"/>
          <p:nvPr/>
        </p:nvSpPr>
        <p:spPr>
          <a:xfrm>
            <a:off x="7452360" y="4206240"/>
            <a:ext cx="4160520" cy="329184"/>
          </a:xfrm>
          <a:prstGeom prst="rect">
            <a:avLst/>
          </a:prstGeom>
          <a:noFill/>
          <a:ln/>
        </p:spPr>
        <p:txBody>
          <a:bodyPr wrap="square" lIns="0" tIns="0" rIns="0" bIns="0" rtlCol="0" anchor="t"/>
          <a:lstStyle/>
          <a:p>
            <a:pPr indent="0" marL="0">
              <a:buNone/>
            </a:pPr>
            <a:r>
              <a:rPr lang="en-US" sz="1700" b="1" dirty="0">
                <a:solidFill>
                  <a:schemeClr val="tx1"/>
                </a:solidFill>
              </a:rPr>
              <a:t>Kaufrisiko nehmen</a:t>
            </a:r>
            <a:endParaRPr lang="en-US" sz="1700" dirty="0"/>
          </a:p>
        </p:txBody>
      </p:sp>
      <p:sp>
        <p:nvSpPr>
          <p:cNvPr id="28" name="Text 23"/>
          <p:cNvSpPr txBox="1"/>
          <p:nvPr/>
        </p:nvSpPr>
        <p:spPr>
          <a:xfrm>
            <a:off x="7452360" y="455371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„Sie können ihn ungeöffnet innerhalb von 14 Tagen umtauschen.“</a:t>
            </a:r>
            <a:endParaRPr lang="en-US" sz="1400" dirty="0"/>
          </a:p>
        </p:txBody>
      </p:sp>
      <p:sp>
        <p:nvSpPr>
          <p:cNvPr id="29" name="Etikett"/>
          <p:cNvSpPr/>
          <p:nvPr/>
        </p:nvSpPr>
        <p:spPr>
          <a:xfrm>
            <a:off x="6675120" y="5623560"/>
            <a:ext cx="4965192" cy="292608"/>
          </a:xfrm>
          <a:prstGeom prst="roundRect">
            <a:avLst>
              <a:gd name="adj" fmla="val 50000"/>
            </a:avLst>
          </a:prstGeom>
          <a:solidFill>
            <a:schemeClr val="accent3"/>
          </a:solidFill>
          <a:ln/>
        </p:spPr>
      </p:sp>
      <p:sp>
        <p:nvSpPr>
          <p:cNvPr id="30" name="Text 25"/>
          <p:cNvSpPr txBox="1"/>
          <p:nvPr/>
        </p:nvSpPr>
        <p:spPr>
          <a:xfrm>
            <a:off x="6675120" y="5623560"/>
            <a:ext cx="4965192" cy="292608"/>
          </a:xfrm>
          <a:prstGeom prst="rect">
            <a:avLst/>
          </a:prstGeom>
          <a:noFill/>
          <a:ln/>
        </p:spPr>
        <p:txBody>
          <a:bodyPr wrap="square" lIns="0" tIns="0" rIns="0" bIns="0" rtlCol="0" anchor="ctr"/>
          <a:lstStyle/>
          <a:p>
            <a:pPr algn="ctr" indent="0" marL="0">
              <a:buNone/>
            </a:pPr>
            <a:r>
              <a:rPr lang="en-US" sz="1100" b="1" dirty="0">
                <a:solidFill>
                  <a:schemeClr val="bg1"/>
                </a:solidFill>
              </a:rPr>
              <a:t>Nie: widersprechen, abwerten, aufgeben</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7 · ERGÄNZUNGSANGEBOT</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Ein passender Artikel, zum richtigen Zeitpunkt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chemeClr val="accent1"/>
          </a:solidFill>
          <a:ln/>
        </p:spPr>
      </p:sp>
      <p:sp>
        <p:nvSpPr>
          <p:cNvPr id="8" name="Phasenpunkt"/>
          <p:cNvSpPr/>
          <p:nvPr/>
        </p:nvSpPr>
        <p:spPr>
          <a:xfrm>
            <a:off x="10634472" y="429768"/>
            <a:ext cx="155448" cy="155448"/>
          </a:xfrm>
          <a:prstGeom prst="ellipse">
            <a:avLst/>
          </a:prstGeom>
          <a:solidFill>
            <a:schemeClr val="accent1"/>
          </a:solidFill>
          <a:ln/>
        </p:spPr>
      </p:sp>
      <p:sp>
        <p:nvSpPr>
          <p:cNvPr id="9" name="Phasenpunkt"/>
          <p:cNvSpPr/>
          <p:nvPr/>
        </p:nvSpPr>
        <p:spPr>
          <a:xfrm>
            <a:off x="10881360" y="429768"/>
            <a:ext cx="155448" cy="155448"/>
          </a:xfrm>
          <a:prstGeom prst="ellipse">
            <a:avLst/>
          </a:prstGeom>
          <a:solidFill>
            <a:schemeClr val="accent1"/>
          </a:solidFill>
          <a:ln/>
        </p:spPr>
      </p:sp>
      <p:sp>
        <p:nvSpPr>
          <p:cNvPr id="10" name="Phasenpunkt"/>
          <p:cNvSpPr/>
          <p:nvPr/>
        </p:nvSpPr>
        <p:spPr>
          <a:xfrm>
            <a:off x="11128248" y="429768"/>
            <a:ext cx="155448" cy="155448"/>
          </a:xfrm>
          <a:prstGeom prst="ellipse">
            <a:avLst/>
          </a:prstGeom>
          <a:solidFill>
            <a:schemeClr val="accent1"/>
          </a:solidFill>
          <a:ln/>
        </p:spPr>
      </p:sp>
      <p:sp>
        <p:nvSpPr>
          <p:cNvPr id="11" name="Phasenpunkt"/>
          <p:cNvSpPr/>
          <p:nvPr/>
        </p:nvSpPr>
        <p:spPr>
          <a:xfrm>
            <a:off x="11375136" y="429768"/>
            <a:ext cx="155448" cy="155448"/>
          </a:xfrm>
          <a:prstGeom prst="ellipse">
            <a:avLst/>
          </a:prstGeom>
          <a:solidFill>
            <a:srgbClr val="D9DEE5"/>
          </a:solidFill>
          <a:ln/>
        </p:spPr>
      </p:sp>
      <p:sp>
        <p:nvSpPr>
          <p:cNvPr id="12" name="Symbolkreis"/>
          <p:cNvSpPr/>
          <p:nvPr/>
        </p:nvSpPr>
        <p:spPr>
          <a:xfrm>
            <a:off x="548640" y="1737360"/>
            <a:ext cx="566928" cy="566928"/>
          </a:xfrm>
          <a:prstGeom prst="ellipse">
            <a:avLst/>
          </a:prstGeom>
          <a:solidFill>
            <a:schemeClr val="accent5"/>
          </a:solidFill>
          <a:ln/>
        </p:spPr>
      </p:sp>
      <p:pic>
        <p:nvPicPr>
          <p:cNvPr id="13" name="Image 0" descr="Symbol">    </p:cNvPr>
          <p:cNvPicPr>
            <a:picLocks noChangeAspect="1"/>
          </p:cNvPicPr>
          <p:nvPr/>
        </p:nvPicPr>
        <p:blipFill>
          <a:blip r:embed="rId1"/>
          <a:stretch>
            <a:fillRect/>
          </a:stretch>
        </p:blipFill>
        <p:spPr>
          <a:xfrm>
            <a:off x="673364" y="1862084"/>
            <a:ext cx="317480" cy="317480"/>
          </a:xfrm>
          <a:prstGeom prst="rect">
            <a:avLst/>
          </a:prstGeom>
        </p:spPr>
      </p:pic>
      <p:sp>
        <p:nvSpPr>
          <p:cNvPr id="14" name="Text 11"/>
          <p:cNvSpPr txBox="1"/>
          <p:nvPr/>
        </p:nvSpPr>
        <p:spPr>
          <a:xfrm>
            <a:off x="1325880" y="1737360"/>
            <a:ext cx="4160520" cy="329184"/>
          </a:xfrm>
          <a:prstGeom prst="rect">
            <a:avLst/>
          </a:prstGeom>
          <a:noFill/>
          <a:ln/>
        </p:spPr>
        <p:txBody>
          <a:bodyPr wrap="square" lIns="0" tIns="0" rIns="0" bIns="0" rtlCol="0" anchor="t"/>
          <a:lstStyle/>
          <a:p>
            <a:pPr indent="0" marL="0">
              <a:buNone/>
            </a:pPr>
            <a:r>
              <a:rPr lang="en-US" sz="1700" b="1" dirty="0">
                <a:solidFill>
                  <a:schemeClr val="tx1"/>
                </a:solidFill>
              </a:rPr>
              <a:t>Nach dem Kaufentschluss</a:t>
            </a:r>
            <a:endParaRPr lang="en-US" sz="1700" dirty="0"/>
          </a:p>
        </p:txBody>
      </p:sp>
      <p:sp>
        <p:nvSpPr>
          <p:cNvPr id="15" name="Text 12"/>
          <p:cNvSpPr txBox="1"/>
          <p:nvPr/>
        </p:nvSpPr>
        <p:spPr>
          <a:xfrm>
            <a:off x="1325880" y="208483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Erst wenn der Hauptartikel feststeht.</a:t>
            </a:r>
            <a:endParaRPr lang="en-US" sz="1400" dirty="0"/>
          </a:p>
        </p:txBody>
      </p:sp>
      <p:sp>
        <p:nvSpPr>
          <p:cNvPr id="16" name="Symbolkreis"/>
          <p:cNvSpPr/>
          <p:nvPr/>
        </p:nvSpPr>
        <p:spPr>
          <a:xfrm>
            <a:off x="548640" y="3063240"/>
            <a:ext cx="566928" cy="566928"/>
          </a:xfrm>
          <a:prstGeom prst="ellipse">
            <a:avLst/>
          </a:prstGeom>
          <a:solidFill>
            <a:schemeClr val="accent5"/>
          </a:solidFill>
          <a:ln/>
        </p:spPr>
      </p:sp>
      <p:pic>
        <p:nvPicPr>
          <p:cNvPr id="17" name="Image 1" descr="Symbol">    </p:cNvPr>
          <p:cNvPicPr>
            <a:picLocks noChangeAspect="1"/>
          </p:cNvPicPr>
          <p:nvPr/>
        </p:nvPicPr>
        <p:blipFill>
          <a:blip r:embed="rId2"/>
          <a:stretch>
            <a:fillRect/>
          </a:stretch>
        </p:blipFill>
        <p:spPr>
          <a:xfrm>
            <a:off x="673364" y="3187964"/>
            <a:ext cx="317480" cy="317480"/>
          </a:xfrm>
          <a:prstGeom prst="rect">
            <a:avLst/>
          </a:prstGeom>
        </p:spPr>
      </p:pic>
      <p:sp>
        <p:nvSpPr>
          <p:cNvPr id="18" name="Text 14"/>
          <p:cNvSpPr txBox="1"/>
          <p:nvPr/>
        </p:nvSpPr>
        <p:spPr>
          <a:xfrm>
            <a:off x="1325880" y="3063240"/>
            <a:ext cx="4160520" cy="329184"/>
          </a:xfrm>
          <a:prstGeom prst="rect">
            <a:avLst/>
          </a:prstGeom>
          <a:noFill/>
          <a:ln/>
        </p:spPr>
        <p:txBody>
          <a:bodyPr wrap="square" lIns="0" tIns="0" rIns="0" bIns="0" rtlCol="0" anchor="t"/>
          <a:lstStyle/>
          <a:p>
            <a:pPr indent="0" marL="0">
              <a:buNone/>
            </a:pPr>
            <a:r>
              <a:rPr lang="en-US" sz="1700" b="1" dirty="0">
                <a:solidFill>
                  <a:schemeClr val="tx1"/>
                </a:solidFill>
              </a:rPr>
              <a:t>Passt zum Hauptkauf</a:t>
            </a:r>
            <a:endParaRPr lang="en-US" sz="1700" dirty="0"/>
          </a:p>
        </p:txBody>
      </p:sp>
      <p:sp>
        <p:nvSpPr>
          <p:cNvPr id="19" name="Text 15"/>
          <p:cNvSpPr txBox="1"/>
          <p:nvPr/>
        </p:nvSpPr>
        <p:spPr>
          <a:xfrm>
            <a:off x="1325880" y="341071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Mit klarem Nutzen, nicht wahllos aufzählen.</a:t>
            </a:r>
            <a:endParaRPr lang="en-US" sz="1400" dirty="0"/>
          </a:p>
        </p:txBody>
      </p:sp>
      <p:sp>
        <p:nvSpPr>
          <p:cNvPr id="20" name="Symbolkreis"/>
          <p:cNvSpPr/>
          <p:nvPr/>
        </p:nvSpPr>
        <p:spPr>
          <a:xfrm>
            <a:off x="548640" y="4389120"/>
            <a:ext cx="566928" cy="566928"/>
          </a:xfrm>
          <a:prstGeom prst="ellipse">
            <a:avLst/>
          </a:prstGeom>
          <a:solidFill>
            <a:schemeClr val="accent5"/>
          </a:solidFill>
          <a:ln/>
        </p:spPr>
      </p:sp>
      <p:pic>
        <p:nvPicPr>
          <p:cNvPr id="21" name="Image 2" descr="Symbol">    </p:cNvPr>
          <p:cNvPicPr>
            <a:picLocks noChangeAspect="1"/>
          </p:cNvPicPr>
          <p:nvPr/>
        </p:nvPicPr>
        <p:blipFill>
          <a:blip r:embed="rId3"/>
          <a:stretch>
            <a:fillRect/>
          </a:stretch>
        </p:blipFill>
        <p:spPr>
          <a:xfrm>
            <a:off x="673364" y="4513844"/>
            <a:ext cx="317480" cy="317480"/>
          </a:xfrm>
          <a:prstGeom prst="rect">
            <a:avLst/>
          </a:prstGeom>
        </p:spPr>
      </p:pic>
      <p:sp>
        <p:nvSpPr>
          <p:cNvPr id="22" name="Text 17"/>
          <p:cNvSpPr txBox="1"/>
          <p:nvPr/>
        </p:nvSpPr>
        <p:spPr>
          <a:xfrm>
            <a:off x="1325880" y="4389120"/>
            <a:ext cx="4160520" cy="329184"/>
          </a:xfrm>
          <a:prstGeom prst="rect">
            <a:avLst/>
          </a:prstGeom>
          <a:noFill/>
          <a:ln/>
        </p:spPr>
        <p:txBody>
          <a:bodyPr wrap="square" lIns="0" tIns="0" rIns="0" bIns="0" rtlCol="0" anchor="t"/>
          <a:lstStyle/>
          <a:p>
            <a:pPr indent="0" marL="0">
              <a:buNone/>
            </a:pPr>
            <a:r>
              <a:rPr lang="en-US" sz="1700" b="1" dirty="0">
                <a:solidFill>
                  <a:schemeClr val="tx1"/>
                </a:solidFill>
              </a:rPr>
              <a:t>Ist ein Service</a:t>
            </a:r>
            <a:endParaRPr lang="en-US" sz="1700" dirty="0"/>
          </a:p>
        </p:txBody>
      </p:sp>
      <p:sp>
        <p:nvSpPr>
          <p:cNvPr id="23" name="Text 18"/>
          <p:cNvSpPr txBox="1"/>
          <p:nvPr/>
        </p:nvSpPr>
        <p:spPr>
          <a:xfrm>
            <a:off x="1325880" y="4736592"/>
            <a:ext cx="4160520" cy="566928"/>
          </a:xfrm>
          <a:prstGeom prst="rect">
            <a:avLst/>
          </a:prstGeom>
          <a:noFill/>
          <a:ln/>
        </p:spPr>
        <p:txBody>
          <a:bodyPr wrap="square" lIns="0" tIns="0" rIns="0" bIns="0" rtlCol="0" anchor="t"/>
          <a:lstStyle/>
          <a:p>
            <a:pPr indent="0" marL="0">
              <a:buNone/>
            </a:pPr>
            <a:r>
              <a:rPr lang="en-US" sz="1400" dirty="0">
                <a:solidFill>
                  <a:schemeClr val="accent6"/>
                </a:solidFill>
              </a:rPr>
              <a:t>Auch Dienstleistungen zählen, z. B. Einrichtung oder Geschenkverpackung.</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852160" y="1737360"/>
          <a:ext cx="5788152" cy="914400"/>
        </p:xfrm>
        <a:graphic>
          <a:graphicData uri="http://schemas.openxmlformats.org/drawingml/2006/table">
            <a:tbl>
              <a:tblPr/>
              <a:tblGrid>
                <a:gridCol w="2011680"/>
                <a:gridCol w="1920240"/>
                <a:gridCol w="185623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Hauptartikel</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Ergänzung</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Nutzen</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r>
              <a:tr h="566928">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Laufschuhe</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Laufsocken</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keine Blasen</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Smartphone</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Einrichtungsservice</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sicherer Start</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Regenjacke</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Imprägnierspray</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bleibt lange dicht</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Kaffeevollautomat</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Pflegeset</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leise, guter Espresso</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Parfum (Geschenk)</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Grußkarte</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500" dirty="0">
                          <a:solidFill>
                            <a:srgbClr val="18202B"/>
                          </a:solidFill>
                          <a:latin typeface="Calibri" pitchFamily="34" charset="0"/>
                          <a:ea typeface="Calibri" pitchFamily="34" charset="-122"/>
                          <a:cs typeface="Calibri" pitchFamily="34" charset="-120"/>
                        </a:rPr>
                        <a:t>Geschenk komplett</a:t>
                      </a:r>
                      <a:endParaRPr lang="en-US" sz="15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8 · ABSCHLUSS &amp; VERABSCHIEDUNG</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Der letzte Eindruck bleibt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chemeClr val="accent1"/>
          </a:solidFill>
          <a:ln/>
        </p:spPr>
      </p:sp>
      <p:sp>
        <p:nvSpPr>
          <p:cNvPr id="6" name="Phasenpunkt"/>
          <p:cNvSpPr/>
          <p:nvPr/>
        </p:nvSpPr>
        <p:spPr>
          <a:xfrm>
            <a:off x="10140696" y="429768"/>
            <a:ext cx="155448" cy="155448"/>
          </a:xfrm>
          <a:prstGeom prst="ellipse">
            <a:avLst/>
          </a:prstGeom>
          <a:solidFill>
            <a:schemeClr val="accent1"/>
          </a:solidFill>
          <a:ln/>
        </p:spPr>
      </p:sp>
      <p:sp>
        <p:nvSpPr>
          <p:cNvPr id="7" name="Phasenpunkt"/>
          <p:cNvSpPr/>
          <p:nvPr/>
        </p:nvSpPr>
        <p:spPr>
          <a:xfrm>
            <a:off x="10387584" y="429768"/>
            <a:ext cx="155448" cy="155448"/>
          </a:xfrm>
          <a:prstGeom prst="ellipse">
            <a:avLst/>
          </a:prstGeom>
          <a:solidFill>
            <a:schemeClr val="accent1"/>
          </a:solidFill>
          <a:ln/>
        </p:spPr>
      </p:sp>
      <p:sp>
        <p:nvSpPr>
          <p:cNvPr id="8" name="Phasenpunkt"/>
          <p:cNvSpPr/>
          <p:nvPr/>
        </p:nvSpPr>
        <p:spPr>
          <a:xfrm>
            <a:off x="10634472" y="429768"/>
            <a:ext cx="155448" cy="155448"/>
          </a:xfrm>
          <a:prstGeom prst="ellipse">
            <a:avLst/>
          </a:prstGeom>
          <a:solidFill>
            <a:schemeClr val="accent1"/>
          </a:solidFill>
          <a:ln/>
        </p:spPr>
      </p:sp>
      <p:sp>
        <p:nvSpPr>
          <p:cNvPr id="9" name="Phasenpunkt"/>
          <p:cNvSpPr/>
          <p:nvPr/>
        </p:nvSpPr>
        <p:spPr>
          <a:xfrm>
            <a:off x="10881360" y="429768"/>
            <a:ext cx="155448" cy="155448"/>
          </a:xfrm>
          <a:prstGeom prst="ellipse">
            <a:avLst/>
          </a:prstGeom>
          <a:solidFill>
            <a:schemeClr val="accent1"/>
          </a:solidFill>
          <a:ln/>
        </p:spPr>
      </p:sp>
      <p:sp>
        <p:nvSpPr>
          <p:cNvPr id="10" name="Phasenpunkt"/>
          <p:cNvSpPr/>
          <p:nvPr/>
        </p:nvSpPr>
        <p:spPr>
          <a:xfrm>
            <a:off x="11128248" y="429768"/>
            <a:ext cx="155448" cy="155448"/>
          </a:xfrm>
          <a:prstGeom prst="ellipse">
            <a:avLst/>
          </a:prstGeom>
          <a:solidFill>
            <a:schemeClr val="accent1"/>
          </a:solidFill>
          <a:ln/>
        </p:spPr>
      </p:sp>
      <p:sp>
        <p:nvSpPr>
          <p:cNvPr id="11" name="Phasenpunkt"/>
          <p:cNvSpPr/>
          <p:nvPr/>
        </p:nvSpPr>
        <p:spPr>
          <a:xfrm>
            <a:off x="11375136" y="429768"/>
            <a:ext cx="155448" cy="155448"/>
          </a:xfrm>
          <a:prstGeom prst="ellipse">
            <a:avLst/>
          </a:prstGeom>
          <a:solidFill>
            <a:schemeClr val="accent1"/>
          </a:solidFill>
          <a:ln/>
        </p:spPr>
      </p:sp>
      <p:sp>
        <p:nvSpPr>
          <p:cNvPr id="12" name="Karte"/>
          <p:cNvSpPr/>
          <p:nvPr/>
        </p:nvSpPr>
        <p:spPr>
          <a:xfrm>
            <a:off x="548640" y="1737360"/>
            <a:ext cx="2560320" cy="2377440"/>
          </a:xfrm>
          <a:prstGeom prst="roundRect">
            <a:avLst>
              <a:gd name="adj" fmla="val 4615"/>
            </a:avLst>
          </a:prstGeom>
          <a:solidFill>
            <a:schemeClr val="bg1"/>
          </a:solidFill>
          <a:ln/>
          <a:effectLst>
            <a:outerShdw sx="100000" sy="100000" kx="0" ky="0" algn="bl" rotWithShape="0" blurRad="101600" dist="25400" dir="5400000">
              <a:srgbClr val="18202B">
                <a:alpha val="12000"/>
              </a:srgbClr>
            </a:outerShdw>
          </a:effectLst>
        </p:spPr>
      </p:sp>
      <p:sp>
        <p:nvSpPr>
          <p:cNvPr id="13" name="Symbolkreis"/>
          <p:cNvSpPr/>
          <p:nvPr/>
        </p:nvSpPr>
        <p:spPr>
          <a:xfrm>
            <a:off x="822960" y="1965960"/>
            <a:ext cx="640080" cy="640080"/>
          </a:xfrm>
          <a:prstGeom prst="ellipse">
            <a:avLst/>
          </a:prstGeom>
          <a:solidFill>
            <a:schemeClr val="accent5"/>
          </a:solidFill>
          <a:ln/>
        </p:spPr>
      </p:sp>
      <p:pic>
        <p:nvPicPr>
          <p:cNvPr id="14" name="Image 0" descr="Symbol">    </p:cNvPr>
          <p:cNvPicPr>
            <a:picLocks noChangeAspect="1"/>
          </p:cNvPicPr>
          <p:nvPr/>
        </p:nvPicPr>
        <p:blipFill>
          <a:blip r:embed="rId1"/>
          <a:stretch>
            <a:fillRect/>
          </a:stretch>
        </p:blipFill>
        <p:spPr>
          <a:xfrm>
            <a:off x="963778" y="2106778"/>
            <a:ext cx="358445" cy="358445"/>
          </a:xfrm>
          <a:prstGeom prst="rect">
            <a:avLst/>
          </a:prstGeom>
        </p:spPr>
      </p:pic>
      <p:sp>
        <p:nvSpPr>
          <p:cNvPr id="15" name="Text 12"/>
          <p:cNvSpPr txBox="1"/>
          <p:nvPr/>
        </p:nvSpPr>
        <p:spPr>
          <a:xfrm>
            <a:off x="822960" y="2743200"/>
            <a:ext cx="2011680" cy="548640"/>
          </a:xfrm>
          <a:prstGeom prst="rect">
            <a:avLst/>
          </a:prstGeom>
          <a:noFill/>
          <a:ln/>
        </p:spPr>
        <p:txBody>
          <a:bodyPr wrap="square" lIns="0" tIns="0" rIns="0" bIns="0" rtlCol="0" anchor="t"/>
          <a:lstStyle/>
          <a:p>
            <a:pPr indent="0" marL="0">
              <a:buNone/>
            </a:pPr>
            <a:r>
              <a:rPr lang="en-US" sz="1700" b="1" dirty="0">
                <a:solidFill>
                  <a:schemeClr val="tx1"/>
                </a:solidFill>
              </a:rPr>
              <a:t>Kauf bestätigen</a:t>
            </a:r>
            <a:endParaRPr lang="en-US" sz="1700" dirty="0"/>
          </a:p>
        </p:txBody>
      </p:sp>
      <p:sp>
        <p:nvSpPr>
          <p:cNvPr id="16" name="Text 13"/>
          <p:cNvSpPr txBox="1"/>
          <p:nvPr/>
        </p:nvSpPr>
        <p:spPr>
          <a:xfrm>
            <a:off x="822960" y="3310128"/>
            <a:ext cx="2011680" cy="777240"/>
          </a:xfrm>
          <a:prstGeom prst="rect">
            <a:avLst/>
          </a:prstGeom>
          <a:noFill/>
          <a:ln/>
        </p:spPr>
        <p:txBody>
          <a:bodyPr wrap="square" lIns="0" tIns="0" rIns="0" bIns="0" rtlCol="0" anchor="t"/>
          <a:lstStyle/>
          <a:p>
            <a:pPr indent="0" marL="0">
              <a:buNone/>
            </a:pPr>
            <a:r>
              <a:rPr lang="en-US" sz="1500" i="1" dirty="0">
                <a:solidFill>
                  <a:schemeClr val="accent6"/>
                </a:solidFill>
              </a:rPr>
              <a:t>„Schöne Wahl!“</a:t>
            </a:r>
            <a:endParaRPr lang="en-US" sz="1500" dirty="0"/>
          </a:p>
        </p:txBody>
      </p:sp>
      <p:sp>
        <p:nvSpPr>
          <p:cNvPr id="17" name="Karte"/>
          <p:cNvSpPr/>
          <p:nvPr/>
        </p:nvSpPr>
        <p:spPr>
          <a:xfrm>
            <a:off x="3383280" y="1737360"/>
            <a:ext cx="2560320" cy="2377440"/>
          </a:xfrm>
          <a:prstGeom prst="roundRect">
            <a:avLst>
              <a:gd name="adj" fmla="val 4615"/>
            </a:avLst>
          </a:prstGeom>
          <a:solidFill>
            <a:schemeClr val="bg1"/>
          </a:solidFill>
          <a:ln/>
          <a:effectLst>
            <a:outerShdw sx="100000" sy="100000" kx="0" ky="0" algn="bl" rotWithShape="0" blurRad="101600" dist="25400" dir="5400000">
              <a:srgbClr val="18202B">
                <a:alpha val="12000"/>
              </a:srgbClr>
            </a:outerShdw>
          </a:effectLst>
        </p:spPr>
      </p:sp>
      <p:sp>
        <p:nvSpPr>
          <p:cNvPr id="18" name="Symbolkreis"/>
          <p:cNvSpPr/>
          <p:nvPr/>
        </p:nvSpPr>
        <p:spPr>
          <a:xfrm>
            <a:off x="3657600" y="1965960"/>
            <a:ext cx="640080" cy="640080"/>
          </a:xfrm>
          <a:prstGeom prst="ellipse">
            <a:avLst/>
          </a:prstGeom>
          <a:solidFill>
            <a:schemeClr val="accent5"/>
          </a:solidFill>
          <a:ln/>
        </p:spPr>
      </p:sp>
      <p:pic>
        <p:nvPicPr>
          <p:cNvPr id="19" name="Image 1" descr="Symbol">    </p:cNvPr>
          <p:cNvPicPr>
            <a:picLocks noChangeAspect="1"/>
          </p:cNvPicPr>
          <p:nvPr/>
        </p:nvPicPr>
        <p:blipFill>
          <a:blip r:embed="rId2"/>
          <a:stretch>
            <a:fillRect/>
          </a:stretch>
        </p:blipFill>
        <p:spPr>
          <a:xfrm>
            <a:off x="3798418" y="2106778"/>
            <a:ext cx="358445" cy="358445"/>
          </a:xfrm>
          <a:prstGeom prst="rect">
            <a:avLst/>
          </a:prstGeom>
        </p:spPr>
      </p:pic>
      <p:sp>
        <p:nvSpPr>
          <p:cNvPr id="20" name="Text 16"/>
          <p:cNvSpPr txBox="1"/>
          <p:nvPr/>
        </p:nvSpPr>
        <p:spPr>
          <a:xfrm>
            <a:off x="3657600" y="2743200"/>
            <a:ext cx="2011680" cy="548640"/>
          </a:xfrm>
          <a:prstGeom prst="rect">
            <a:avLst/>
          </a:prstGeom>
          <a:noFill/>
          <a:ln/>
        </p:spPr>
        <p:txBody>
          <a:bodyPr wrap="square" lIns="0" tIns="0" rIns="0" bIns="0" rtlCol="0" anchor="t"/>
          <a:lstStyle/>
          <a:p>
            <a:pPr indent="0" marL="0">
              <a:buNone/>
            </a:pPr>
            <a:r>
              <a:rPr lang="en-US" sz="1700" b="1" dirty="0">
                <a:solidFill>
                  <a:schemeClr val="tx1"/>
                </a:solidFill>
              </a:rPr>
              <a:t>Tipp zur Nutzung</a:t>
            </a:r>
            <a:endParaRPr lang="en-US" sz="1700" dirty="0"/>
          </a:p>
        </p:txBody>
      </p:sp>
      <p:sp>
        <p:nvSpPr>
          <p:cNvPr id="21" name="Text 17"/>
          <p:cNvSpPr txBox="1"/>
          <p:nvPr/>
        </p:nvSpPr>
        <p:spPr>
          <a:xfrm>
            <a:off x="3657600" y="3310128"/>
            <a:ext cx="2011680" cy="777240"/>
          </a:xfrm>
          <a:prstGeom prst="rect">
            <a:avLst/>
          </a:prstGeom>
          <a:noFill/>
          <a:ln/>
        </p:spPr>
        <p:txBody>
          <a:bodyPr wrap="square" lIns="0" tIns="0" rIns="0" bIns="0" rtlCol="0" anchor="t"/>
          <a:lstStyle/>
          <a:p>
            <a:pPr indent="0" marL="0">
              <a:buNone/>
            </a:pPr>
            <a:r>
              <a:rPr lang="en-US" sz="1500" i="1" dirty="0">
                <a:solidFill>
                  <a:schemeClr val="accent6"/>
                </a:solidFill>
              </a:rPr>
              <a:t>„Laufen Sie die Schuhe locker ein.“</a:t>
            </a:r>
            <a:endParaRPr lang="en-US" sz="1500" dirty="0"/>
          </a:p>
        </p:txBody>
      </p:sp>
      <p:sp>
        <p:nvSpPr>
          <p:cNvPr id="22" name="Karte"/>
          <p:cNvSpPr/>
          <p:nvPr/>
        </p:nvSpPr>
        <p:spPr>
          <a:xfrm>
            <a:off x="6217920" y="1737360"/>
            <a:ext cx="2560320" cy="2377440"/>
          </a:xfrm>
          <a:prstGeom prst="roundRect">
            <a:avLst>
              <a:gd name="adj" fmla="val 4615"/>
            </a:avLst>
          </a:prstGeom>
          <a:solidFill>
            <a:schemeClr val="bg1"/>
          </a:solidFill>
          <a:ln/>
          <a:effectLst>
            <a:outerShdw sx="100000" sy="100000" kx="0" ky="0" algn="bl" rotWithShape="0" blurRad="101600" dist="25400" dir="5400000">
              <a:srgbClr val="18202B">
                <a:alpha val="12000"/>
              </a:srgbClr>
            </a:outerShdw>
          </a:effectLst>
        </p:spPr>
      </p:sp>
      <p:sp>
        <p:nvSpPr>
          <p:cNvPr id="23" name="Symbolkreis"/>
          <p:cNvSpPr/>
          <p:nvPr/>
        </p:nvSpPr>
        <p:spPr>
          <a:xfrm>
            <a:off x="6492240" y="1965960"/>
            <a:ext cx="640080" cy="640080"/>
          </a:xfrm>
          <a:prstGeom prst="ellipse">
            <a:avLst/>
          </a:prstGeom>
          <a:solidFill>
            <a:schemeClr val="accent5"/>
          </a:solidFill>
          <a:ln/>
        </p:spPr>
      </p:sp>
      <p:pic>
        <p:nvPicPr>
          <p:cNvPr id="24" name="Image 2" descr="Symbol">    </p:cNvPr>
          <p:cNvPicPr>
            <a:picLocks noChangeAspect="1"/>
          </p:cNvPicPr>
          <p:nvPr/>
        </p:nvPicPr>
        <p:blipFill>
          <a:blip r:embed="rId3"/>
          <a:stretch>
            <a:fillRect/>
          </a:stretch>
        </p:blipFill>
        <p:spPr>
          <a:xfrm>
            <a:off x="6633058" y="2106778"/>
            <a:ext cx="358445" cy="358445"/>
          </a:xfrm>
          <a:prstGeom prst="rect">
            <a:avLst/>
          </a:prstGeom>
        </p:spPr>
      </p:pic>
      <p:sp>
        <p:nvSpPr>
          <p:cNvPr id="25" name="Text 20"/>
          <p:cNvSpPr txBox="1"/>
          <p:nvPr/>
        </p:nvSpPr>
        <p:spPr>
          <a:xfrm>
            <a:off x="6492240" y="2743200"/>
            <a:ext cx="2011680" cy="548640"/>
          </a:xfrm>
          <a:prstGeom prst="rect">
            <a:avLst/>
          </a:prstGeom>
          <a:noFill/>
          <a:ln/>
        </p:spPr>
        <p:txBody>
          <a:bodyPr wrap="square" lIns="0" tIns="0" rIns="0" bIns="0" rtlCol="0" anchor="t"/>
          <a:lstStyle/>
          <a:p>
            <a:pPr indent="0" marL="0">
              <a:buNone/>
            </a:pPr>
            <a:r>
              <a:rPr lang="en-US" sz="1700" b="1" dirty="0">
                <a:solidFill>
                  <a:schemeClr val="tx1"/>
                </a:solidFill>
              </a:rPr>
              <a:t>Hilfe anbieten</a:t>
            </a:r>
            <a:endParaRPr lang="en-US" sz="1700" dirty="0"/>
          </a:p>
        </p:txBody>
      </p:sp>
      <p:sp>
        <p:nvSpPr>
          <p:cNvPr id="26" name="Text 21"/>
          <p:cNvSpPr txBox="1"/>
          <p:nvPr/>
        </p:nvSpPr>
        <p:spPr>
          <a:xfrm>
            <a:off x="6492240" y="3310128"/>
            <a:ext cx="2011680" cy="777240"/>
          </a:xfrm>
          <a:prstGeom prst="rect">
            <a:avLst/>
          </a:prstGeom>
          <a:noFill/>
          <a:ln/>
        </p:spPr>
        <p:txBody>
          <a:bodyPr wrap="square" lIns="0" tIns="0" rIns="0" bIns="0" rtlCol="0" anchor="t"/>
          <a:lstStyle/>
          <a:p>
            <a:pPr indent="0" marL="0">
              <a:buNone/>
            </a:pPr>
            <a:r>
              <a:rPr lang="en-US" sz="1500" i="1" dirty="0">
                <a:solidFill>
                  <a:schemeClr val="accent6"/>
                </a:solidFill>
              </a:rPr>
              <a:t>„Bei Fragen kommen Sie einfach vorbei.“</a:t>
            </a:r>
            <a:endParaRPr lang="en-US" sz="1500" dirty="0"/>
          </a:p>
        </p:txBody>
      </p:sp>
      <p:sp>
        <p:nvSpPr>
          <p:cNvPr id="27" name="Karte"/>
          <p:cNvSpPr/>
          <p:nvPr/>
        </p:nvSpPr>
        <p:spPr>
          <a:xfrm>
            <a:off x="9052560" y="1737360"/>
            <a:ext cx="2560320" cy="2377440"/>
          </a:xfrm>
          <a:prstGeom prst="roundRect">
            <a:avLst>
              <a:gd name="adj" fmla="val 4615"/>
            </a:avLst>
          </a:prstGeom>
          <a:solidFill>
            <a:schemeClr val="bg1"/>
          </a:solidFill>
          <a:ln/>
          <a:effectLst>
            <a:outerShdw sx="100000" sy="100000" kx="0" ky="0" algn="bl" rotWithShape="0" blurRad="101600" dist="25400" dir="5400000">
              <a:srgbClr val="18202B">
                <a:alpha val="12000"/>
              </a:srgbClr>
            </a:outerShdw>
          </a:effectLst>
        </p:spPr>
      </p:sp>
      <p:sp>
        <p:nvSpPr>
          <p:cNvPr id="28" name="Symbolkreis"/>
          <p:cNvSpPr/>
          <p:nvPr/>
        </p:nvSpPr>
        <p:spPr>
          <a:xfrm>
            <a:off x="9326880" y="1965960"/>
            <a:ext cx="640080" cy="640080"/>
          </a:xfrm>
          <a:prstGeom prst="ellipse">
            <a:avLst/>
          </a:prstGeom>
          <a:solidFill>
            <a:schemeClr val="accent5"/>
          </a:solidFill>
          <a:ln/>
        </p:spPr>
      </p:sp>
      <p:pic>
        <p:nvPicPr>
          <p:cNvPr id="29" name="Image 3" descr="Symbol">    </p:cNvPr>
          <p:cNvPicPr>
            <a:picLocks noChangeAspect="1"/>
          </p:cNvPicPr>
          <p:nvPr/>
        </p:nvPicPr>
        <p:blipFill>
          <a:blip r:embed="rId4"/>
          <a:stretch>
            <a:fillRect/>
          </a:stretch>
        </p:blipFill>
        <p:spPr>
          <a:xfrm>
            <a:off x="9467698" y="2106778"/>
            <a:ext cx="358445" cy="358445"/>
          </a:xfrm>
          <a:prstGeom prst="rect">
            <a:avLst/>
          </a:prstGeom>
        </p:spPr>
      </p:pic>
      <p:sp>
        <p:nvSpPr>
          <p:cNvPr id="30" name="Text 24"/>
          <p:cNvSpPr txBox="1"/>
          <p:nvPr/>
        </p:nvSpPr>
        <p:spPr>
          <a:xfrm>
            <a:off x="9326880" y="2743200"/>
            <a:ext cx="2011680" cy="548640"/>
          </a:xfrm>
          <a:prstGeom prst="rect">
            <a:avLst/>
          </a:prstGeom>
          <a:noFill/>
          <a:ln/>
        </p:spPr>
        <p:txBody>
          <a:bodyPr wrap="square" lIns="0" tIns="0" rIns="0" bIns="0" rtlCol="0" anchor="t"/>
          <a:lstStyle/>
          <a:p>
            <a:pPr indent="0" marL="0">
              <a:buNone/>
            </a:pPr>
            <a:r>
              <a:rPr lang="en-US" sz="1700" b="1" dirty="0">
                <a:solidFill>
                  <a:schemeClr val="tx1"/>
                </a:solidFill>
              </a:rPr>
              <a:t>Persönlich verabschieden</a:t>
            </a:r>
            <a:endParaRPr lang="en-US" sz="1700" dirty="0"/>
          </a:p>
        </p:txBody>
      </p:sp>
      <p:sp>
        <p:nvSpPr>
          <p:cNvPr id="31" name="Text 25"/>
          <p:cNvSpPr txBox="1"/>
          <p:nvPr/>
        </p:nvSpPr>
        <p:spPr>
          <a:xfrm>
            <a:off x="9326880" y="3310128"/>
            <a:ext cx="2011680" cy="777240"/>
          </a:xfrm>
          <a:prstGeom prst="rect">
            <a:avLst/>
          </a:prstGeom>
          <a:noFill/>
          <a:ln/>
        </p:spPr>
        <p:txBody>
          <a:bodyPr wrap="square" lIns="0" tIns="0" rIns="0" bIns="0" rtlCol="0" anchor="t"/>
          <a:lstStyle/>
          <a:p>
            <a:pPr indent="0" marL="0">
              <a:buNone/>
            </a:pPr>
            <a:r>
              <a:rPr lang="en-US" sz="1500" i="1" dirty="0">
                <a:solidFill>
                  <a:schemeClr val="accent6"/>
                </a:solidFill>
              </a:rPr>
              <a:t>„Viel Spaß beim Laufen!“</a:t>
            </a:r>
            <a:endParaRPr lang="en-US" sz="1500" dirty="0"/>
          </a:p>
        </p:txBody>
      </p:sp>
      <p:sp>
        <p:nvSpPr>
          <p:cNvPr id="32" name="Karte"/>
          <p:cNvSpPr/>
          <p:nvPr/>
        </p:nvSpPr>
        <p:spPr>
          <a:xfrm>
            <a:off x="548640" y="4389120"/>
            <a:ext cx="11091672" cy="1691640"/>
          </a:xfrm>
          <a:prstGeom prst="roundRect">
            <a:avLst>
              <a:gd name="adj" fmla="val 6486"/>
            </a:avLst>
          </a:prstGeom>
          <a:solidFill>
            <a:schemeClr val="accent5"/>
          </a:solidFill>
          <a:ln/>
        </p:spPr>
      </p:sp>
      <p:pic>
        <p:nvPicPr>
          <p:cNvPr id="33" name="Image 4" descr="Kundenfigur Herr Yilmaz">    </p:cNvPr>
          <p:cNvPicPr>
            <a:picLocks noChangeAspect="1"/>
          </p:cNvPicPr>
          <p:nvPr/>
        </p:nvPicPr>
        <p:blipFill>
          <a:blip r:embed="rId5"/>
          <a:stretch>
            <a:fillRect/>
          </a:stretch>
        </p:blipFill>
        <p:spPr>
          <a:xfrm>
            <a:off x="822960" y="4526280"/>
            <a:ext cx="1417320" cy="1417320"/>
          </a:xfrm>
          <a:prstGeom prst="rect">
            <a:avLst/>
          </a:prstGeom>
        </p:spPr>
      </p:pic>
      <p:sp>
        <p:nvSpPr>
          <p:cNvPr id="34" name="Text 27"/>
          <p:cNvSpPr txBox="1"/>
          <p:nvPr/>
        </p:nvSpPr>
        <p:spPr>
          <a:xfrm>
            <a:off x="2468880" y="4617720"/>
            <a:ext cx="8869680" cy="731520"/>
          </a:xfrm>
          <a:prstGeom prst="rect">
            <a:avLst/>
          </a:prstGeom>
          <a:noFill/>
          <a:ln/>
        </p:spPr>
        <p:txBody>
          <a:bodyPr wrap="square" lIns="0" tIns="0" rIns="0" bIns="0" rtlCol="0" anchor="t"/>
          <a:lstStyle/>
          <a:p>
            <a:pPr indent="0" marL="0">
              <a:buNone/>
            </a:pPr>
            <a:r>
              <a:rPr lang="en-US" sz="1900" i="1" dirty="0">
                <a:solidFill>
                  <a:schemeClr val="tx1"/>
                </a:solidFill>
                <a:latin typeface="Century Schoolbook" pitchFamily="34" charset="0"/>
                <a:ea typeface="Century Schoolbook" pitchFamily="34" charset="-122"/>
                <a:cs typeface="Century Schoolbook" pitchFamily="34" charset="-120"/>
              </a:rPr>
              <a:t>„Vielen Dank und eine tolle Tour in den Bergen! Ich schließe Ihnen kurz die Tür auf.“</a:t>
            </a:r>
            <a:endParaRPr lang="en-US" sz="1900" dirty="0"/>
          </a:p>
        </p:txBody>
      </p:sp>
      <p:sp>
        <p:nvSpPr>
          <p:cNvPr id="35" name="Text 28"/>
          <p:cNvSpPr txBox="1"/>
          <p:nvPr/>
        </p:nvSpPr>
        <p:spPr>
          <a:xfrm>
            <a:off x="2468880" y="5394960"/>
            <a:ext cx="8869680" cy="457200"/>
          </a:xfrm>
          <a:prstGeom prst="rect">
            <a:avLst/>
          </a:prstGeom>
          <a:noFill/>
          <a:ln/>
        </p:spPr>
        <p:txBody>
          <a:bodyPr wrap="square" lIns="0" tIns="0" rIns="0" bIns="0" rtlCol="0" anchor="t"/>
          <a:lstStyle/>
          <a:p>
            <a:pPr indent="0" marL="0">
              <a:buNone/>
            </a:pPr>
            <a:r>
              <a:rPr lang="en-US" sz="1500" dirty="0">
                <a:solidFill>
                  <a:schemeClr val="accent6"/>
                </a:solidFill>
              </a:rPr>
              <a:t>Auch um 20:01 Uhr: persönlich, mit Bezug zum Kaufanlass. Kundenbindung entsteht am Schluss.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BESONDERE SITUATIONEN</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Jede Kundschaft braucht etwas anderes</a:t>
            </a:r>
            <a:endParaRPr lang="en-US" sz="3400" dirty="0"/>
          </a:p>
        </p:txBody>
      </p:sp>
      <p:sp>
        <p:nvSpPr>
          <p:cNvPr id="4" name="Karte"/>
          <p:cNvSpPr/>
          <p:nvPr/>
        </p:nvSpPr>
        <p:spPr>
          <a:xfrm>
            <a:off x="54864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5" name="Image 0" descr="Kundenfigur Herr Albers">    </p:cNvPr>
          <p:cNvPicPr>
            <a:picLocks noChangeAspect="1"/>
          </p:cNvPicPr>
          <p:nvPr/>
        </p:nvPicPr>
        <p:blipFill>
          <a:blip r:embed="rId1"/>
          <a:stretch>
            <a:fillRect/>
          </a:stretch>
        </p:blipFill>
        <p:spPr>
          <a:xfrm>
            <a:off x="1188720" y="1920240"/>
            <a:ext cx="1325880" cy="1325880"/>
          </a:xfrm>
          <a:prstGeom prst="rect">
            <a:avLst/>
          </a:prstGeom>
        </p:spPr>
      </p:pic>
      <p:sp>
        <p:nvSpPr>
          <p:cNvPr id="6" name="Text 3"/>
          <p:cNvSpPr txBox="1"/>
          <p:nvPr/>
        </p:nvSpPr>
        <p:spPr>
          <a:xfrm>
            <a:off x="777240" y="3383280"/>
            <a:ext cx="2148840" cy="365760"/>
          </a:xfrm>
          <a:prstGeom prst="rect">
            <a:avLst/>
          </a:prstGeom>
          <a:noFill/>
          <a:ln/>
        </p:spPr>
        <p:txBody>
          <a:bodyPr wrap="square" lIns="0" tIns="0" rIns="0" bIns="0" rtlCol="0" anchor="t"/>
          <a:lstStyle/>
          <a:p>
            <a:pPr algn="ctr" indent="0" marL="0">
              <a:buNone/>
            </a:pPr>
            <a:r>
              <a:rPr lang="en-US" sz="1700" b="1" dirty="0">
                <a:solidFill>
                  <a:schemeClr val="accent1"/>
                </a:solidFill>
              </a:rPr>
              <a:t>Älterer Kunde</a:t>
            </a:r>
            <a:endParaRPr lang="en-US" sz="1700" dirty="0"/>
          </a:p>
        </p:txBody>
      </p:sp>
      <p:sp>
        <p:nvSpPr>
          <p:cNvPr id="7" name="Text 4"/>
          <p:cNvSpPr txBox="1"/>
          <p:nvPr/>
        </p:nvSpPr>
        <p:spPr>
          <a:xfrm>
            <a:off x="777240" y="3730752"/>
            <a:ext cx="2148840" cy="292608"/>
          </a:xfrm>
          <a:prstGeom prst="rect">
            <a:avLst/>
          </a:prstGeom>
          <a:noFill/>
          <a:ln/>
        </p:spPr>
        <p:txBody>
          <a:bodyPr wrap="square" lIns="0" tIns="0" rIns="0" bIns="0" rtlCol="0" anchor="t"/>
          <a:lstStyle/>
          <a:p>
            <a:pPr algn="ctr" indent="0" marL="0">
              <a:buNone/>
            </a:pPr>
            <a:r>
              <a:rPr lang="en-US" sz="1300" dirty="0">
                <a:solidFill>
                  <a:schemeClr val="accent6"/>
                </a:solidFill>
              </a:rPr>
              <a:t>Herr Albers</a:t>
            </a:r>
            <a:endParaRPr lang="en-US" sz="1300" dirty="0"/>
          </a:p>
        </p:txBody>
      </p:sp>
      <p:sp>
        <p:nvSpPr>
          <p:cNvPr id="8" name="Text 5"/>
          <p:cNvSpPr txBox="1"/>
          <p:nvPr/>
        </p:nvSpPr>
        <p:spPr>
          <a:xfrm>
            <a:off x="777240" y="416052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langsam und deutlich sprechen</a:t>
            </a:r>
            <a:endParaRPr lang="en-US" sz="1400" dirty="0"/>
          </a:p>
          <a:p>
            <a:pPr marL="342900" indent="-342900">
              <a:spcAft>
                <a:spcPts val="600"/>
              </a:spcAft>
              <a:buSzPct val="100000"/>
              <a:buChar char="•"/>
            </a:pPr>
            <a:r>
              <a:rPr lang="en-US" sz="1400" dirty="0">
                <a:solidFill>
                  <a:schemeClr val="tx1"/>
                </a:solidFill>
              </a:rPr>
              <a:t>keine Fachbegriffe, Zeit lassen</a:t>
            </a:r>
            <a:endParaRPr lang="en-US" sz="1400" dirty="0"/>
          </a:p>
          <a:p>
            <a:pPr marL="342900" indent="-342900">
              <a:spcAft>
                <a:spcPts val="600"/>
              </a:spcAft>
              <a:buSzPct val="100000"/>
              <a:buChar char="•"/>
            </a:pPr>
            <a:r>
              <a:rPr lang="en-US" sz="1400" dirty="0">
                <a:solidFill>
                  <a:schemeClr val="tx1"/>
                </a:solidFill>
              </a:rPr>
              <a:t>Bedienung vorführen</a:t>
            </a:r>
            <a:endParaRPr lang="en-US" sz="1400" dirty="0"/>
          </a:p>
        </p:txBody>
      </p:sp>
      <p:sp>
        <p:nvSpPr>
          <p:cNvPr id="9" name="Karte"/>
          <p:cNvSpPr/>
          <p:nvPr/>
        </p:nvSpPr>
        <p:spPr>
          <a:xfrm>
            <a:off x="338328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10" name="Image 1" descr="Kundenfigur Herr Yilmaz">    </p:cNvPr>
          <p:cNvPicPr>
            <a:picLocks noChangeAspect="1"/>
          </p:cNvPicPr>
          <p:nvPr/>
        </p:nvPicPr>
        <p:blipFill>
          <a:blip r:embed="rId2"/>
          <a:stretch>
            <a:fillRect/>
          </a:stretch>
        </p:blipFill>
        <p:spPr>
          <a:xfrm>
            <a:off x="4023360" y="1920240"/>
            <a:ext cx="1325880" cy="1325880"/>
          </a:xfrm>
          <a:prstGeom prst="rect">
            <a:avLst/>
          </a:prstGeom>
        </p:spPr>
      </p:pic>
      <p:sp>
        <p:nvSpPr>
          <p:cNvPr id="11" name="Text 7"/>
          <p:cNvSpPr txBox="1"/>
          <p:nvPr/>
        </p:nvSpPr>
        <p:spPr>
          <a:xfrm>
            <a:off x="3611880" y="3383280"/>
            <a:ext cx="2148840" cy="365760"/>
          </a:xfrm>
          <a:prstGeom prst="rect">
            <a:avLst/>
          </a:prstGeom>
          <a:noFill/>
          <a:ln/>
        </p:spPr>
        <p:txBody>
          <a:bodyPr wrap="square" lIns="0" tIns="0" rIns="0" bIns="0" rtlCol="0" anchor="t"/>
          <a:lstStyle/>
          <a:p>
            <a:pPr algn="ctr" indent="0" marL="0">
              <a:buNone/>
            </a:pPr>
            <a:r>
              <a:rPr lang="en-US" sz="1700" b="1" dirty="0">
                <a:solidFill>
                  <a:schemeClr val="accent1"/>
                </a:solidFill>
              </a:rPr>
              <a:t>Kurz vor Ladenschluss</a:t>
            </a:r>
            <a:endParaRPr lang="en-US" sz="1700" dirty="0"/>
          </a:p>
        </p:txBody>
      </p:sp>
      <p:sp>
        <p:nvSpPr>
          <p:cNvPr id="12" name="Text 8"/>
          <p:cNvSpPr txBox="1"/>
          <p:nvPr/>
        </p:nvSpPr>
        <p:spPr>
          <a:xfrm>
            <a:off x="3611880" y="3730752"/>
            <a:ext cx="2148840" cy="292608"/>
          </a:xfrm>
          <a:prstGeom prst="rect">
            <a:avLst/>
          </a:prstGeom>
          <a:noFill/>
          <a:ln/>
        </p:spPr>
        <p:txBody>
          <a:bodyPr wrap="square" lIns="0" tIns="0" rIns="0" bIns="0" rtlCol="0" anchor="t"/>
          <a:lstStyle/>
          <a:p>
            <a:pPr algn="ctr" indent="0" marL="0">
              <a:buNone/>
            </a:pPr>
            <a:r>
              <a:rPr lang="en-US" sz="1300" dirty="0">
                <a:solidFill>
                  <a:schemeClr val="accent6"/>
                </a:solidFill>
              </a:rPr>
              <a:t>Herr Yilmaz</a:t>
            </a:r>
            <a:endParaRPr lang="en-US" sz="1300" dirty="0"/>
          </a:p>
        </p:txBody>
      </p:sp>
      <p:sp>
        <p:nvSpPr>
          <p:cNvPr id="13" name="Text 9"/>
          <p:cNvSpPr txBox="1"/>
          <p:nvPr/>
        </p:nvSpPr>
        <p:spPr>
          <a:xfrm>
            <a:off x="3611880" y="416052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bis zur letzten Minute willkommen</a:t>
            </a:r>
            <a:endParaRPr lang="en-US" sz="1400" dirty="0"/>
          </a:p>
          <a:p>
            <a:pPr marL="342900" indent="-342900">
              <a:spcAft>
                <a:spcPts val="600"/>
              </a:spcAft>
              <a:buSzPct val="100000"/>
              <a:buChar char="•"/>
            </a:pPr>
            <a:r>
              <a:rPr lang="en-US" sz="1400" dirty="0">
                <a:solidFill>
                  <a:schemeClr val="tx1"/>
                </a:solidFill>
              </a:rPr>
              <a:t>gezielt fragen, ein Artikel</a:t>
            </a:r>
            <a:endParaRPr lang="en-US" sz="1400" dirty="0"/>
          </a:p>
          <a:p>
            <a:pPr marL="342900" indent="-342900">
              <a:spcAft>
                <a:spcPts val="600"/>
              </a:spcAft>
              <a:buSzPct val="100000"/>
              <a:buChar char="•"/>
            </a:pPr>
            <a:r>
              <a:rPr lang="en-US" sz="1400" dirty="0">
                <a:solidFill>
                  <a:schemeClr val="tx1"/>
                </a:solidFill>
              </a:rPr>
              <a:t>Zeitdruck nie weitergeben</a:t>
            </a:r>
            <a:endParaRPr lang="en-US" sz="1400" dirty="0"/>
          </a:p>
        </p:txBody>
      </p:sp>
      <p:sp>
        <p:nvSpPr>
          <p:cNvPr id="14" name="Karte"/>
          <p:cNvSpPr/>
          <p:nvPr/>
        </p:nvSpPr>
        <p:spPr>
          <a:xfrm>
            <a:off x="621792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15" name="Image 2" descr="Kundenfigur Herr Brenner">    </p:cNvPr>
          <p:cNvPicPr>
            <a:picLocks noChangeAspect="1"/>
          </p:cNvPicPr>
          <p:nvPr/>
        </p:nvPicPr>
        <p:blipFill>
          <a:blip r:embed="rId3"/>
          <a:stretch>
            <a:fillRect/>
          </a:stretch>
        </p:blipFill>
        <p:spPr>
          <a:xfrm>
            <a:off x="6858000" y="1920240"/>
            <a:ext cx="1325880" cy="1325880"/>
          </a:xfrm>
          <a:prstGeom prst="rect">
            <a:avLst/>
          </a:prstGeom>
        </p:spPr>
      </p:pic>
      <p:sp>
        <p:nvSpPr>
          <p:cNvPr id="16" name="Text 11"/>
          <p:cNvSpPr txBox="1"/>
          <p:nvPr/>
        </p:nvSpPr>
        <p:spPr>
          <a:xfrm>
            <a:off x="6446520" y="3383280"/>
            <a:ext cx="2148840" cy="365760"/>
          </a:xfrm>
          <a:prstGeom prst="rect">
            <a:avLst/>
          </a:prstGeom>
          <a:noFill/>
          <a:ln/>
        </p:spPr>
        <p:txBody>
          <a:bodyPr wrap="square" lIns="0" tIns="0" rIns="0" bIns="0" rtlCol="0" anchor="t"/>
          <a:lstStyle/>
          <a:p>
            <a:pPr algn="ctr" indent="0" marL="0">
              <a:buNone/>
            </a:pPr>
            <a:r>
              <a:rPr lang="en-US" sz="1700" b="1" dirty="0">
                <a:solidFill>
                  <a:schemeClr val="accent1"/>
                </a:solidFill>
              </a:rPr>
              <a:t>Schwieriger Kunde</a:t>
            </a:r>
            <a:endParaRPr lang="en-US" sz="1700" dirty="0"/>
          </a:p>
        </p:txBody>
      </p:sp>
      <p:sp>
        <p:nvSpPr>
          <p:cNvPr id="17" name="Text 12"/>
          <p:cNvSpPr txBox="1"/>
          <p:nvPr/>
        </p:nvSpPr>
        <p:spPr>
          <a:xfrm>
            <a:off x="6446520" y="3730752"/>
            <a:ext cx="2148840" cy="292608"/>
          </a:xfrm>
          <a:prstGeom prst="rect">
            <a:avLst/>
          </a:prstGeom>
          <a:noFill/>
          <a:ln/>
        </p:spPr>
        <p:txBody>
          <a:bodyPr wrap="square" lIns="0" tIns="0" rIns="0" bIns="0" rtlCol="0" anchor="t"/>
          <a:lstStyle/>
          <a:p>
            <a:pPr algn="ctr" indent="0" marL="0">
              <a:buNone/>
            </a:pPr>
            <a:r>
              <a:rPr lang="en-US" sz="1300" dirty="0">
                <a:solidFill>
                  <a:schemeClr val="accent6"/>
                </a:solidFill>
              </a:rPr>
              <a:t>Herr Brenner</a:t>
            </a:r>
            <a:endParaRPr lang="en-US" sz="1300" dirty="0"/>
          </a:p>
        </p:txBody>
      </p:sp>
      <p:sp>
        <p:nvSpPr>
          <p:cNvPr id="18" name="Text 13"/>
          <p:cNvSpPr txBox="1"/>
          <p:nvPr/>
        </p:nvSpPr>
        <p:spPr>
          <a:xfrm>
            <a:off x="6446520" y="416052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sachlich bleiben</a:t>
            </a:r>
            <a:endParaRPr lang="en-US" sz="1400" dirty="0"/>
          </a:p>
          <a:p>
            <a:pPr marL="342900" indent="-342900">
              <a:spcAft>
                <a:spcPts val="600"/>
              </a:spcAft>
              <a:buSzPct val="100000"/>
              <a:buChar char="•"/>
            </a:pPr>
            <a:r>
              <a:rPr lang="en-US" sz="1400" dirty="0">
                <a:solidFill>
                  <a:schemeClr val="tx1"/>
                </a:solidFill>
              </a:rPr>
              <a:t>Vorwissen anerkennen</a:t>
            </a:r>
            <a:endParaRPr lang="en-US" sz="1400" dirty="0"/>
          </a:p>
          <a:p>
            <a:pPr marL="342900" indent="-342900">
              <a:spcAft>
                <a:spcPts val="600"/>
              </a:spcAft>
              <a:buSzPct val="100000"/>
              <a:buChar char="•"/>
            </a:pPr>
            <a:r>
              <a:rPr lang="en-US" sz="1400" dirty="0">
                <a:solidFill>
                  <a:schemeClr val="tx1"/>
                </a:solidFill>
              </a:rPr>
              <a:t>Fakten belegen, Service betonen</a:t>
            </a:r>
            <a:endParaRPr lang="en-US" sz="1400" dirty="0"/>
          </a:p>
        </p:txBody>
      </p:sp>
      <p:sp>
        <p:nvSpPr>
          <p:cNvPr id="19" name="Karte"/>
          <p:cNvSpPr/>
          <p:nvPr/>
        </p:nvSpPr>
        <p:spPr>
          <a:xfrm>
            <a:off x="905256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20" name="Image 3" descr="Kundenfigur Lea">    </p:cNvPr>
          <p:cNvPicPr>
            <a:picLocks noChangeAspect="1"/>
          </p:cNvPicPr>
          <p:nvPr/>
        </p:nvPicPr>
        <p:blipFill>
          <a:blip r:embed="rId4"/>
          <a:stretch>
            <a:fillRect/>
          </a:stretch>
        </p:blipFill>
        <p:spPr>
          <a:xfrm>
            <a:off x="9692640" y="1920240"/>
            <a:ext cx="1325880" cy="1325880"/>
          </a:xfrm>
          <a:prstGeom prst="rect">
            <a:avLst/>
          </a:prstGeom>
        </p:spPr>
      </p:pic>
      <p:sp>
        <p:nvSpPr>
          <p:cNvPr id="21" name="Text 15"/>
          <p:cNvSpPr txBox="1"/>
          <p:nvPr/>
        </p:nvSpPr>
        <p:spPr>
          <a:xfrm>
            <a:off x="9281160" y="3383280"/>
            <a:ext cx="2148840" cy="365760"/>
          </a:xfrm>
          <a:prstGeom prst="rect">
            <a:avLst/>
          </a:prstGeom>
          <a:noFill/>
          <a:ln/>
        </p:spPr>
        <p:txBody>
          <a:bodyPr wrap="square" lIns="0" tIns="0" rIns="0" bIns="0" rtlCol="0" anchor="t"/>
          <a:lstStyle/>
          <a:p>
            <a:pPr algn="ctr" indent="0" marL="0">
              <a:buNone/>
            </a:pPr>
            <a:r>
              <a:rPr lang="en-US" sz="1700" b="1" dirty="0">
                <a:solidFill>
                  <a:schemeClr val="accent1"/>
                </a:solidFill>
              </a:rPr>
              <a:t>Unentschlossen</a:t>
            </a:r>
            <a:endParaRPr lang="en-US" sz="1700" dirty="0"/>
          </a:p>
        </p:txBody>
      </p:sp>
      <p:sp>
        <p:nvSpPr>
          <p:cNvPr id="22" name="Text 16"/>
          <p:cNvSpPr txBox="1"/>
          <p:nvPr/>
        </p:nvSpPr>
        <p:spPr>
          <a:xfrm>
            <a:off x="9281160" y="3730752"/>
            <a:ext cx="2148840" cy="292608"/>
          </a:xfrm>
          <a:prstGeom prst="rect">
            <a:avLst/>
          </a:prstGeom>
          <a:noFill/>
          <a:ln/>
        </p:spPr>
        <p:txBody>
          <a:bodyPr wrap="square" lIns="0" tIns="0" rIns="0" bIns="0" rtlCol="0" anchor="t"/>
          <a:lstStyle/>
          <a:p>
            <a:pPr algn="ctr" indent="0" marL="0">
              <a:buNone/>
            </a:pPr>
            <a:r>
              <a:rPr lang="en-US" sz="1300" dirty="0">
                <a:solidFill>
                  <a:schemeClr val="accent6"/>
                </a:solidFill>
              </a:rPr>
              <a:t>Lea</a:t>
            </a:r>
            <a:endParaRPr lang="en-US" sz="1300" dirty="0"/>
          </a:p>
        </p:txBody>
      </p:sp>
      <p:sp>
        <p:nvSpPr>
          <p:cNvPr id="23" name="Text 17"/>
          <p:cNvSpPr txBox="1"/>
          <p:nvPr/>
        </p:nvSpPr>
        <p:spPr>
          <a:xfrm>
            <a:off x="9281160" y="416052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Geduld, nicht drängen</a:t>
            </a:r>
            <a:endParaRPr lang="en-US" sz="1400" dirty="0"/>
          </a:p>
          <a:p>
            <a:pPr marL="342900" indent="-342900">
              <a:spcAft>
                <a:spcPts val="600"/>
              </a:spcAft>
              <a:buSzPct val="100000"/>
              <a:buChar char="•"/>
            </a:pPr>
            <a:r>
              <a:rPr lang="en-US" sz="1400" dirty="0">
                <a:solidFill>
                  <a:schemeClr val="tx1"/>
                </a:solidFill>
              </a:rPr>
              <a:t>Auswahl begrenzen</a:t>
            </a:r>
            <a:endParaRPr lang="en-US" sz="1400" dirty="0"/>
          </a:p>
          <a:p>
            <a:pPr marL="342900" indent="-342900">
              <a:spcAft>
                <a:spcPts val="600"/>
              </a:spcAft>
              <a:buSzPct val="100000"/>
              <a:buChar char="•"/>
            </a:pPr>
            <a:r>
              <a:rPr lang="en-US" sz="1400" dirty="0">
                <a:solidFill>
                  <a:schemeClr val="tx1"/>
                </a:solidFill>
              </a:rPr>
              <a:t>Kaufrisiko nehmen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DIE APP</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Fünf Szenarien warten auf Sie</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863840" cy="914400"/>
        </p:xfrm>
        <a:graphic>
          <a:graphicData uri="http://schemas.openxmlformats.org/drawingml/2006/table">
            <a:tbl>
              <a:tblPr/>
              <a:tblGrid>
                <a:gridCol w="2743200"/>
                <a:gridCol w="2377440"/>
                <a:gridCol w="1828800"/>
                <a:gridCol w="91440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Szenario</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Kundschaft</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Geschäft</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Stufe</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E"/>
                    </a:solidFill>
                  </a:tcPr>
                </a:tc>
              </a:tr>
              <a:tr h="640080">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Laufschuhe für die Einsteigerin</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Frau Becker, Einsteigerin</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Sporthaus Laufwerk</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leicht</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Das erste Smartphone</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Herr Albers, 78 Jahre</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Elektro Brandt</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mittel</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Regenjacke um 19:52 Uhr</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Herr Yilmaz, in Eile</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Modehaus Krüger</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mittel</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Ein Duft für Mama</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Lea, unentschlossen</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Parfümerie Duftwerk</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mittel</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Der Testsieger-Kenner</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Herr Brenner, Besserwisser</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Küchenwelt Hansen</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rgbClr val="18202B"/>
                          </a:solidFill>
                          <a:latin typeface="Calibri" pitchFamily="34" charset="0"/>
                          <a:ea typeface="Calibri" pitchFamily="34" charset="-122"/>
                          <a:cs typeface="Calibri" pitchFamily="34" charset="-120"/>
                        </a:rPr>
                        <a:t>schwer</a:t>
                      </a:r>
                      <a:endParaRPr lang="en-US" sz="1400" dirty="0">
                        <a:latin typeface="Calibri" charset="0"/>
                        <a:ea typeface="Calibri" charset="0"/>
                        <a:cs typeface="Calibri" charset="0"/>
                      </a:endParaRPr>
                    </a:p>
                  </a:txBody>
                  <a:tcPr marL="109728" marR="109728"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Karte"/>
          <p:cNvSpPr/>
          <p:nvPr/>
        </p:nvSpPr>
        <p:spPr>
          <a:xfrm>
            <a:off x="8778240" y="1737360"/>
            <a:ext cx="2862072" cy="3840480"/>
          </a:xfrm>
          <a:prstGeom prst="roundRect">
            <a:avLst>
              <a:gd name="adj" fmla="val 3834"/>
            </a:avLst>
          </a:prstGeom>
          <a:solidFill>
            <a:schemeClr val="tx2"/>
          </a:solidFill>
          <a:ln/>
          <a:effectLst>
            <a:outerShdw sx="100000" sy="100000" kx="0" ky="0" algn="bl" rotWithShape="0" blurRad="101600" dist="25400" dir="5400000">
              <a:srgbClr val="18202B">
                <a:alpha val="12000"/>
              </a:srgbClr>
            </a:outerShdw>
          </a:effectLst>
        </p:spPr>
      </p:sp>
      <p:pic>
        <p:nvPicPr>
          <p:cNvPr id="6" name="Image 0" descr="Kundenfigur Frau Becker">    </p:cNvPr>
          <p:cNvPicPr>
            <a:picLocks noChangeAspect="1"/>
          </p:cNvPicPr>
          <p:nvPr/>
        </p:nvPicPr>
        <p:blipFill>
          <a:blip r:embed="rId1"/>
          <a:stretch>
            <a:fillRect/>
          </a:stretch>
        </p:blipFill>
        <p:spPr>
          <a:xfrm>
            <a:off x="9509760" y="1920240"/>
            <a:ext cx="1417320" cy="1417320"/>
          </a:xfrm>
          <a:prstGeom prst="rect">
            <a:avLst/>
          </a:prstGeom>
        </p:spPr>
      </p:pic>
      <p:sp>
        <p:nvSpPr>
          <p:cNvPr id="7" name="Text 3"/>
          <p:cNvSpPr txBox="1"/>
          <p:nvPr/>
        </p:nvSpPr>
        <p:spPr>
          <a:xfrm>
            <a:off x="9052560" y="3520440"/>
            <a:ext cx="2331720" cy="1463040"/>
          </a:xfrm>
          <a:prstGeom prst="rect">
            <a:avLst/>
          </a:prstGeom>
          <a:noFill/>
          <a:ln/>
        </p:spPr>
        <p:txBody>
          <a:bodyPr wrap="square" lIns="0" tIns="0" rIns="0" bIns="0" rtlCol="0" anchor="t"/>
          <a:lstStyle/>
          <a:p>
            <a:pPr indent="0" marL="0">
              <a:buNone/>
            </a:pPr>
            <a:r>
              <a:rPr lang="en-US" sz="1600" dirty="0">
                <a:solidFill>
                  <a:schemeClr val="bg1"/>
                </a:solidFill>
              </a:rPr>
              <a:t>Jede Figur spricht, reagiert auf Ihre Antworten und zeigt ihre Laune.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ANLEITUNG</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So üben Sie mit der App</a:t>
            </a:r>
            <a:endParaRPr lang="en-US" sz="3400" dirty="0"/>
          </a:p>
        </p:txBody>
      </p:sp>
      <p:sp>
        <p:nvSpPr>
          <p:cNvPr id="4" name="Karte"/>
          <p:cNvSpPr/>
          <p:nvPr/>
        </p:nvSpPr>
        <p:spPr>
          <a:xfrm>
            <a:off x="548640" y="1737360"/>
            <a:ext cx="2606040" cy="310896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sp>
        <p:nvSpPr>
          <p:cNvPr id="5" name="Symbolkreis"/>
          <p:cNvSpPr/>
          <p:nvPr/>
        </p:nvSpPr>
        <p:spPr>
          <a:xfrm>
            <a:off x="822960" y="1965960"/>
            <a:ext cx="685800" cy="685800"/>
          </a:xfrm>
          <a:prstGeom prst="ellipse">
            <a:avLst/>
          </a:prstGeom>
          <a:solidFill>
            <a:schemeClr val="accent5"/>
          </a:solidFill>
          <a:ln/>
        </p:spPr>
      </p:sp>
      <p:pic>
        <p:nvPicPr>
          <p:cNvPr id="6" name="Image 0" descr="Symbol">    </p:cNvPr>
          <p:cNvPicPr>
            <a:picLocks noChangeAspect="1"/>
          </p:cNvPicPr>
          <p:nvPr/>
        </p:nvPicPr>
        <p:blipFill>
          <a:blip r:embed="rId1"/>
          <a:stretch>
            <a:fillRect/>
          </a:stretch>
        </p:blipFill>
        <p:spPr>
          <a:xfrm>
            <a:off x="973836" y="2116836"/>
            <a:ext cx="384048" cy="384048"/>
          </a:xfrm>
          <a:prstGeom prst="rect">
            <a:avLst/>
          </a:prstGeom>
        </p:spPr>
      </p:pic>
      <p:sp>
        <p:nvSpPr>
          <p:cNvPr id="7" name="Text 4"/>
          <p:cNvSpPr txBox="1"/>
          <p:nvPr/>
        </p:nvSpPr>
        <p:spPr>
          <a:xfrm>
            <a:off x="822960" y="2834640"/>
            <a:ext cx="2057400" cy="411480"/>
          </a:xfrm>
          <a:prstGeom prst="rect">
            <a:avLst/>
          </a:prstGeom>
          <a:noFill/>
          <a:ln/>
        </p:spPr>
        <p:txBody>
          <a:bodyPr wrap="square" lIns="0" tIns="0" rIns="0" bIns="0" rtlCol="0" anchor="t"/>
          <a:lstStyle/>
          <a:p>
            <a:pPr indent="0" marL="0">
              <a:buNone/>
            </a:pPr>
            <a:r>
              <a:rPr lang="en-US" sz="1800" b="1" dirty="0">
                <a:solidFill>
                  <a:schemeClr val="tx1"/>
                </a:solidFill>
              </a:rPr>
              <a:t>1. Öffnen</a:t>
            </a:r>
            <a:endParaRPr lang="en-US" sz="1800" dirty="0"/>
          </a:p>
        </p:txBody>
      </p:sp>
      <p:sp>
        <p:nvSpPr>
          <p:cNvPr id="8" name="Text 5"/>
          <p:cNvSpPr txBox="1"/>
          <p:nvPr/>
        </p:nvSpPr>
        <p:spPr>
          <a:xfrm>
            <a:off x="822960" y="3291840"/>
            <a:ext cx="2057400" cy="1371600"/>
          </a:xfrm>
          <a:prstGeom prst="rect">
            <a:avLst/>
          </a:prstGeom>
          <a:noFill/>
          <a:ln/>
        </p:spPr>
        <p:txBody>
          <a:bodyPr wrap="square" lIns="0" tIns="0" rIns="0" bIns="0" rtlCol="0" anchor="t"/>
          <a:lstStyle/>
          <a:p>
            <a:pPr indent="0" marL="0">
              <a:buNone/>
            </a:pPr>
            <a:r>
              <a:rPr lang="en-US" sz="1400" dirty="0">
                <a:solidFill>
                  <a:schemeClr val="accent6"/>
                </a:solidFill>
              </a:rPr>
              <a:t>Link per AirDrop annehmen. Er öffnet sich in Safari, ohne Anmeldung.</a:t>
            </a:r>
            <a:endParaRPr lang="en-US" sz="1400" dirty="0"/>
          </a:p>
        </p:txBody>
      </p:sp>
      <p:sp>
        <p:nvSpPr>
          <p:cNvPr id="9" name="Karte"/>
          <p:cNvSpPr/>
          <p:nvPr/>
        </p:nvSpPr>
        <p:spPr>
          <a:xfrm>
            <a:off x="3383280" y="1737360"/>
            <a:ext cx="2606040" cy="310896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sp>
        <p:nvSpPr>
          <p:cNvPr id="10" name="Symbolkreis"/>
          <p:cNvSpPr/>
          <p:nvPr/>
        </p:nvSpPr>
        <p:spPr>
          <a:xfrm>
            <a:off x="3657600" y="1965960"/>
            <a:ext cx="685800" cy="685800"/>
          </a:xfrm>
          <a:prstGeom prst="ellipse">
            <a:avLst/>
          </a:prstGeom>
          <a:solidFill>
            <a:schemeClr val="accent5"/>
          </a:solidFill>
          <a:ln/>
        </p:spPr>
      </p:sp>
      <p:pic>
        <p:nvPicPr>
          <p:cNvPr id="11" name="Image 1" descr="Symbol">    </p:cNvPr>
          <p:cNvPicPr>
            <a:picLocks noChangeAspect="1"/>
          </p:cNvPicPr>
          <p:nvPr/>
        </p:nvPicPr>
        <p:blipFill>
          <a:blip r:embed="rId2"/>
          <a:stretch>
            <a:fillRect/>
          </a:stretch>
        </p:blipFill>
        <p:spPr>
          <a:xfrm>
            <a:off x="3808476" y="2116836"/>
            <a:ext cx="384048" cy="384048"/>
          </a:xfrm>
          <a:prstGeom prst="rect">
            <a:avLst/>
          </a:prstGeom>
        </p:spPr>
      </p:pic>
      <p:sp>
        <p:nvSpPr>
          <p:cNvPr id="12" name="Text 8"/>
          <p:cNvSpPr txBox="1"/>
          <p:nvPr/>
        </p:nvSpPr>
        <p:spPr>
          <a:xfrm>
            <a:off x="3657600" y="2834640"/>
            <a:ext cx="2057400" cy="411480"/>
          </a:xfrm>
          <a:prstGeom prst="rect">
            <a:avLst/>
          </a:prstGeom>
          <a:noFill/>
          <a:ln/>
        </p:spPr>
        <p:txBody>
          <a:bodyPr wrap="square" lIns="0" tIns="0" rIns="0" bIns="0" rtlCol="0" anchor="t"/>
          <a:lstStyle/>
          <a:p>
            <a:pPr indent="0" marL="0">
              <a:buNone/>
            </a:pPr>
            <a:r>
              <a:rPr lang="en-US" sz="1800" b="1" dirty="0">
                <a:solidFill>
                  <a:schemeClr val="tx1"/>
                </a:solidFill>
              </a:rPr>
              <a:t>2. Szenario wählen</a:t>
            </a:r>
            <a:endParaRPr lang="en-US" sz="1800" dirty="0"/>
          </a:p>
        </p:txBody>
      </p:sp>
      <p:sp>
        <p:nvSpPr>
          <p:cNvPr id="13" name="Text 9"/>
          <p:cNvSpPr txBox="1"/>
          <p:nvPr/>
        </p:nvSpPr>
        <p:spPr>
          <a:xfrm>
            <a:off x="3657600" y="3291840"/>
            <a:ext cx="2057400" cy="1371600"/>
          </a:xfrm>
          <a:prstGeom prst="rect">
            <a:avLst/>
          </a:prstGeom>
          <a:noFill/>
          <a:ln/>
        </p:spPr>
        <p:txBody>
          <a:bodyPr wrap="square" lIns="0" tIns="0" rIns="0" bIns="0" rtlCol="0" anchor="t"/>
          <a:lstStyle/>
          <a:p>
            <a:pPr indent="0" marL="0">
              <a:buNone/>
            </a:pPr>
            <a:r>
              <a:rPr lang="en-US" sz="1400" dirty="0">
                <a:solidFill>
                  <a:schemeClr val="accent6"/>
                </a:solidFill>
              </a:rPr>
              <a:t>Mit „Laufschuhe“ anfangen, dann steigern.</a:t>
            </a:r>
            <a:endParaRPr lang="en-US" sz="1400" dirty="0"/>
          </a:p>
        </p:txBody>
      </p:sp>
      <p:sp>
        <p:nvSpPr>
          <p:cNvPr id="14" name="Karte"/>
          <p:cNvSpPr/>
          <p:nvPr/>
        </p:nvSpPr>
        <p:spPr>
          <a:xfrm>
            <a:off x="6217920" y="1737360"/>
            <a:ext cx="2606040" cy="310896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sp>
        <p:nvSpPr>
          <p:cNvPr id="15" name="Symbolkreis"/>
          <p:cNvSpPr/>
          <p:nvPr/>
        </p:nvSpPr>
        <p:spPr>
          <a:xfrm>
            <a:off x="6492240" y="1965960"/>
            <a:ext cx="685800" cy="685800"/>
          </a:xfrm>
          <a:prstGeom prst="ellipse">
            <a:avLst/>
          </a:prstGeom>
          <a:solidFill>
            <a:schemeClr val="accent5"/>
          </a:solidFill>
          <a:ln/>
        </p:spPr>
      </p:sp>
      <p:pic>
        <p:nvPicPr>
          <p:cNvPr id="16" name="Image 2" descr="Symbol">    </p:cNvPr>
          <p:cNvPicPr>
            <a:picLocks noChangeAspect="1"/>
          </p:cNvPicPr>
          <p:nvPr/>
        </p:nvPicPr>
        <p:blipFill>
          <a:blip r:embed="rId3"/>
          <a:stretch>
            <a:fillRect/>
          </a:stretch>
        </p:blipFill>
        <p:spPr>
          <a:xfrm>
            <a:off x="6643116" y="2116836"/>
            <a:ext cx="384048" cy="384048"/>
          </a:xfrm>
          <a:prstGeom prst="rect">
            <a:avLst/>
          </a:prstGeom>
        </p:spPr>
      </p:pic>
      <p:sp>
        <p:nvSpPr>
          <p:cNvPr id="17" name="Text 12"/>
          <p:cNvSpPr txBox="1"/>
          <p:nvPr/>
        </p:nvSpPr>
        <p:spPr>
          <a:xfrm>
            <a:off x="6492240" y="2834640"/>
            <a:ext cx="2057400" cy="411480"/>
          </a:xfrm>
          <a:prstGeom prst="rect">
            <a:avLst/>
          </a:prstGeom>
          <a:noFill/>
          <a:ln/>
        </p:spPr>
        <p:txBody>
          <a:bodyPr wrap="square" lIns="0" tIns="0" rIns="0" bIns="0" rtlCol="0" anchor="t"/>
          <a:lstStyle/>
          <a:p>
            <a:pPr indent="0" marL="0">
              <a:buNone/>
            </a:pPr>
            <a:r>
              <a:rPr lang="en-US" sz="1800" b="1" dirty="0">
                <a:solidFill>
                  <a:schemeClr val="tx1"/>
                </a:solidFill>
              </a:rPr>
              <a:t>3. Modus wählen</a:t>
            </a:r>
            <a:endParaRPr lang="en-US" sz="1800" dirty="0"/>
          </a:p>
        </p:txBody>
      </p:sp>
      <p:sp>
        <p:nvSpPr>
          <p:cNvPr id="18" name="Text 13"/>
          <p:cNvSpPr txBox="1"/>
          <p:nvPr/>
        </p:nvSpPr>
        <p:spPr>
          <a:xfrm>
            <a:off x="6492240" y="3291840"/>
            <a:ext cx="2057400" cy="1371600"/>
          </a:xfrm>
          <a:prstGeom prst="rect">
            <a:avLst/>
          </a:prstGeom>
          <a:noFill/>
          <a:ln/>
        </p:spPr>
        <p:txBody>
          <a:bodyPr wrap="square" lIns="0" tIns="0" rIns="0" bIns="0" rtlCol="0" anchor="t"/>
          <a:lstStyle/>
          <a:p>
            <a:pPr indent="0" marL="0">
              <a:buNone/>
            </a:pPr>
            <a:r>
              <a:rPr lang="en-US" sz="1400" dirty="0">
                <a:solidFill>
                  <a:schemeClr val="accent6"/>
                </a:solidFill>
              </a:rPr>
              <a:t>Übung: Feedback sofort. Prüfung: Feedback erst am Ende.</a:t>
            </a:r>
            <a:endParaRPr lang="en-US" sz="1400" dirty="0"/>
          </a:p>
        </p:txBody>
      </p:sp>
      <p:sp>
        <p:nvSpPr>
          <p:cNvPr id="19" name="Karte"/>
          <p:cNvSpPr/>
          <p:nvPr/>
        </p:nvSpPr>
        <p:spPr>
          <a:xfrm>
            <a:off x="9052560" y="1737360"/>
            <a:ext cx="2606040" cy="310896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sp>
        <p:nvSpPr>
          <p:cNvPr id="20" name="Symbolkreis"/>
          <p:cNvSpPr/>
          <p:nvPr/>
        </p:nvSpPr>
        <p:spPr>
          <a:xfrm>
            <a:off x="9326880" y="1965960"/>
            <a:ext cx="685800" cy="685800"/>
          </a:xfrm>
          <a:prstGeom prst="ellipse">
            <a:avLst/>
          </a:prstGeom>
          <a:solidFill>
            <a:schemeClr val="accent5"/>
          </a:solidFill>
          <a:ln/>
        </p:spPr>
      </p:sp>
      <p:pic>
        <p:nvPicPr>
          <p:cNvPr id="21" name="Image 3" descr="Symbol">    </p:cNvPr>
          <p:cNvPicPr>
            <a:picLocks noChangeAspect="1"/>
          </p:cNvPicPr>
          <p:nvPr/>
        </p:nvPicPr>
        <p:blipFill>
          <a:blip r:embed="rId4"/>
          <a:stretch>
            <a:fillRect/>
          </a:stretch>
        </p:blipFill>
        <p:spPr>
          <a:xfrm>
            <a:off x="9477756" y="2116836"/>
            <a:ext cx="384048" cy="384048"/>
          </a:xfrm>
          <a:prstGeom prst="rect">
            <a:avLst/>
          </a:prstGeom>
        </p:spPr>
      </p:pic>
      <p:sp>
        <p:nvSpPr>
          <p:cNvPr id="22" name="Text 16"/>
          <p:cNvSpPr txBox="1"/>
          <p:nvPr/>
        </p:nvSpPr>
        <p:spPr>
          <a:xfrm>
            <a:off x="9326880" y="2834640"/>
            <a:ext cx="2057400" cy="411480"/>
          </a:xfrm>
          <a:prstGeom prst="rect">
            <a:avLst/>
          </a:prstGeom>
          <a:noFill/>
          <a:ln/>
        </p:spPr>
        <p:txBody>
          <a:bodyPr wrap="square" lIns="0" tIns="0" rIns="0" bIns="0" rtlCol="0" anchor="t"/>
          <a:lstStyle/>
          <a:p>
            <a:pPr indent="0" marL="0">
              <a:buNone/>
            </a:pPr>
            <a:r>
              <a:rPr lang="en-US" sz="1800" b="1" dirty="0">
                <a:solidFill>
                  <a:schemeClr val="tx1"/>
                </a:solidFill>
              </a:rPr>
              <a:t>4. Auswertung lesen</a:t>
            </a:r>
            <a:endParaRPr lang="en-US" sz="1800" dirty="0"/>
          </a:p>
        </p:txBody>
      </p:sp>
      <p:sp>
        <p:nvSpPr>
          <p:cNvPr id="23" name="Text 17"/>
          <p:cNvSpPr txBox="1"/>
          <p:nvPr/>
        </p:nvSpPr>
        <p:spPr>
          <a:xfrm>
            <a:off x="9326880" y="3291840"/>
            <a:ext cx="2057400" cy="1371600"/>
          </a:xfrm>
          <a:prstGeom prst="rect">
            <a:avLst/>
          </a:prstGeom>
          <a:noFill/>
          <a:ln/>
        </p:spPr>
        <p:txBody>
          <a:bodyPr wrap="square" lIns="0" tIns="0" rIns="0" bIns="0" rtlCol="0" anchor="t"/>
          <a:lstStyle/>
          <a:p>
            <a:pPr indent="0" marL="0">
              <a:buNone/>
            </a:pPr>
            <a:r>
              <a:rPr lang="en-US" sz="1400" dirty="0">
                <a:solidFill>
                  <a:schemeClr val="accent6"/>
                </a:solidFill>
              </a:rPr>
              <a:t>Kassenbon mit Punkten und Note, alle Antworten mit Begründung.</a:t>
            </a:r>
            <a:endParaRPr lang="en-US" sz="1400" dirty="0"/>
          </a:p>
        </p:txBody>
      </p:sp>
      <p:sp>
        <p:nvSpPr>
          <p:cNvPr id="24" name="Symbolkreis"/>
          <p:cNvSpPr/>
          <p:nvPr/>
        </p:nvSpPr>
        <p:spPr>
          <a:xfrm>
            <a:off x="548640" y="5257800"/>
            <a:ext cx="548640" cy="548640"/>
          </a:xfrm>
          <a:prstGeom prst="ellipse">
            <a:avLst/>
          </a:prstGeom>
          <a:solidFill>
            <a:schemeClr val="accent5"/>
          </a:solidFill>
          <a:ln/>
        </p:spPr>
      </p:sp>
      <p:pic>
        <p:nvPicPr>
          <p:cNvPr id="25" name="Image 4" descr="Symbol">    </p:cNvPr>
          <p:cNvPicPr>
            <a:picLocks noChangeAspect="1"/>
          </p:cNvPicPr>
          <p:nvPr/>
        </p:nvPicPr>
        <p:blipFill>
          <a:blip r:embed="rId5"/>
          <a:stretch>
            <a:fillRect/>
          </a:stretch>
        </p:blipFill>
        <p:spPr>
          <a:xfrm>
            <a:off x="669341" y="5378501"/>
            <a:ext cx="307238" cy="307238"/>
          </a:xfrm>
          <a:prstGeom prst="rect">
            <a:avLst/>
          </a:prstGeom>
        </p:spPr>
      </p:pic>
      <p:sp>
        <p:nvSpPr>
          <p:cNvPr id="26" name="Text 19"/>
          <p:cNvSpPr txBox="1"/>
          <p:nvPr/>
        </p:nvSpPr>
        <p:spPr>
          <a:xfrm>
            <a:off x="1280160" y="5349240"/>
            <a:ext cx="10332720" cy="457200"/>
          </a:xfrm>
          <a:prstGeom prst="rect">
            <a:avLst/>
          </a:prstGeom>
          <a:noFill/>
          <a:ln/>
        </p:spPr>
        <p:txBody>
          <a:bodyPr wrap="square" lIns="0" tIns="0" rIns="0" bIns="0" rtlCol="0" anchor="t"/>
          <a:lstStyle/>
          <a:p>
            <a:pPr indent="0" marL="0">
              <a:buNone/>
            </a:pPr>
            <a:r>
              <a:rPr lang="en-US" sz="1500" b="1" dirty="0">
                <a:solidFill>
                  <a:schemeClr val="tx1"/>
                </a:solidFill>
              </a:rPr>
              <a:t>Tipp: </a:t>
            </a:r>
            <a:pPr indent="0" marL="0">
              <a:buNone/>
            </a:pPr>
            <a:r>
              <a:rPr lang="en-US" sz="1500" dirty="0">
                <a:solidFill>
                  <a:schemeClr val="tx1"/>
                </a:solidFill>
              </a:rPr>
              <a:t>Kopfhörer benutzen oder den Ton mit dem Lautsprecher-Knopf ausschalten. Die Figur bewegt dann trotzdem den Mund.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949440" cy="411480"/>
          </a:xfrm>
          <a:prstGeom prst="rect">
            <a:avLst/>
          </a:prstGeom>
          <a:noFill/>
          <a:ln/>
        </p:spPr>
        <p:txBody>
          <a:bodyPr wrap="square" lIns="0" tIns="0" rIns="0" bIns="0" rtlCol="0"/>
          <a:lstStyle/>
          <a:p>
            <a:pPr indent="0" marL="0">
              <a:buNone/>
            </a:pPr>
            <a:r>
              <a:rPr lang="en-US" sz="1400" b="1" spc="300" kern="0" dirty="0">
                <a:solidFill>
                  <a:schemeClr val="accent5"/>
                </a:solidFill>
              </a:rPr>
              <a:t>ARBEITSAUFTRAG</a:t>
            </a:r>
            <a:endParaRPr lang="en-US" sz="1400" dirty="0"/>
          </a:p>
        </p:txBody>
      </p:sp>
      <p:sp>
        <p:nvSpPr>
          <p:cNvPr id="3" name="Text 0"/>
          <p:cNvSpPr/>
          <p:nvPr>
            <p:ph idx="101" type="title" hasCustomPrompt="1"/>
          </p:nvPr>
        </p:nvSpPr>
        <p:spPr>
          <a:xfrm>
            <a:off x="548640" y="1874520"/>
            <a:ext cx="6949440" cy="2011680"/>
          </a:xfrm>
          <a:prstGeom prst="rect">
            <a:avLst/>
          </a:prstGeom>
          <a:noFill/>
          <a:ln/>
        </p:spPr>
        <p:txBody>
          <a:bodyPr wrap="square" lIns="0" tIns="0" rIns="0" bIns="0" rtlCol="0" anchor="t"/>
          <a:lstStyle/>
          <a:p>
            <a:pPr algn="l" indent="0" marL="0">
              <a:buNone/>
            </a:pPr>
            <a:r>
              <a:rPr lang="en-US" sz="4400" b="1" dirty="0">
                <a:solidFill>
                  <a:schemeClr val="bg1"/>
                </a:solidFill>
              </a:rPr>
              <a:t>Jetzt sind Sie dran</a:t>
            </a:r>
            <a:endParaRPr lang="en-US" sz="4400" dirty="0"/>
          </a:p>
        </p:txBody>
      </p:sp>
      <p:sp>
        <p:nvSpPr>
          <p:cNvPr id="4" name="Text 0"/>
          <p:cNvSpPr/>
          <p:nvPr>
            <p:ph idx="102" type="body" hasCustomPrompt="1"/>
          </p:nvPr>
        </p:nvSpPr>
        <p:spPr>
          <a:xfrm>
            <a:off x="548640" y="4023360"/>
            <a:ext cx="6583680" cy="1463040"/>
          </a:xfrm>
          <a:prstGeom prst="rect">
            <a:avLst/>
          </a:prstGeom>
          <a:noFill/>
          <a:ln/>
        </p:spPr>
        <p:txBody>
          <a:bodyPr wrap="square" lIns="0" tIns="0" rIns="0" bIns="0" rtlCol="0" anchor="t"/>
          <a:lstStyle/>
          <a:p>
            <a:pPr algn="l" marL="342900" indent="-342900">
              <a:buSzPct val="100000"/>
              <a:buFont typeface="+mj-lt"/>
              <a:buAutoNum type="arabicPeriod" startAt="1"/>
            </a:pPr>
            <a:r>
              <a:rPr lang="en-US" sz="1800" dirty="0">
                <a:solidFill>
                  <a:schemeClr val="accent5"/>
                </a:solidFill>
              </a:rPr>
              <a:t>Spielen Sie zwei Szenarien im Übungsmodus.</a:t>
            </a:r>
            <a:endParaRPr lang="en-US" sz="1800" dirty="0"/>
          </a:p>
          <a:p>
            <a:pPr algn="l" marL="342900" indent="-342900">
              <a:buSzPct val="100000"/>
              <a:buFont typeface="+mj-lt"/>
              <a:buAutoNum type="arabicPeriod" startAt="1"/>
            </a:pPr>
            <a:r>
              <a:rPr lang="en-US" sz="1800" dirty="0">
                <a:solidFill>
                  <a:schemeClr val="accent5"/>
                </a:solidFill>
              </a:rPr>
              <a:t>Spielen Sie ein Szenario im Prüfungsmodus.</a:t>
            </a:r>
            <a:endParaRPr lang="en-US" sz="1800" dirty="0"/>
          </a:p>
          <a:p>
            <a:pPr algn="l" marL="342900" indent="-342900">
              <a:buSzPct val="100000"/>
              <a:buFont typeface="+mj-lt"/>
              <a:buAutoNum type="arabicPeriod" startAt="1"/>
            </a:pPr>
            <a:r>
              <a:rPr lang="en-US" sz="1800" dirty="0">
                <a:solidFill>
                  <a:schemeClr val="accent5"/>
                </a:solidFill>
              </a:rPr>
              <a:t>Notieren Sie: Welche Phase war am schwierigsten? Welche Formulierung nehmen Sie mit?</a:t>
            </a:r>
            <a:endParaRPr lang="en-US" sz="1800" dirty="0"/>
          </a:p>
        </p:txBody>
      </p:sp>
      <p:pic>
        <p:nvPicPr>
          <p:cNvPr id="5" name="Image 0" descr="Kundenfigur Lea">    </p:cNvPr>
          <p:cNvPicPr>
            <a:picLocks noChangeAspect="1"/>
          </p:cNvPicPr>
          <p:nvPr/>
        </p:nvPicPr>
        <p:blipFill>
          <a:blip r:embed="rId1"/>
          <a:stretch>
            <a:fillRect/>
          </a:stretch>
        </p:blipFill>
        <p:spPr>
          <a:xfrm>
            <a:off x="8595360" y="1463040"/>
            <a:ext cx="2194560" cy="2194560"/>
          </a:xfrm>
          <a:prstGeom prst="rect">
            <a:avLst/>
          </a:prstGeom>
        </p:spPr>
      </p:pic>
      <p:pic>
        <p:nvPicPr>
          <p:cNvPr id="6" name="Image 1" descr="Kundenfigur Herr Brenner">    </p:cNvPr>
          <p:cNvPicPr>
            <a:picLocks noChangeAspect="1"/>
          </p:cNvPicPr>
          <p:nvPr/>
        </p:nvPicPr>
        <p:blipFill>
          <a:blip r:embed="rId2"/>
          <a:stretch>
            <a:fillRect/>
          </a:stretch>
        </p:blipFill>
        <p:spPr>
          <a:xfrm>
            <a:off x="9326880" y="3749040"/>
            <a:ext cx="2011680" cy="2011680"/>
          </a:xfrm>
          <a:prstGeom prst="rect">
            <a:avLst/>
          </a:prstGeom>
        </p:spPr>
      </p:pic>
    </p:spTree>
  </p:cSld>
  <p:clrMapOvr>
    <a:masterClrMapping/>
  </p:clrMapOvr>
</p:sld>
</file>

<file path=ppt/theme/theme1.xml><?xml version="1.0" encoding="utf-8"?>
<a:theme xmlns:a="http://schemas.openxmlformats.org/drawingml/2006/main" name="Verkaufstraining">
  <a:themeElements>
    <a:clrScheme name="Verkaufstraining">
      <a:dk1>
        <a:srgbClr val="18202B"/>
      </a:dk1>
      <a:lt1>
        <a:srgbClr val="FFFFFF"/>
      </a:lt1>
      <a:dk2>
        <a:srgbClr val="1B2A4E"/>
      </a:dk2>
      <a:lt2>
        <a:srgbClr val="F2F4F6"/>
      </a:lt2>
      <a:accent1>
        <a:srgbClr val="2346A0"/>
      </a:accent1>
      <a:accent2>
        <a:srgbClr val="1D7A4C"/>
      </a:accent2>
      <a:accent3>
        <a:srgbClr val="B5352A"/>
      </a:accent3>
      <a:accent4>
        <a:srgbClr val="9A6400"/>
      </a:accent4>
      <a:accent5>
        <a:srgbClr val="E3E9F8"/>
      </a:accent5>
      <a:accent6>
        <a:srgbClr val="5B6676"/>
      </a:accent6>
      <a:hlink>
        <a:srgbClr val="2346A0"/>
      </a:hlink>
      <a:folHlink>
        <a:srgbClr val="5B6676"/>
      </a:folHlink>
    </a:clrScheme>
    <a:fontScheme name="Verkaufstraining">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Verkaufsgespräch</dc:title>
  <dc:subject>PptxGenJS Presentation</dc:subject>
  <dc:creator>Verkaufstraining Einzelhandel</dc:creator>
  <cp:lastModifiedBy>Verkaufstraining Einzelhandel</cp:lastModifiedBy>
  <cp:revision>1</cp:revision>
  <dcterms:created xsi:type="dcterms:W3CDTF">2026-10-06T19:20:05Z</dcterms:created>
  <dcterms:modified xsi:type="dcterms:W3CDTF">2026-10-06T19:20:05Z</dcterms:modified>
</cp:coreProperties>
</file>