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führung" id="{e30b8a5e-b265-5d6f-69e8-fd7d9c686eb7}">
          <p14:sldIdLst>
            <p14:sldId id="256"/>
            <p14:sldId id="257"/>
            <p14:sldId id="258"/>
          </p14:sldIdLst>
        </p14:section>
        <p14:section name="Die 8 Phasen" id="{8adae704-0560-a4de-632c-2989ab9be1ad}">
          <p14:sldIdLst>
            <p14:sldId id="259"/>
          </p14:sldIdLst>
        </p14:section>
        <p14:section name="Phase 1" id="{aa398147-aa11-418f-84e2-1f0594e7da50}">
          <p14:sldIdLst>
            <p14:sldId id="260"/>
            <p14:sldId id="261"/>
            <p14:sldId id="262"/>
            <p14:sldId id="263"/>
            <p14:sldId id="264"/>
          </p14:sldIdLst>
        </p14:section>
        <p14:section name="Partnerarbeit" id="{ed2b2ac3-0fa0-ef0c-744d-317c2e835e5a}">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Begrüßung der Klasse. Die fünf Figuren sind die Kundinnen und Kunden aus der Übungs-App, mit der später geübt wird. Heute geht es um den Einstieg ins Thema und um die erste Phase des Verkaufsgesprächs.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Impuls: Warum kaufen Menschen überhaupt noch im Geschäft, wenn es online oft billiger ist? Antworten sammeln, dann die drei Punkte zeigen. Ein gutes Verkaufsgespräch ist das, was der Laden dem Onlinehandel voraushat.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Lernziele kurz vorlesen. Die Frage zu Frau Becker bleibt offen und wird im Lauf der Stunde beantwortet.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Ablauf einmal vorstellen, ohne ins Detail zu gehen. Die Reihenfolge ist kein Zufall: Wer ohne Fragen sofort Ware zeigt, verkauft am Bedarf vorbei. Heute geht es nur um Phase 1. Die übrigen Phasen folgen in den nächsten Stunden.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drei Schritte gehören zusammen. Fragen Sie: Was passiert, wenn man einen davon weglässt? Zum Beispiel begrüßen, aber nicht hingehen, oder hingehen, aber nichts sagen.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Kurze Übung im Stehen: Zwei Freiwillige zeigen einmal eine abweisende und einmal eine offene Haltung, ohne zu sprechen. Die Klasse beschreibt die Wirkung. Das Beispiel unten stammt aus dem Szenario „Regenjacke um 19:52 Uhr“.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beiden Fehler unten tauchen in der Partnerarbeit am Ende sehr wahrscheinlich wieder auf. Darauf können Sie bei der Auswertung zurückkommen.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lässt sich die Frage zu Frau Becker von Folie 3 auflösen: Die warenbezogene Ansprache ist die beste Wahl, weil sie den Schuh in der Hand hält. Lassen Sie die Klasse eigene warenbezogene Ansprachen für ein Smartphone oder eine Jacke formulieren.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 vier Beispiele sind die besten Antworten aus der ersten Phase der App-Szenarien. Wer möchte, kann die Kontaktaufnahme in der App gleich ausprobieren: Die Kundenfigur reagiert sofort auf die gewählte Ansprache.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Für die Lehrkraft: Sammeln Sie die Stichwörter an der Tafel (z. B. „aufdringlich“, „freundlich“, „ignoriert“, „zu früh angesprochen“). Anschließend lassen sich die Stichwörter den Inhalten der Stunde zuordnen: Körpersprache, richtiger Zeitpunkt, Art der Ansprache.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dunkel">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949440" cy="411480"/>
          </a:xfrm>
          <a:prstGeom prst="rect">
            <a:avLst/>
          </a:prstGeom>
          <a:noFill/>
          <a:ln/>
        </p:spPr>
        <p:txBody>
          <a:bodyPr wrap="square" rtlCol="0"/>
          <a:lstStyle>
            <a:lvl1pPr indent="0" marL="0">
              <a:buNone/>
              <a:defRPr lang="en-US" sz="1400" b="1" spc="300" kern="0" dirty="0">
                <a:solidFill>
                  <a:schemeClr val="accent5"/>
                </a:solidFill>
              </a:defRPr>
            </a:lvl1pPr>
          </a:lstStyle>
          <a:p>
            <a:pPr indent="0" marL="0">
              <a:buNone/>
            </a:pPr>
            <a:endParaRPr lang="en-US" sz="1400" dirty="0"/>
          </a:p>
        </p:txBody>
      </p:sp>
      <p:sp>
        <p:nvSpPr>
          <p:cNvPr id="3" name="Text 0"/>
          <p:cNvSpPr/>
          <p:nvPr>
            <p:ph idx="101" type="title" hasCustomPrompt="1"/>
          </p:nvPr>
        </p:nvSpPr>
        <p:spPr>
          <a:xfrm>
            <a:off x="548640" y="1874520"/>
            <a:ext cx="694944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4023360"/>
            <a:ext cx="6583680" cy="146304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Verkaufstraining Einzelhandel</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ufgabe dunkel">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rtlCol="0"/>
          <a:lstStyle>
            <a:lvl1pPr indent="0" marL="0">
              <a:buNone/>
              <a:defRPr lang="en-US" sz="1200" b="1" spc="300" kern="0" dirty="0">
                <a:solidFill>
                  <a:schemeClr val="accent5"/>
                </a:solidFill>
              </a:defRPr>
            </a:lvl1pPr>
          </a:lstStyle>
          <a:p>
            <a:pPr indent="0" marL="0">
              <a:buNone/>
            </a:pPr>
            <a:endParaRPr lang="en-US" sz="1200" dirty="0"/>
          </a:p>
        </p:txBody>
      </p:sp>
      <p:sp>
        <p:nvSpPr>
          <p:cNvPr id="3" name="Text 0"/>
          <p:cNvSpPr/>
          <p:nvPr>
            <p:ph idx="101" type="title" hasCustomPrompt="1"/>
          </p:nvPr>
        </p:nvSpPr>
        <p:spPr>
          <a:xfrm>
            <a:off x="548640" y="777240"/>
            <a:ext cx="11064240" cy="14173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949440" cy="411480"/>
          </a:xfrm>
          <a:prstGeom prst="rect">
            <a:avLst/>
          </a:prstGeom>
          <a:noFill/>
          <a:ln/>
        </p:spPr>
        <p:txBody>
          <a:bodyPr wrap="square" lIns="0" tIns="0" rIns="0" bIns="0" rtlCol="0"/>
          <a:lstStyle/>
          <a:p>
            <a:pPr indent="0" marL="0">
              <a:buNone/>
            </a:pPr>
            <a:r>
              <a:rPr lang="en-US" sz="1400" b="1" spc="300" kern="0" dirty="0">
                <a:solidFill>
                  <a:schemeClr val="accent5"/>
                </a:solidFill>
              </a:rPr>
              <a:t>EINFÜHRUNG IN DAS VERKAUFSTRAINING</a:t>
            </a:r>
            <a:endParaRPr lang="en-US" sz="1400" dirty="0"/>
          </a:p>
        </p:txBody>
      </p:sp>
      <p:sp>
        <p:nvSpPr>
          <p:cNvPr id="3" name="Text 0"/>
          <p:cNvSpPr/>
          <p:nvPr>
            <p:ph idx="101" type="title" hasCustomPrompt="1"/>
          </p:nvPr>
        </p:nvSpPr>
        <p:spPr>
          <a:xfrm>
            <a:off x="548640" y="1874520"/>
            <a:ext cx="6949440" cy="2011680"/>
          </a:xfrm>
          <a:prstGeom prst="rect">
            <a:avLst/>
          </a:prstGeom>
          <a:noFill/>
          <a:ln/>
        </p:spPr>
        <p:txBody>
          <a:bodyPr wrap="square" lIns="0" tIns="0" rIns="0" bIns="0" rtlCol="0" anchor="t"/>
          <a:lstStyle/>
          <a:p>
            <a:pPr algn="l" indent="0" marL="0">
              <a:buNone/>
            </a:pPr>
            <a:r>
              <a:rPr lang="en-US" sz="4400" b="1" dirty="0">
                <a:solidFill>
                  <a:schemeClr val="bg1"/>
                </a:solidFill>
              </a:rPr>
              <a:t>Das Verkaufsgespräch</a:t>
            </a:r>
            <a:endParaRPr lang="en-US" sz="4400" dirty="0"/>
          </a:p>
        </p:txBody>
      </p:sp>
      <p:sp>
        <p:nvSpPr>
          <p:cNvPr id="4" name="Text 0"/>
          <p:cNvSpPr/>
          <p:nvPr>
            <p:ph idx="102" type="body" hasCustomPrompt="1"/>
          </p:nvPr>
        </p:nvSpPr>
        <p:spPr>
          <a:xfrm>
            <a:off x="548640" y="4023360"/>
            <a:ext cx="6583680" cy="1463040"/>
          </a:xfrm>
          <a:prstGeom prst="rect">
            <a:avLst/>
          </a:prstGeom>
          <a:noFill/>
          <a:ln/>
        </p:spPr>
        <p:txBody>
          <a:bodyPr wrap="square" lIns="0" tIns="0" rIns="0" bIns="0" rtlCol="0" anchor="t"/>
          <a:lstStyle/>
          <a:p>
            <a:pPr algn="l" indent="0" marL="0">
              <a:buNone/>
            </a:pPr>
            <a:r>
              <a:rPr lang="en-US" sz="1800" dirty="0">
                <a:solidFill>
                  <a:schemeClr val="accent5"/>
                </a:solidFill>
              </a:rPr>
              <a:t>Warum es auf das Gespräch ankommt und wie es beginnt: Phase 1, die Kontaktaufnahme</a:t>
            </a:r>
            <a:endParaRPr lang="en-US" sz="1800" dirty="0"/>
          </a:p>
        </p:txBody>
      </p:sp>
      <p:pic>
        <p:nvPicPr>
          <p:cNvPr id="5" name="Image 0" descr="Kundenfigur Frau Becker">    </p:cNvPr>
          <p:cNvPicPr>
            <a:picLocks noChangeAspect="1"/>
          </p:cNvPicPr>
          <p:nvPr/>
        </p:nvPicPr>
        <p:blipFill>
          <a:blip r:embed="rId1"/>
          <a:stretch>
            <a:fillRect/>
          </a:stretch>
        </p:blipFill>
        <p:spPr>
          <a:xfrm>
            <a:off x="8138160" y="1097280"/>
            <a:ext cx="1737360" cy="1737360"/>
          </a:xfrm>
          <a:prstGeom prst="rect">
            <a:avLst/>
          </a:prstGeom>
        </p:spPr>
      </p:pic>
      <p:pic>
        <p:nvPicPr>
          <p:cNvPr id="6" name="Image 1" descr="Kundenfigur Herr Albers">    </p:cNvPr>
          <p:cNvPicPr>
            <a:picLocks noChangeAspect="1"/>
          </p:cNvPicPr>
          <p:nvPr/>
        </p:nvPicPr>
        <p:blipFill>
          <a:blip r:embed="rId2"/>
          <a:stretch>
            <a:fillRect/>
          </a:stretch>
        </p:blipFill>
        <p:spPr>
          <a:xfrm>
            <a:off x="9966960" y="1737360"/>
            <a:ext cx="1737360" cy="1737360"/>
          </a:xfrm>
          <a:prstGeom prst="rect">
            <a:avLst/>
          </a:prstGeom>
        </p:spPr>
      </p:pic>
      <p:pic>
        <p:nvPicPr>
          <p:cNvPr id="7" name="Image 2" descr="Kundenfigur Herr Yilmaz">    </p:cNvPr>
          <p:cNvPicPr>
            <a:picLocks noChangeAspect="1"/>
          </p:cNvPicPr>
          <p:nvPr/>
        </p:nvPicPr>
        <p:blipFill>
          <a:blip r:embed="rId3"/>
          <a:stretch>
            <a:fillRect/>
          </a:stretch>
        </p:blipFill>
        <p:spPr>
          <a:xfrm>
            <a:off x="7863840" y="3017520"/>
            <a:ext cx="1737360" cy="1737360"/>
          </a:xfrm>
          <a:prstGeom prst="rect">
            <a:avLst/>
          </a:prstGeom>
        </p:spPr>
      </p:pic>
      <p:pic>
        <p:nvPicPr>
          <p:cNvPr id="8" name="Image 3" descr="Kundenfigur Herr Brenner">    </p:cNvPr>
          <p:cNvPicPr>
            <a:picLocks noChangeAspect="1"/>
          </p:cNvPicPr>
          <p:nvPr/>
        </p:nvPicPr>
        <p:blipFill>
          <a:blip r:embed="rId4"/>
          <a:stretch>
            <a:fillRect/>
          </a:stretch>
        </p:blipFill>
        <p:spPr>
          <a:xfrm>
            <a:off x="9692640" y="3657600"/>
            <a:ext cx="1737360" cy="1737360"/>
          </a:xfrm>
          <a:prstGeom prst="rect">
            <a:avLst/>
          </a:prstGeom>
        </p:spPr>
      </p:pic>
      <p:pic>
        <p:nvPicPr>
          <p:cNvPr id="9" name="Image 4" descr="Kundenfigur Lea">    </p:cNvPr>
          <p:cNvPicPr>
            <a:picLocks noChangeAspect="1"/>
          </p:cNvPicPr>
          <p:nvPr/>
        </p:nvPicPr>
        <p:blipFill>
          <a:blip r:embed="rId5"/>
          <a:stretch>
            <a:fillRect/>
          </a:stretch>
        </p:blipFill>
        <p:spPr>
          <a:xfrm>
            <a:off x="8229600" y="4800600"/>
            <a:ext cx="1737360" cy="1737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WARUM DAS WICHTIG IST</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Beratung ist der Vorteil des Geschäfts vor Ort</a:t>
            </a:r>
            <a:endParaRPr lang="en-US" sz="3400" dirty="0"/>
          </a:p>
        </p:txBody>
      </p:sp>
      <p:sp>
        <p:nvSpPr>
          <p:cNvPr id="4" name="Symbolkreis"/>
          <p:cNvSpPr/>
          <p:nvPr/>
        </p:nvSpPr>
        <p:spPr>
          <a:xfrm>
            <a:off x="548640" y="1737360"/>
            <a:ext cx="566928" cy="566928"/>
          </a:xfrm>
          <a:prstGeom prst="ellipse">
            <a:avLst/>
          </a:prstGeom>
          <a:solidFill>
            <a:schemeClr val="accent5"/>
          </a:solidFill>
          <a:ln/>
        </p:spPr>
      </p:sp>
      <p:pic>
        <p:nvPicPr>
          <p:cNvPr id="5" name="Image 0" descr="Symbol">    </p:cNvPr>
          <p:cNvPicPr>
            <a:picLocks noChangeAspect="1"/>
          </p:cNvPicPr>
          <p:nvPr/>
        </p:nvPicPr>
        <p:blipFill>
          <a:blip r:embed="rId1"/>
          <a:stretch>
            <a:fillRect/>
          </a:stretch>
        </p:blipFill>
        <p:spPr>
          <a:xfrm>
            <a:off x="673364" y="1862084"/>
            <a:ext cx="317480" cy="317480"/>
          </a:xfrm>
          <a:prstGeom prst="rect">
            <a:avLst/>
          </a:prstGeom>
        </p:spPr>
      </p:pic>
      <p:sp>
        <p:nvSpPr>
          <p:cNvPr id="6" name="Text 3"/>
          <p:cNvSpPr txBox="1"/>
          <p:nvPr/>
        </p:nvSpPr>
        <p:spPr>
          <a:xfrm>
            <a:off x="1325880" y="1737360"/>
            <a:ext cx="5806440" cy="329184"/>
          </a:xfrm>
          <a:prstGeom prst="rect">
            <a:avLst/>
          </a:prstGeom>
          <a:noFill/>
          <a:ln/>
        </p:spPr>
        <p:txBody>
          <a:bodyPr wrap="square" lIns="0" tIns="0" rIns="0" bIns="0" rtlCol="0" anchor="t"/>
          <a:lstStyle/>
          <a:p>
            <a:pPr indent="0" marL="0">
              <a:buNone/>
            </a:pPr>
            <a:r>
              <a:rPr lang="en-US" sz="1700" b="1" dirty="0">
                <a:solidFill>
                  <a:schemeClr val="tx1"/>
                </a:solidFill>
              </a:rPr>
              <a:t>Persönliche Beratung</a:t>
            </a:r>
            <a:endParaRPr lang="en-US" sz="1700" dirty="0"/>
          </a:p>
        </p:txBody>
      </p:sp>
      <p:sp>
        <p:nvSpPr>
          <p:cNvPr id="7" name="Text 4"/>
          <p:cNvSpPr txBox="1"/>
          <p:nvPr/>
        </p:nvSpPr>
        <p:spPr>
          <a:xfrm>
            <a:off x="1325880" y="2084832"/>
            <a:ext cx="5806440" cy="566928"/>
          </a:xfrm>
          <a:prstGeom prst="rect">
            <a:avLst/>
          </a:prstGeom>
          <a:noFill/>
          <a:ln/>
        </p:spPr>
        <p:txBody>
          <a:bodyPr wrap="square" lIns="0" tIns="0" rIns="0" bIns="0" rtlCol="0" anchor="t"/>
          <a:lstStyle/>
          <a:p>
            <a:pPr indent="0" marL="0">
              <a:buNone/>
            </a:pPr>
            <a:r>
              <a:rPr lang="en-US" sz="1400" dirty="0">
                <a:solidFill>
                  <a:schemeClr val="accent6"/>
                </a:solidFill>
              </a:rPr>
              <a:t>Fragen stellen und eine Antwort bekommen, die genau zur eigenen Situation passt.</a:t>
            </a:r>
            <a:endParaRPr lang="en-US" sz="1400" dirty="0"/>
          </a:p>
        </p:txBody>
      </p:sp>
      <p:sp>
        <p:nvSpPr>
          <p:cNvPr id="8" name="Symbolkreis"/>
          <p:cNvSpPr/>
          <p:nvPr/>
        </p:nvSpPr>
        <p:spPr>
          <a:xfrm>
            <a:off x="548640" y="3063240"/>
            <a:ext cx="566928" cy="566928"/>
          </a:xfrm>
          <a:prstGeom prst="ellipse">
            <a:avLst/>
          </a:prstGeom>
          <a:solidFill>
            <a:schemeClr val="accent5"/>
          </a:solidFill>
          <a:ln/>
        </p:spPr>
      </p:sp>
      <p:pic>
        <p:nvPicPr>
          <p:cNvPr id="9" name="Image 1" descr="Symbol">    </p:cNvPr>
          <p:cNvPicPr>
            <a:picLocks noChangeAspect="1"/>
          </p:cNvPicPr>
          <p:nvPr/>
        </p:nvPicPr>
        <p:blipFill>
          <a:blip r:embed="rId2"/>
          <a:stretch>
            <a:fillRect/>
          </a:stretch>
        </p:blipFill>
        <p:spPr>
          <a:xfrm>
            <a:off x="673364" y="3187964"/>
            <a:ext cx="317480" cy="317480"/>
          </a:xfrm>
          <a:prstGeom prst="rect">
            <a:avLst/>
          </a:prstGeom>
        </p:spPr>
      </p:pic>
      <p:sp>
        <p:nvSpPr>
          <p:cNvPr id="10" name="Text 6"/>
          <p:cNvSpPr txBox="1"/>
          <p:nvPr/>
        </p:nvSpPr>
        <p:spPr>
          <a:xfrm>
            <a:off x="1325880" y="3063240"/>
            <a:ext cx="5806440" cy="329184"/>
          </a:xfrm>
          <a:prstGeom prst="rect">
            <a:avLst/>
          </a:prstGeom>
          <a:noFill/>
          <a:ln/>
        </p:spPr>
        <p:txBody>
          <a:bodyPr wrap="square" lIns="0" tIns="0" rIns="0" bIns="0" rtlCol="0" anchor="t"/>
          <a:lstStyle/>
          <a:p>
            <a:pPr indent="0" marL="0">
              <a:buNone/>
            </a:pPr>
            <a:r>
              <a:rPr lang="en-US" sz="1700" b="1" dirty="0">
                <a:solidFill>
                  <a:schemeClr val="tx1"/>
                </a:solidFill>
              </a:rPr>
              <a:t>Ausprobieren und anfassen</a:t>
            </a:r>
            <a:endParaRPr lang="en-US" sz="1700" dirty="0"/>
          </a:p>
        </p:txBody>
      </p:sp>
      <p:sp>
        <p:nvSpPr>
          <p:cNvPr id="11" name="Text 7"/>
          <p:cNvSpPr txBox="1"/>
          <p:nvPr/>
        </p:nvSpPr>
        <p:spPr>
          <a:xfrm>
            <a:off x="1325880" y="3410712"/>
            <a:ext cx="5806440" cy="566928"/>
          </a:xfrm>
          <a:prstGeom prst="rect">
            <a:avLst/>
          </a:prstGeom>
          <a:noFill/>
          <a:ln/>
        </p:spPr>
        <p:txBody>
          <a:bodyPr wrap="square" lIns="0" tIns="0" rIns="0" bIns="0" rtlCol="0" anchor="t"/>
          <a:lstStyle/>
          <a:p>
            <a:pPr indent="0" marL="0">
              <a:buNone/>
            </a:pPr>
            <a:r>
              <a:rPr lang="en-US" sz="1400" dirty="0">
                <a:solidFill>
                  <a:schemeClr val="accent6"/>
                </a:solidFill>
              </a:rPr>
              <a:t>Schuhe anprobieren, Kaffee probieren, am Duft riechen. Das geht nur im Laden.</a:t>
            </a:r>
            <a:endParaRPr lang="en-US" sz="1400" dirty="0"/>
          </a:p>
        </p:txBody>
      </p:sp>
      <p:sp>
        <p:nvSpPr>
          <p:cNvPr id="12" name="Symbolkreis"/>
          <p:cNvSpPr/>
          <p:nvPr/>
        </p:nvSpPr>
        <p:spPr>
          <a:xfrm>
            <a:off x="548640" y="4389120"/>
            <a:ext cx="566928" cy="566928"/>
          </a:xfrm>
          <a:prstGeom prst="ellipse">
            <a:avLst/>
          </a:prstGeom>
          <a:solidFill>
            <a:schemeClr val="accent5"/>
          </a:solidFill>
          <a:ln/>
        </p:spPr>
      </p:sp>
      <p:pic>
        <p:nvPicPr>
          <p:cNvPr id="13" name="Image 2" descr="Symbol">    </p:cNvPr>
          <p:cNvPicPr>
            <a:picLocks noChangeAspect="1"/>
          </p:cNvPicPr>
          <p:nvPr/>
        </p:nvPicPr>
        <p:blipFill>
          <a:blip r:embed="rId3"/>
          <a:stretch>
            <a:fillRect/>
          </a:stretch>
        </p:blipFill>
        <p:spPr>
          <a:xfrm>
            <a:off x="673364" y="4513844"/>
            <a:ext cx="317480" cy="317480"/>
          </a:xfrm>
          <a:prstGeom prst="rect">
            <a:avLst/>
          </a:prstGeom>
        </p:spPr>
      </p:pic>
      <p:sp>
        <p:nvSpPr>
          <p:cNvPr id="14" name="Text 9"/>
          <p:cNvSpPr txBox="1"/>
          <p:nvPr/>
        </p:nvSpPr>
        <p:spPr>
          <a:xfrm>
            <a:off x="1325880" y="4389120"/>
            <a:ext cx="5806440" cy="329184"/>
          </a:xfrm>
          <a:prstGeom prst="rect">
            <a:avLst/>
          </a:prstGeom>
          <a:noFill/>
          <a:ln/>
        </p:spPr>
        <p:txBody>
          <a:bodyPr wrap="square" lIns="0" tIns="0" rIns="0" bIns="0" rtlCol="0" anchor="t"/>
          <a:lstStyle/>
          <a:p>
            <a:pPr indent="0" marL="0">
              <a:buNone/>
            </a:pPr>
            <a:r>
              <a:rPr lang="en-US" sz="1700" b="1" dirty="0">
                <a:solidFill>
                  <a:schemeClr val="tx1"/>
                </a:solidFill>
              </a:rPr>
              <a:t>Ein Mensch als Ansprechperson</a:t>
            </a:r>
            <a:endParaRPr lang="en-US" sz="1700" dirty="0"/>
          </a:p>
        </p:txBody>
      </p:sp>
      <p:sp>
        <p:nvSpPr>
          <p:cNvPr id="15" name="Text 10"/>
          <p:cNvSpPr txBox="1"/>
          <p:nvPr/>
        </p:nvSpPr>
        <p:spPr>
          <a:xfrm>
            <a:off x="1325880" y="4736592"/>
            <a:ext cx="5806440" cy="566928"/>
          </a:xfrm>
          <a:prstGeom prst="rect">
            <a:avLst/>
          </a:prstGeom>
          <a:noFill/>
          <a:ln/>
        </p:spPr>
        <p:txBody>
          <a:bodyPr wrap="square" lIns="0" tIns="0" rIns="0" bIns="0" rtlCol="0" anchor="t"/>
          <a:lstStyle/>
          <a:p>
            <a:pPr indent="0" marL="0">
              <a:buNone/>
            </a:pPr>
            <a:r>
              <a:rPr lang="en-US" sz="1400" dirty="0">
                <a:solidFill>
                  <a:schemeClr val="accent6"/>
                </a:solidFill>
              </a:rPr>
              <a:t>Jemand, der sich Zeit nimmt und bei Problemen weiterhilft, auch nach dem Kauf.</a:t>
            </a:r>
            <a:endParaRPr lang="en-US" sz="1400" dirty="0"/>
          </a:p>
        </p:txBody>
      </p:sp>
      <p:sp>
        <p:nvSpPr>
          <p:cNvPr id="16" name="Karte"/>
          <p:cNvSpPr/>
          <p:nvPr/>
        </p:nvSpPr>
        <p:spPr>
          <a:xfrm>
            <a:off x="7680960" y="1737360"/>
            <a:ext cx="3959352" cy="4343400"/>
          </a:xfrm>
          <a:prstGeom prst="roundRect">
            <a:avLst>
              <a:gd name="adj" fmla="val 2771"/>
            </a:avLst>
          </a:prstGeom>
          <a:solidFill>
            <a:schemeClr val="tx2"/>
          </a:solidFill>
          <a:ln/>
          <a:effectLst>
            <a:outerShdw sx="100000" sy="100000" kx="0" ky="0" algn="bl" rotWithShape="0" blurRad="101600" dist="25400" dir="5400000">
              <a:srgbClr val="18202B">
                <a:alpha val="12000"/>
              </a:srgbClr>
            </a:outerShdw>
          </a:effectLst>
        </p:spPr>
      </p:sp>
      <p:sp>
        <p:nvSpPr>
          <p:cNvPr id="17" name="Text 12"/>
          <p:cNvSpPr txBox="1"/>
          <p:nvPr/>
        </p:nvSpPr>
        <p:spPr>
          <a:xfrm>
            <a:off x="8001000" y="2011680"/>
            <a:ext cx="3383280" cy="365760"/>
          </a:xfrm>
          <a:prstGeom prst="rect">
            <a:avLst/>
          </a:prstGeom>
          <a:noFill/>
          <a:ln/>
        </p:spPr>
        <p:txBody>
          <a:bodyPr wrap="square" lIns="0" tIns="0" rIns="0" bIns="0" rtlCol="0" anchor="t"/>
          <a:lstStyle/>
          <a:p>
            <a:pPr indent="0" marL="0">
              <a:buNone/>
            </a:pPr>
            <a:r>
              <a:rPr lang="en-US" sz="1400" b="1" spc="200" kern="0" dirty="0">
                <a:solidFill>
                  <a:schemeClr val="accent5"/>
                </a:solidFill>
              </a:rPr>
              <a:t>Das Ziel</a:t>
            </a:r>
            <a:endParaRPr lang="en-US" sz="1400" dirty="0"/>
          </a:p>
        </p:txBody>
      </p:sp>
      <p:sp>
        <p:nvSpPr>
          <p:cNvPr id="18" name="Text 13"/>
          <p:cNvSpPr txBox="1"/>
          <p:nvPr/>
        </p:nvSpPr>
        <p:spPr>
          <a:xfrm>
            <a:off x="8001000" y="2423160"/>
            <a:ext cx="3383280" cy="1920240"/>
          </a:xfrm>
          <a:prstGeom prst="rect">
            <a:avLst/>
          </a:prstGeom>
          <a:noFill/>
          <a:ln/>
        </p:spPr>
        <p:txBody>
          <a:bodyPr wrap="square" lIns="0" tIns="0" rIns="0" bIns="0" rtlCol="0" anchor="t"/>
          <a:lstStyle/>
          <a:p>
            <a:pPr indent="0" marL="0">
              <a:buNone/>
            </a:pPr>
            <a:r>
              <a:rPr lang="en-US" sz="2100" dirty="0">
                <a:solidFill>
                  <a:schemeClr val="bg1"/>
                </a:solidFill>
                <a:latin typeface="Century Schoolbook" pitchFamily="34" charset="0"/>
                <a:ea typeface="Century Schoolbook" pitchFamily="34" charset="-122"/>
                <a:cs typeface="Century Schoolbook" pitchFamily="34" charset="-120"/>
              </a:rPr>
              <a:t>Kundinnen und Kunden so beraten, dass sie zufrieden sind und wiederkommen.</a:t>
            </a:r>
            <a:endParaRPr lang="en-US" sz="2100" dirty="0"/>
          </a:p>
        </p:txBody>
      </p:sp>
      <p:sp>
        <p:nvSpPr>
          <p:cNvPr id="19" name="Text 14"/>
          <p:cNvSpPr txBox="1"/>
          <p:nvPr/>
        </p:nvSpPr>
        <p:spPr>
          <a:xfrm>
            <a:off x="8001000" y="5257800"/>
            <a:ext cx="3383280" cy="457200"/>
          </a:xfrm>
          <a:prstGeom prst="rect">
            <a:avLst/>
          </a:prstGeom>
          <a:noFill/>
          <a:ln/>
        </p:spPr>
        <p:txBody>
          <a:bodyPr wrap="square" lIns="0" tIns="0" rIns="0" bIns="0" rtlCol="0" anchor="t"/>
          <a:lstStyle/>
          <a:p>
            <a:pPr indent="0" marL="0">
              <a:buNone/>
            </a:pPr>
            <a:r>
              <a:rPr lang="en-US" sz="1500" b="1" dirty="0">
                <a:solidFill>
                  <a:schemeClr val="accent5"/>
                </a:solidFill>
              </a:rPr>
              <a:t>Fachbegriff: Kundenbindung</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WORUM ES HEUTE GEHT</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Nach dieser Stunde können Sie …</a:t>
            </a:r>
            <a:endParaRPr lang="en-US" sz="3400" dirty="0"/>
          </a:p>
        </p:txBody>
      </p:sp>
      <p:sp>
        <p:nvSpPr>
          <p:cNvPr id="4" name="Symbolkreis"/>
          <p:cNvSpPr/>
          <p:nvPr/>
        </p:nvSpPr>
        <p:spPr>
          <a:xfrm>
            <a:off x="548640" y="1737360"/>
            <a:ext cx="566928" cy="566928"/>
          </a:xfrm>
          <a:prstGeom prst="ellipse">
            <a:avLst/>
          </a:prstGeom>
          <a:solidFill>
            <a:schemeClr val="accent5"/>
          </a:solidFill>
          <a:ln/>
        </p:spPr>
      </p:sp>
      <p:pic>
        <p:nvPicPr>
          <p:cNvPr id="5" name="Image 0" descr="Symbol">    </p:cNvPr>
          <p:cNvPicPr>
            <a:picLocks noChangeAspect="1"/>
          </p:cNvPicPr>
          <p:nvPr/>
        </p:nvPicPr>
        <p:blipFill>
          <a:blip r:embed="rId1"/>
          <a:stretch>
            <a:fillRect/>
          </a:stretch>
        </p:blipFill>
        <p:spPr>
          <a:xfrm>
            <a:off x="673364" y="1862084"/>
            <a:ext cx="317480" cy="317480"/>
          </a:xfrm>
          <a:prstGeom prst="rect">
            <a:avLst/>
          </a:prstGeom>
        </p:spPr>
      </p:pic>
      <p:sp>
        <p:nvSpPr>
          <p:cNvPr id="6" name="Text 3"/>
          <p:cNvSpPr txBox="1"/>
          <p:nvPr/>
        </p:nvSpPr>
        <p:spPr>
          <a:xfrm>
            <a:off x="1325880" y="1737360"/>
            <a:ext cx="6172200" cy="329184"/>
          </a:xfrm>
          <a:prstGeom prst="rect">
            <a:avLst/>
          </a:prstGeom>
          <a:noFill/>
          <a:ln/>
        </p:spPr>
        <p:txBody>
          <a:bodyPr wrap="square" lIns="0" tIns="0" rIns="0" bIns="0" rtlCol="0" anchor="t"/>
          <a:lstStyle/>
          <a:p>
            <a:pPr indent="0" marL="0">
              <a:buNone/>
            </a:pPr>
            <a:r>
              <a:rPr lang="en-US" sz="1700" b="1" dirty="0">
                <a:solidFill>
                  <a:schemeClr val="tx1"/>
                </a:solidFill>
              </a:rPr>
              <a:t>die 8 Phasen eines Verkaufsgesprächs nennen</a:t>
            </a:r>
            <a:endParaRPr lang="en-US" sz="1700" dirty="0"/>
          </a:p>
        </p:txBody>
      </p:sp>
      <p:sp>
        <p:nvSpPr>
          <p:cNvPr id="7" name="Text 4"/>
          <p:cNvSpPr txBox="1"/>
          <p:nvPr/>
        </p:nvSpPr>
        <p:spPr>
          <a:xfrm>
            <a:off x="1325880" y="2084832"/>
            <a:ext cx="6172200" cy="566928"/>
          </a:xfrm>
          <a:prstGeom prst="rect">
            <a:avLst/>
          </a:prstGeom>
          <a:noFill/>
          <a:ln/>
        </p:spPr>
        <p:txBody>
          <a:bodyPr wrap="square" lIns="0" tIns="0" rIns="0" bIns="0" rtlCol="0" anchor="t"/>
          <a:lstStyle/>
          <a:p>
            <a:pPr indent="0" marL="0">
              <a:buNone/>
            </a:pPr>
            <a:r>
              <a:rPr lang="en-US" sz="1400" dirty="0">
                <a:solidFill>
                  <a:schemeClr val="accent6"/>
                </a:solidFill>
              </a:rPr>
              <a:t>Sie kennen den Ablauf vom ersten Kontakt bis zur Verabschiedung.</a:t>
            </a:r>
            <a:endParaRPr lang="en-US" sz="1400" dirty="0"/>
          </a:p>
        </p:txBody>
      </p:sp>
      <p:sp>
        <p:nvSpPr>
          <p:cNvPr id="8" name="Symbolkreis"/>
          <p:cNvSpPr/>
          <p:nvPr/>
        </p:nvSpPr>
        <p:spPr>
          <a:xfrm>
            <a:off x="548640" y="3063240"/>
            <a:ext cx="566928" cy="566928"/>
          </a:xfrm>
          <a:prstGeom prst="ellipse">
            <a:avLst/>
          </a:prstGeom>
          <a:solidFill>
            <a:schemeClr val="accent5"/>
          </a:solidFill>
          <a:ln/>
        </p:spPr>
      </p:sp>
      <p:pic>
        <p:nvPicPr>
          <p:cNvPr id="9" name="Image 1" descr="Symbol">    </p:cNvPr>
          <p:cNvPicPr>
            <a:picLocks noChangeAspect="1"/>
          </p:cNvPicPr>
          <p:nvPr/>
        </p:nvPicPr>
        <p:blipFill>
          <a:blip r:embed="rId2"/>
          <a:stretch>
            <a:fillRect/>
          </a:stretch>
        </p:blipFill>
        <p:spPr>
          <a:xfrm>
            <a:off x="673364" y="3187964"/>
            <a:ext cx="317480" cy="317480"/>
          </a:xfrm>
          <a:prstGeom prst="rect">
            <a:avLst/>
          </a:prstGeom>
        </p:spPr>
      </p:pic>
      <p:sp>
        <p:nvSpPr>
          <p:cNvPr id="10" name="Text 6"/>
          <p:cNvSpPr txBox="1"/>
          <p:nvPr/>
        </p:nvSpPr>
        <p:spPr>
          <a:xfrm>
            <a:off x="1325880" y="3063240"/>
            <a:ext cx="6172200" cy="329184"/>
          </a:xfrm>
          <a:prstGeom prst="rect">
            <a:avLst/>
          </a:prstGeom>
          <a:noFill/>
          <a:ln/>
        </p:spPr>
        <p:txBody>
          <a:bodyPr wrap="square" lIns="0" tIns="0" rIns="0" bIns="0" rtlCol="0" anchor="t"/>
          <a:lstStyle/>
          <a:p>
            <a:pPr indent="0" marL="0">
              <a:buNone/>
            </a:pPr>
            <a:r>
              <a:rPr lang="en-US" sz="1700" b="1" dirty="0">
                <a:solidFill>
                  <a:schemeClr val="tx1"/>
                </a:solidFill>
              </a:rPr>
              <a:t>den richtigen Moment für die Ansprache erkennen</a:t>
            </a:r>
            <a:endParaRPr lang="en-US" sz="1700" dirty="0"/>
          </a:p>
        </p:txBody>
      </p:sp>
      <p:sp>
        <p:nvSpPr>
          <p:cNvPr id="11" name="Text 7"/>
          <p:cNvSpPr txBox="1"/>
          <p:nvPr/>
        </p:nvSpPr>
        <p:spPr>
          <a:xfrm>
            <a:off x="1325880" y="3410712"/>
            <a:ext cx="6172200" cy="566928"/>
          </a:xfrm>
          <a:prstGeom prst="rect">
            <a:avLst/>
          </a:prstGeom>
          <a:noFill/>
          <a:ln/>
        </p:spPr>
        <p:txBody>
          <a:bodyPr wrap="square" lIns="0" tIns="0" rIns="0" bIns="0" rtlCol="0" anchor="t"/>
          <a:lstStyle/>
          <a:p>
            <a:pPr indent="0" marL="0">
              <a:buNone/>
            </a:pPr>
            <a:r>
              <a:rPr lang="en-US" sz="1400" dirty="0">
                <a:solidFill>
                  <a:schemeClr val="accent6"/>
                </a:solidFill>
              </a:rPr>
              <a:t>Sie deuten das Verhalten der Kundschaft: ansprechen oder noch warten?</a:t>
            </a:r>
            <a:endParaRPr lang="en-US" sz="1400" dirty="0"/>
          </a:p>
        </p:txBody>
      </p:sp>
      <p:sp>
        <p:nvSpPr>
          <p:cNvPr id="12" name="Symbolkreis"/>
          <p:cNvSpPr/>
          <p:nvPr/>
        </p:nvSpPr>
        <p:spPr>
          <a:xfrm>
            <a:off x="548640" y="4389120"/>
            <a:ext cx="566928" cy="566928"/>
          </a:xfrm>
          <a:prstGeom prst="ellipse">
            <a:avLst/>
          </a:prstGeom>
          <a:solidFill>
            <a:schemeClr val="accent5"/>
          </a:solidFill>
          <a:ln/>
        </p:spPr>
      </p:sp>
      <p:pic>
        <p:nvPicPr>
          <p:cNvPr id="13" name="Image 2" descr="Symbol">    </p:cNvPr>
          <p:cNvPicPr>
            <a:picLocks noChangeAspect="1"/>
          </p:cNvPicPr>
          <p:nvPr/>
        </p:nvPicPr>
        <p:blipFill>
          <a:blip r:embed="rId3"/>
          <a:stretch>
            <a:fillRect/>
          </a:stretch>
        </p:blipFill>
        <p:spPr>
          <a:xfrm>
            <a:off x="673364" y="4513844"/>
            <a:ext cx="317480" cy="317480"/>
          </a:xfrm>
          <a:prstGeom prst="rect">
            <a:avLst/>
          </a:prstGeom>
        </p:spPr>
      </p:pic>
      <p:sp>
        <p:nvSpPr>
          <p:cNvPr id="14" name="Text 9"/>
          <p:cNvSpPr txBox="1"/>
          <p:nvPr/>
        </p:nvSpPr>
        <p:spPr>
          <a:xfrm>
            <a:off x="1325880" y="4389120"/>
            <a:ext cx="6172200" cy="329184"/>
          </a:xfrm>
          <a:prstGeom prst="rect">
            <a:avLst/>
          </a:prstGeom>
          <a:noFill/>
          <a:ln/>
        </p:spPr>
        <p:txBody>
          <a:bodyPr wrap="square" lIns="0" tIns="0" rIns="0" bIns="0" rtlCol="0" anchor="t"/>
          <a:lstStyle/>
          <a:p>
            <a:pPr indent="0" marL="0">
              <a:buNone/>
            </a:pPr>
            <a:r>
              <a:rPr lang="en-US" sz="1700" b="1" dirty="0">
                <a:solidFill>
                  <a:schemeClr val="tx1"/>
                </a:solidFill>
              </a:rPr>
              <a:t>Kundinnen und Kunden freundlich und passend ansprechen</a:t>
            </a:r>
            <a:endParaRPr lang="en-US" sz="1700" dirty="0"/>
          </a:p>
        </p:txBody>
      </p:sp>
      <p:sp>
        <p:nvSpPr>
          <p:cNvPr id="15" name="Text 10"/>
          <p:cNvSpPr txBox="1"/>
          <p:nvPr/>
        </p:nvSpPr>
        <p:spPr>
          <a:xfrm>
            <a:off x="1325880" y="4736592"/>
            <a:ext cx="6172200" cy="566928"/>
          </a:xfrm>
          <a:prstGeom prst="rect">
            <a:avLst/>
          </a:prstGeom>
          <a:noFill/>
          <a:ln/>
        </p:spPr>
        <p:txBody>
          <a:bodyPr wrap="square" lIns="0" tIns="0" rIns="0" bIns="0" rtlCol="0" anchor="t"/>
          <a:lstStyle/>
          <a:p>
            <a:pPr indent="0" marL="0">
              <a:buNone/>
            </a:pPr>
            <a:r>
              <a:rPr lang="en-US" sz="1400" dirty="0">
                <a:solidFill>
                  <a:schemeClr val="accent6"/>
                </a:solidFill>
              </a:rPr>
              <a:t>Mit Körpersprache, Begrüßung und einer warenbezogenen Ansprache.</a:t>
            </a:r>
            <a:endParaRPr lang="en-US" sz="1400" dirty="0"/>
          </a:p>
        </p:txBody>
      </p:sp>
      <p:pic>
        <p:nvPicPr>
          <p:cNvPr id="16" name="Image 3" descr="Kundenfigur Frau Becker">    </p:cNvPr>
          <p:cNvPicPr>
            <a:picLocks noChangeAspect="1"/>
          </p:cNvPicPr>
          <p:nvPr/>
        </p:nvPicPr>
        <p:blipFill>
          <a:blip r:embed="rId4"/>
          <a:stretch>
            <a:fillRect/>
          </a:stretch>
        </p:blipFill>
        <p:spPr>
          <a:xfrm>
            <a:off x="8549640" y="1828800"/>
            <a:ext cx="2377440" cy="2377440"/>
          </a:xfrm>
          <a:prstGeom prst="rect">
            <a:avLst/>
          </a:prstGeom>
        </p:spPr>
      </p:pic>
      <p:sp>
        <p:nvSpPr>
          <p:cNvPr id="17" name="Text 11"/>
          <p:cNvSpPr txBox="1"/>
          <p:nvPr/>
        </p:nvSpPr>
        <p:spPr>
          <a:xfrm>
            <a:off x="8001000" y="4434840"/>
            <a:ext cx="3474720" cy="822960"/>
          </a:xfrm>
          <a:prstGeom prst="rect">
            <a:avLst/>
          </a:prstGeom>
          <a:noFill/>
          <a:ln/>
        </p:spPr>
        <p:txBody>
          <a:bodyPr wrap="square" lIns="0" tIns="0" rIns="0" bIns="0" rtlCol="0" anchor="t"/>
          <a:lstStyle/>
          <a:p>
            <a:pPr algn="ctr" indent="0" marL="0">
              <a:buNone/>
            </a:pPr>
            <a:r>
              <a:rPr lang="en-US" sz="1700" i="1" dirty="0">
                <a:solidFill>
                  <a:schemeClr val="tx1"/>
                </a:solidFill>
                <a:latin typeface="Century Schoolbook" pitchFamily="34" charset="0"/>
                <a:ea typeface="Century Schoolbook" pitchFamily="34" charset="-122"/>
                <a:cs typeface="Century Schoolbook" pitchFamily="34" charset="-120"/>
              </a:rPr>
              <a:t>Frau Becker steht vor dem Regal. Wie sprechen Sie sie an?</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ÜBERBLICK</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Ein Verkaufsgespräch hat einen festen Ablauf</a:t>
            </a:r>
            <a:endParaRPr lang="en-US" sz="3400" dirty="0"/>
          </a:p>
        </p:txBody>
      </p:sp>
      <p:sp>
        <p:nvSpPr>
          <p:cNvPr id="4" name="Karte"/>
          <p:cNvSpPr/>
          <p:nvPr/>
        </p:nvSpPr>
        <p:spPr>
          <a:xfrm>
            <a:off x="548640" y="1737360"/>
            <a:ext cx="2560320" cy="1965960"/>
          </a:xfrm>
          <a:prstGeom prst="roundRect">
            <a:avLst>
              <a:gd name="adj" fmla="val 5581"/>
            </a:avLst>
          </a:prstGeom>
          <a:solidFill>
            <a:schemeClr val="accent1"/>
          </a:solidFill>
          <a:ln/>
          <a:effectLst>
            <a:outerShdw sx="100000" sy="100000" kx="0" ky="0" algn="bl" rotWithShape="0" blurRad="101600" dist="25400" dir="5400000">
              <a:srgbClr val="18202B">
                <a:alpha val="12000"/>
              </a:srgbClr>
            </a:outerShdw>
          </a:effectLst>
        </p:spPr>
      </p:sp>
      <p:sp>
        <p:nvSpPr>
          <p:cNvPr id="5" name="Phasennummer"/>
          <p:cNvSpPr/>
          <p:nvPr/>
        </p:nvSpPr>
        <p:spPr>
          <a:xfrm>
            <a:off x="777240" y="1965960"/>
            <a:ext cx="566928" cy="566928"/>
          </a:xfrm>
          <a:prstGeom prst="ellipse">
            <a:avLst/>
          </a:prstGeom>
          <a:solidFill>
            <a:schemeClr val="bg1"/>
          </a:solidFill>
          <a:ln/>
        </p:spPr>
      </p:sp>
      <p:sp>
        <p:nvSpPr>
          <p:cNvPr id="6" name="Text 4"/>
          <p:cNvSpPr txBox="1"/>
          <p:nvPr/>
        </p:nvSpPr>
        <p:spPr>
          <a:xfrm>
            <a:off x="777240" y="1965960"/>
            <a:ext cx="566928" cy="566928"/>
          </a:xfrm>
          <a:prstGeom prst="rect">
            <a:avLst/>
          </a:prstGeom>
          <a:noFill/>
          <a:ln/>
        </p:spPr>
        <p:txBody>
          <a:bodyPr wrap="square" lIns="0" tIns="0" rIns="0" bIns="0" rtlCol="0" anchor="ctr"/>
          <a:lstStyle/>
          <a:p>
            <a:pPr algn="ctr" indent="0" marL="0">
              <a:buNone/>
            </a:pPr>
            <a:r>
              <a:rPr lang="en-US" sz="2000" b="1" dirty="0">
                <a:solidFill>
                  <a:schemeClr val="accent1"/>
                </a:solidFill>
                <a:latin typeface="Century Schoolbook" pitchFamily="34" charset="0"/>
                <a:ea typeface="Century Schoolbook" pitchFamily="34" charset="-122"/>
                <a:cs typeface="Century Schoolbook" pitchFamily="34" charset="-120"/>
              </a:rPr>
              <a:t>1</a:t>
            </a:r>
            <a:endParaRPr lang="en-US" sz="2000" dirty="0"/>
          </a:p>
        </p:txBody>
      </p:sp>
      <p:sp>
        <p:nvSpPr>
          <p:cNvPr id="7" name="Etikett"/>
          <p:cNvSpPr/>
          <p:nvPr/>
        </p:nvSpPr>
        <p:spPr>
          <a:xfrm>
            <a:off x="1965960" y="2103120"/>
            <a:ext cx="914400" cy="292608"/>
          </a:xfrm>
          <a:prstGeom prst="roundRect">
            <a:avLst>
              <a:gd name="adj" fmla="val 50000"/>
            </a:avLst>
          </a:prstGeom>
          <a:solidFill>
            <a:schemeClr val="accent2"/>
          </a:solidFill>
          <a:ln/>
        </p:spPr>
      </p:sp>
      <p:sp>
        <p:nvSpPr>
          <p:cNvPr id="8" name="Text 6"/>
          <p:cNvSpPr txBox="1"/>
          <p:nvPr/>
        </p:nvSpPr>
        <p:spPr>
          <a:xfrm>
            <a:off x="1965960" y="2103120"/>
            <a:ext cx="914400" cy="292608"/>
          </a:xfrm>
          <a:prstGeom prst="rect">
            <a:avLst/>
          </a:prstGeom>
          <a:noFill/>
          <a:ln/>
        </p:spPr>
        <p:txBody>
          <a:bodyPr wrap="square" lIns="0" tIns="0" rIns="0" bIns="0" rtlCol="0" anchor="ctr"/>
          <a:lstStyle/>
          <a:p>
            <a:pPr algn="ctr" indent="0" marL="0">
              <a:buNone/>
            </a:pPr>
            <a:r>
              <a:rPr lang="en-US" sz="1100" b="1" dirty="0">
                <a:solidFill>
                  <a:schemeClr val="bg1"/>
                </a:solidFill>
              </a:rPr>
              <a:t>Heute</a:t>
            </a:r>
            <a:endParaRPr lang="en-US" sz="1100" dirty="0"/>
          </a:p>
        </p:txBody>
      </p:sp>
      <p:sp>
        <p:nvSpPr>
          <p:cNvPr id="9" name="Text 7"/>
          <p:cNvSpPr txBox="1"/>
          <p:nvPr/>
        </p:nvSpPr>
        <p:spPr>
          <a:xfrm>
            <a:off x="777240" y="2633472"/>
            <a:ext cx="2194560" cy="566928"/>
          </a:xfrm>
          <a:prstGeom prst="rect">
            <a:avLst/>
          </a:prstGeom>
          <a:noFill/>
          <a:ln/>
        </p:spPr>
        <p:txBody>
          <a:bodyPr wrap="square" lIns="0" tIns="0" rIns="0" bIns="0" rtlCol="0" anchor="t"/>
          <a:lstStyle/>
          <a:p>
            <a:pPr indent="0" marL="0">
              <a:buNone/>
            </a:pPr>
            <a:r>
              <a:rPr lang="en-US" sz="1500" b="1" dirty="0">
                <a:solidFill>
                  <a:schemeClr val="bg1"/>
                </a:solidFill>
              </a:rPr>
              <a:t>Kontaktaufnahme</a:t>
            </a:r>
            <a:endParaRPr lang="en-US" sz="1500" dirty="0"/>
          </a:p>
        </p:txBody>
      </p:sp>
      <p:sp>
        <p:nvSpPr>
          <p:cNvPr id="10" name="Text 8"/>
          <p:cNvSpPr txBox="1"/>
          <p:nvPr/>
        </p:nvSpPr>
        <p:spPr>
          <a:xfrm>
            <a:off x="777240" y="3255264"/>
            <a:ext cx="2103120" cy="365760"/>
          </a:xfrm>
          <a:prstGeom prst="rect">
            <a:avLst/>
          </a:prstGeom>
          <a:noFill/>
          <a:ln/>
        </p:spPr>
        <p:txBody>
          <a:bodyPr wrap="square" lIns="0" tIns="0" rIns="0" bIns="0" rtlCol="0" anchor="t"/>
          <a:lstStyle/>
          <a:p>
            <a:pPr indent="0" marL="0">
              <a:buNone/>
            </a:pPr>
            <a:r>
              <a:rPr lang="en-US" sz="1400" dirty="0">
                <a:solidFill>
                  <a:schemeClr val="accent5"/>
                </a:solidFill>
              </a:rPr>
              <a:t>Begrüßen, ansprechen</a:t>
            </a:r>
            <a:endParaRPr lang="en-US" sz="1400" dirty="0"/>
          </a:p>
        </p:txBody>
      </p:sp>
      <p:sp>
        <p:nvSpPr>
          <p:cNvPr id="11" name="Karte"/>
          <p:cNvSpPr/>
          <p:nvPr/>
        </p:nvSpPr>
        <p:spPr>
          <a:xfrm>
            <a:off x="3383280" y="1737360"/>
            <a:ext cx="2560320" cy="1965960"/>
          </a:xfrm>
          <a:prstGeom prst="roundRect">
            <a:avLst>
              <a:gd name="adj" fmla="val 5581"/>
            </a:avLst>
          </a:prstGeom>
          <a:solidFill>
            <a:schemeClr val="bg1"/>
          </a:solidFill>
          <a:ln/>
        </p:spPr>
      </p:sp>
      <p:sp>
        <p:nvSpPr>
          <p:cNvPr id="12" name="Phasennummer"/>
          <p:cNvSpPr/>
          <p:nvPr/>
        </p:nvSpPr>
        <p:spPr>
          <a:xfrm>
            <a:off x="3611880" y="1965960"/>
            <a:ext cx="566928" cy="566928"/>
          </a:xfrm>
          <a:prstGeom prst="ellipse">
            <a:avLst/>
          </a:prstGeom>
          <a:solidFill>
            <a:srgbClr val="D9DEE5"/>
          </a:solidFill>
          <a:ln/>
        </p:spPr>
      </p:sp>
      <p:sp>
        <p:nvSpPr>
          <p:cNvPr id="13" name="Text 11"/>
          <p:cNvSpPr txBox="1"/>
          <p:nvPr/>
        </p:nvSpPr>
        <p:spPr>
          <a:xfrm>
            <a:off x="3611880" y="1965960"/>
            <a:ext cx="566928" cy="566928"/>
          </a:xfrm>
          <a:prstGeom prst="rect">
            <a:avLst/>
          </a:prstGeom>
          <a:noFill/>
          <a:ln/>
        </p:spPr>
        <p:txBody>
          <a:bodyPr wrap="square" lIns="0" tIns="0" rIns="0" bIns="0" rtlCol="0" anchor="ctr"/>
          <a:lstStyle/>
          <a:p>
            <a:pPr algn="ctr" indent="0" marL="0">
              <a:buNone/>
            </a:pPr>
            <a:r>
              <a:rPr lang="en-US" sz="2000" b="1" dirty="0">
                <a:solidFill>
                  <a:schemeClr val="accent6"/>
                </a:solidFill>
                <a:latin typeface="Century Schoolbook" pitchFamily="34" charset="0"/>
                <a:ea typeface="Century Schoolbook" pitchFamily="34" charset="-122"/>
                <a:cs typeface="Century Schoolbook" pitchFamily="34" charset="-120"/>
              </a:rPr>
              <a:t>2</a:t>
            </a:r>
            <a:endParaRPr lang="en-US" sz="2000" dirty="0"/>
          </a:p>
        </p:txBody>
      </p:sp>
      <p:sp>
        <p:nvSpPr>
          <p:cNvPr id="14" name="Text 12"/>
          <p:cNvSpPr txBox="1"/>
          <p:nvPr/>
        </p:nvSpPr>
        <p:spPr>
          <a:xfrm>
            <a:off x="3611880" y="2633472"/>
            <a:ext cx="2194560" cy="566928"/>
          </a:xfrm>
          <a:prstGeom prst="rect">
            <a:avLst/>
          </a:prstGeom>
          <a:noFill/>
          <a:ln/>
        </p:spPr>
        <p:txBody>
          <a:bodyPr wrap="square" lIns="0" tIns="0" rIns="0" bIns="0" rtlCol="0" anchor="t"/>
          <a:lstStyle/>
          <a:p>
            <a:pPr indent="0" marL="0">
              <a:buNone/>
            </a:pPr>
            <a:r>
              <a:rPr lang="en-US" sz="1500" b="1" dirty="0">
                <a:solidFill>
                  <a:schemeClr val="tx1"/>
                </a:solidFill>
              </a:rPr>
              <a:t>Bedarfsermittlung</a:t>
            </a:r>
            <a:endParaRPr lang="en-US" sz="1500" dirty="0"/>
          </a:p>
        </p:txBody>
      </p:sp>
      <p:sp>
        <p:nvSpPr>
          <p:cNvPr id="15" name="Text 13"/>
          <p:cNvSpPr txBox="1"/>
          <p:nvPr/>
        </p:nvSpPr>
        <p:spPr>
          <a:xfrm>
            <a:off x="3611880" y="3255264"/>
            <a:ext cx="2103120" cy="365760"/>
          </a:xfrm>
          <a:prstGeom prst="rect">
            <a:avLst/>
          </a:prstGeom>
          <a:noFill/>
          <a:ln/>
        </p:spPr>
        <p:txBody>
          <a:bodyPr wrap="square" lIns="0" tIns="0" rIns="0" bIns="0" rtlCol="0" anchor="t"/>
          <a:lstStyle/>
          <a:p>
            <a:pPr indent="0" marL="0">
              <a:buNone/>
            </a:pPr>
            <a:r>
              <a:rPr lang="en-US" sz="1400" dirty="0">
                <a:solidFill>
                  <a:schemeClr val="accent6"/>
                </a:solidFill>
              </a:rPr>
              <a:t>Fragen, zuhören</a:t>
            </a:r>
            <a:endParaRPr lang="en-US" sz="1400" dirty="0"/>
          </a:p>
        </p:txBody>
      </p:sp>
      <p:sp>
        <p:nvSpPr>
          <p:cNvPr id="16" name="Karte"/>
          <p:cNvSpPr/>
          <p:nvPr/>
        </p:nvSpPr>
        <p:spPr>
          <a:xfrm>
            <a:off x="6217920" y="1737360"/>
            <a:ext cx="2560320" cy="1965960"/>
          </a:xfrm>
          <a:prstGeom prst="roundRect">
            <a:avLst>
              <a:gd name="adj" fmla="val 5581"/>
            </a:avLst>
          </a:prstGeom>
          <a:solidFill>
            <a:schemeClr val="bg1"/>
          </a:solidFill>
          <a:ln/>
        </p:spPr>
      </p:sp>
      <p:sp>
        <p:nvSpPr>
          <p:cNvPr id="17" name="Phasennummer"/>
          <p:cNvSpPr/>
          <p:nvPr/>
        </p:nvSpPr>
        <p:spPr>
          <a:xfrm>
            <a:off x="6446520" y="1965960"/>
            <a:ext cx="566928" cy="566928"/>
          </a:xfrm>
          <a:prstGeom prst="ellipse">
            <a:avLst/>
          </a:prstGeom>
          <a:solidFill>
            <a:srgbClr val="D9DEE5"/>
          </a:solidFill>
          <a:ln/>
        </p:spPr>
      </p:sp>
      <p:sp>
        <p:nvSpPr>
          <p:cNvPr id="18" name="Text 16"/>
          <p:cNvSpPr txBox="1"/>
          <p:nvPr/>
        </p:nvSpPr>
        <p:spPr>
          <a:xfrm>
            <a:off x="6446520" y="1965960"/>
            <a:ext cx="566928" cy="566928"/>
          </a:xfrm>
          <a:prstGeom prst="rect">
            <a:avLst/>
          </a:prstGeom>
          <a:noFill/>
          <a:ln/>
        </p:spPr>
        <p:txBody>
          <a:bodyPr wrap="square" lIns="0" tIns="0" rIns="0" bIns="0" rtlCol="0" anchor="ctr"/>
          <a:lstStyle/>
          <a:p>
            <a:pPr algn="ctr" indent="0" marL="0">
              <a:buNone/>
            </a:pPr>
            <a:r>
              <a:rPr lang="en-US" sz="2000" b="1" dirty="0">
                <a:solidFill>
                  <a:schemeClr val="accent6"/>
                </a:solidFill>
                <a:latin typeface="Century Schoolbook" pitchFamily="34" charset="0"/>
                <a:ea typeface="Century Schoolbook" pitchFamily="34" charset="-122"/>
                <a:cs typeface="Century Schoolbook" pitchFamily="34" charset="-120"/>
              </a:rPr>
              <a:t>3</a:t>
            </a:r>
            <a:endParaRPr lang="en-US" sz="2000" dirty="0"/>
          </a:p>
        </p:txBody>
      </p:sp>
      <p:sp>
        <p:nvSpPr>
          <p:cNvPr id="19" name="Text 17"/>
          <p:cNvSpPr txBox="1"/>
          <p:nvPr/>
        </p:nvSpPr>
        <p:spPr>
          <a:xfrm>
            <a:off x="6446520" y="2633472"/>
            <a:ext cx="2194560" cy="566928"/>
          </a:xfrm>
          <a:prstGeom prst="rect">
            <a:avLst/>
          </a:prstGeom>
          <a:noFill/>
          <a:ln/>
        </p:spPr>
        <p:txBody>
          <a:bodyPr wrap="square" lIns="0" tIns="0" rIns="0" bIns="0" rtlCol="0" anchor="t"/>
          <a:lstStyle/>
          <a:p>
            <a:pPr indent="0" marL="0">
              <a:buNone/>
            </a:pPr>
            <a:r>
              <a:rPr lang="en-US" sz="1500" b="1" dirty="0">
                <a:solidFill>
                  <a:schemeClr val="tx1"/>
                </a:solidFill>
              </a:rPr>
              <a:t>Warenvorlage</a:t>
            </a:r>
            <a:endParaRPr lang="en-US" sz="1500" dirty="0"/>
          </a:p>
        </p:txBody>
      </p:sp>
      <p:sp>
        <p:nvSpPr>
          <p:cNvPr id="20" name="Text 18"/>
          <p:cNvSpPr txBox="1"/>
          <p:nvPr/>
        </p:nvSpPr>
        <p:spPr>
          <a:xfrm>
            <a:off x="6446520" y="3255264"/>
            <a:ext cx="2103120" cy="365760"/>
          </a:xfrm>
          <a:prstGeom prst="rect">
            <a:avLst/>
          </a:prstGeom>
          <a:noFill/>
          <a:ln/>
        </p:spPr>
        <p:txBody>
          <a:bodyPr wrap="square" lIns="0" tIns="0" rIns="0" bIns="0" rtlCol="0" anchor="t"/>
          <a:lstStyle/>
          <a:p>
            <a:pPr indent="0" marL="0">
              <a:buNone/>
            </a:pPr>
            <a:r>
              <a:rPr lang="en-US" sz="1400" dirty="0">
                <a:solidFill>
                  <a:schemeClr val="accent6"/>
                </a:solidFill>
              </a:rPr>
              <a:t>Passendes zeigen</a:t>
            </a:r>
            <a:endParaRPr lang="en-US" sz="1400" dirty="0"/>
          </a:p>
        </p:txBody>
      </p:sp>
      <p:sp>
        <p:nvSpPr>
          <p:cNvPr id="21" name="Karte"/>
          <p:cNvSpPr/>
          <p:nvPr/>
        </p:nvSpPr>
        <p:spPr>
          <a:xfrm>
            <a:off x="9052560" y="1737360"/>
            <a:ext cx="2560320" cy="1965960"/>
          </a:xfrm>
          <a:prstGeom prst="roundRect">
            <a:avLst>
              <a:gd name="adj" fmla="val 5581"/>
            </a:avLst>
          </a:prstGeom>
          <a:solidFill>
            <a:schemeClr val="bg1"/>
          </a:solidFill>
          <a:ln/>
        </p:spPr>
      </p:sp>
      <p:sp>
        <p:nvSpPr>
          <p:cNvPr id="22" name="Phasennummer"/>
          <p:cNvSpPr/>
          <p:nvPr/>
        </p:nvSpPr>
        <p:spPr>
          <a:xfrm>
            <a:off x="9281160" y="1965960"/>
            <a:ext cx="566928" cy="566928"/>
          </a:xfrm>
          <a:prstGeom prst="ellipse">
            <a:avLst/>
          </a:prstGeom>
          <a:solidFill>
            <a:srgbClr val="D9DEE5"/>
          </a:solidFill>
          <a:ln/>
        </p:spPr>
      </p:sp>
      <p:sp>
        <p:nvSpPr>
          <p:cNvPr id="23" name="Text 21"/>
          <p:cNvSpPr txBox="1"/>
          <p:nvPr/>
        </p:nvSpPr>
        <p:spPr>
          <a:xfrm>
            <a:off x="9281160" y="1965960"/>
            <a:ext cx="566928" cy="566928"/>
          </a:xfrm>
          <a:prstGeom prst="rect">
            <a:avLst/>
          </a:prstGeom>
          <a:noFill/>
          <a:ln/>
        </p:spPr>
        <p:txBody>
          <a:bodyPr wrap="square" lIns="0" tIns="0" rIns="0" bIns="0" rtlCol="0" anchor="ctr"/>
          <a:lstStyle/>
          <a:p>
            <a:pPr algn="ctr" indent="0" marL="0">
              <a:buNone/>
            </a:pPr>
            <a:r>
              <a:rPr lang="en-US" sz="2000" b="1" dirty="0">
                <a:solidFill>
                  <a:schemeClr val="accent6"/>
                </a:solidFill>
                <a:latin typeface="Century Schoolbook" pitchFamily="34" charset="0"/>
                <a:ea typeface="Century Schoolbook" pitchFamily="34" charset="-122"/>
                <a:cs typeface="Century Schoolbook" pitchFamily="34" charset="-120"/>
              </a:rPr>
              <a:t>4</a:t>
            </a:r>
            <a:endParaRPr lang="en-US" sz="2000" dirty="0"/>
          </a:p>
        </p:txBody>
      </p:sp>
      <p:sp>
        <p:nvSpPr>
          <p:cNvPr id="24" name="Text 22"/>
          <p:cNvSpPr txBox="1"/>
          <p:nvPr/>
        </p:nvSpPr>
        <p:spPr>
          <a:xfrm>
            <a:off x="9281160" y="2633472"/>
            <a:ext cx="2194560" cy="566928"/>
          </a:xfrm>
          <a:prstGeom prst="rect">
            <a:avLst/>
          </a:prstGeom>
          <a:noFill/>
          <a:ln/>
        </p:spPr>
        <p:txBody>
          <a:bodyPr wrap="square" lIns="0" tIns="0" rIns="0" bIns="0" rtlCol="0" anchor="t"/>
          <a:lstStyle/>
          <a:p>
            <a:pPr indent="0" marL="0">
              <a:buNone/>
            </a:pPr>
            <a:r>
              <a:rPr lang="en-US" sz="1500" b="1" dirty="0">
                <a:solidFill>
                  <a:schemeClr val="tx1"/>
                </a:solidFill>
              </a:rPr>
              <a:t>Verkaufsargumentation</a:t>
            </a:r>
            <a:endParaRPr lang="en-US" sz="1500" dirty="0"/>
          </a:p>
        </p:txBody>
      </p:sp>
      <p:sp>
        <p:nvSpPr>
          <p:cNvPr id="25" name="Text 23"/>
          <p:cNvSpPr txBox="1"/>
          <p:nvPr/>
        </p:nvSpPr>
        <p:spPr>
          <a:xfrm>
            <a:off x="9281160" y="3255264"/>
            <a:ext cx="2103120" cy="365760"/>
          </a:xfrm>
          <a:prstGeom prst="rect">
            <a:avLst/>
          </a:prstGeom>
          <a:noFill/>
          <a:ln/>
        </p:spPr>
        <p:txBody>
          <a:bodyPr wrap="square" lIns="0" tIns="0" rIns="0" bIns="0" rtlCol="0" anchor="t"/>
          <a:lstStyle/>
          <a:p>
            <a:pPr indent="0" marL="0">
              <a:buNone/>
            </a:pPr>
            <a:r>
              <a:rPr lang="en-US" sz="1400" dirty="0">
                <a:solidFill>
                  <a:schemeClr val="accent6"/>
                </a:solidFill>
              </a:rPr>
              <a:t>Nutzen erklären</a:t>
            </a:r>
            <a:endParaRPr lang="en-US" sz="1400" dirty="0"/>
          </a:p>
        </p:txBody>
      </p:sp>
      <p:sp>
        <p:nvSpPr>
          <p:cNvPr id="26" name="Karte"/>
          <p:cNvSpPr/>
          <p:nvPr/>
        </p:nvSpPr>
        <p:spPr>
          <a:xfrm>
            <a:off x="548640" y="4023360"/>
            <a:ext cx="2560320" cy="1965960"/>
          </a:xfrm>
          <a:prstGeom prst="roundRect">
            <a:avLst>
              <a:gd name="adj" fmla="val 5581"/>
            </a:avLst>
          </a:prstGeom>
          <a:solidFill>
            <a:schemeClr val="bg1"/>
          </a:solidFill>
          <a:ln/>
        </p:spPr>
      </p:sp>
      <p:sp>
        <p:nvSpPr>
          <p:cNvPr id="27" name="Phasennummer"/>
          <p:cNvSpPr/>
          <p:nvPr/>
        </p:nvSpPr>
        <p:spPr>
          <a:xfrm>
            <a:off x="777240" y="4251960"/>
            <a:ext cx="566928" cy="566928"/>
          </a:xfrm>
          <a:prstGeom prst="ellipse">
            <a:avLst/>
          </a:prstGeom>
          <a:solidFill>
            <a:srgbClr val="D9DEE5"/>
          </a:solidFill>
          <a:ln/>
        </p:spPr>
      </p:sp>
      <p:sp>
        <p:nvSpPr>
          <p:cNvPr id="28" name="Text 26"/>
          <p:cNvSpPr txBox="1"/>
          <p:nvPr/>
        </p:nvSpPr>
        <p:spPr>
          <a:xfrm>
            <a:off x="777240" y="4251960"/>
            <a:ext cx="566928" cy="566928"/>
          </a:xfrm>
          <a:prstGeom prst="rect">
            <a:avLst/>
          </a:prstGeom>
          <a:noFill/>
          <a:ln/>
        </p:spPr>
        <p:txBody>
          <a:bodyPr wrap="square" lIns="0" tIns="0" rIns="0" bIns="0" rtlCol="0" anchor="ctr"/>
          <a:lstStyle/>
          <a:p>
            <a:pPr algn="ctr" indent="0" marL="0">
              <a:buNone/>
            </a:pPr>
            <a:r>
              <a:rPr lang="en-US" sz="2000" b="1" dirty="0">
                <a:solidFill>
                  <a:schemeClr val="accent6"/>
                </a:solidFill>
                <a:latin typeface="Century Schoolbook" pitchFamily="34" charset="0"/>
                <a:ea typeface="Century Schoolbook" pitchFamily="34" charset="-122"/>
                <a:cs typeface="Century Schoolbook" pitchFamily="34" charset="-120"/>
              </a:rPr>
              <a:t>5</a:t>
            </a:r>
            <a:endParaRPr lang="en-US" sz="2000" dirty="0"/>
          </a:p>
        </p:txBody>
      </p:sp>
      <p:sp>
        <p:nvSpPr>
          <p:cNvPr id="29" name="Text 27"/>
          <p:cNvSpPr txBox="1"/>
          <p:nvPr/>
        </p:nvSpPr>
        <p:spPr>
          <a:xfrm>
            <a:off x="777240" y="4919472"/>
            <a:ext cx="2194560" cy="566928"/>
          </a:xfrm>
          <a:prstGeom prst="rect">
            <a:avLst/>
          </a:prstGeom>
          <a:noFill/>
          <a:ln/>
        </p:spPr>
        <p:txBody>
          <a:bodyPr wrap="square" lIns="0" tIns="0" rIns="0" bIns="0" rtlCol="0" anchor="t"/>
          <a:lstStyle/>
          <a:p>
            <a:pPr indent="0" marL="0">
              <a:buNone/>
            </a:pPr>
            <a:r>
              <a:rPr lang="en-US" sz="1500" b="1" dirty="0">
                <a:solidFill>
                  <a:schemeClr val="tx1"/>
                </a:solidFill>
              </a:rPr>
              <a:t>Preisnennung</a:t>
            </a:r>
            <a:endParaRPr lang="en-US" sz="1500" dirty="0"/>
          </a:p>
        </p:txBody>
      </p:sp>
      <p:sp>
        <p:nvSpPr>
          <p:cNvPr id="30" name="Text 28"/>
          <p:cNvSpPr txBox="1"/>
          <p:nvPr/>
        </p:nvSpPr>
        <p:spPr>
          <a:xfrm>
            <a:off x="777240" y="5541264"/>
            <a:ext cx="2103120" cy="365760"/>
          </a:xfrm>
          <a:prstGeom prst="rect">
            <a:avLst/>
          </a:prstGeom>
          <a:noFill/>
          <a:ln/>
        </p:spPr>
        <p:txBody>
          <a:bodyPr wrap="square" lIns="0" tIns="0" rIns="0" bIns="0" rtlCol="0" anchor="t"/>
          <a:lstStyle/>
          <a:p>
            <a:pPr indent="0" marL="0">
              <a:buNone/>
            </a:pPr>
            <a:r>
              <a:rPr lang="en-US" sz="1400" dirty="0">
                <a:solidFill>
                  <a:schemeClr val="accent6"/>
                </a:solidFill>
              </a:rPr>
              <a:t>Preis überzeugend nennen</a:t>
            </a:r>
            <a:endParaRPr lang="en-US" sz="1400" dirty="0"/>
          </a:p>
        </p:txBody>
      </p:sp>
      <p:sp>
        <p:nvSpPr>
          <p:cNvPr id="31" name="Karte"/>
          <p:cNvSpPr/>
          <p:nvPr/>
        </p:nvSpPr>
        <p:spPr>
          <a:xfrm>
            <a:off x="3383280" y="4023360"/>
            <a:ext cx="2560320" cy="1965960"/>
          </a:xfrm>
          <a:prstGeom prst="roundRect">
            <a:avLst>
              <a:gd name="adj" fmla="val 5581"/>
            </a:avLst>
          </a:prstGeom>
          <a:solidFill>
            <a:schemeClr val="bg1"/>
          </a:solidFill>
          <a:ln/>
        </p:spPr>
      </p:sp>
      <p:sp>
        <p:nvSpPr>
          <p:cNvPr id="32" name="Phasennummer"/>
          <p:cNvSpPr/>
          <p:nvPr/>
        </p:nvSpPr>
        <p:spPr>
          <a:xfrm>
            <a:off x="3611880" y="4251960"/>
            <a:ext cx="566928" cy="566928"/>
          </a:xfrm>
          <a:prstGeom prst="ellipse">
            <a:avLst/>
          </a:prstGeom>
          <a:solidFill>
            <a:srgbClr val="D9DEE5"/>
          </a:solidFill>
          <a:ln/>
        </p:spPr>
      </p:sp>
      <p:sp>
        <p:nvSpPr>
          <p:cNvPr id="33" name="Text 31"/>
          <p:cNvSpPr txBox="1"/>
          <p:nvPr/>
        </p:nvSpPr>
        <p:spPr>
          <a:xfrm>
            <a:off x="3611880" y="4251960"/>
            <a:ext cx="566928" cy="566928"/>
          </a:xfrm>
          <a:prstGeom prst="rect">
            <a:avLst/>
          </a:prstGeom>
          <a:noFill/>
          <a:ln/>
        </p:spPr>
        <p:txBody>
          <a:bodyPr wrap="square" lIns="0" tIns="0" rIns="0" bIns="0" rtlCol="0" anchor="ctr"/>
          <a:lstStyle/>
          <a:p>
            <a:pPr algn="ctr" indent="0" marL="0">
              <a:buNone/>
            </a:pPr>
            <a:r>
              <a:rPr lang="en-US" sz="2000" b="1" dirty="0">
                <a:solidFill>
                  <a:schemeClr val="accent6"/>
                </a:solidFill>
                <a:latin typeface="Century Schoolbook" pitchFamily="34" charset="0"/>
                <a:ea typeface="Century Schoolbook" pitchFamily="34" charset="-122"/>
                <a:cs typeface="Century Schoolbook" pitchFamily="34" charset="-120"/>
              </a:rPr>
              <a:t>6</a:t>
            </a:r>
            <a:endParaRPr lang="en-US" sz="2000" dirty="0"/>
          </a:p>
        </p:txBody>
      </p:sp>
      <p:sp>
        <p:nvSpPr>
          <p:cNvPr id="34" name="Text 32"/>
          <p:cNvSpPr txBox="1"/>
          <p:nvPr/>
        </p:nvSpPr>
        <p:spPr>
          <a:xfrm>
            <a:off x="3611880" y="4919472"/>
            <a:ext cx="2194560" cy="566928"/>
          </a:xfrm>
          <a:prstGeom prst="rect">
            <a:avLst/>
          </a:prstGeom>
          <a:noFill/>
          <a:ln/>
        </p:spPr>
        <p:txBody>
          <a:bodyPr wrap="square" lIns="0" tIns="0" rIns="0" bIns="0" rtlCol="0" anchor="t"/>
          <a:lstStyle/>
          <a:p>
            <a:pPr indent="0" marL="0">
              <a:buNone/>
            </a:pPr>
            <a:r>
              <a:rPr lang="en-US" sz="1500" b="1" dirty="0">
                <a:solidFill>
                  <a:schemeClr val="tx1"/>
                </a:solidFill>
              </a:rPr>
              <a:t>Einwandbehandlung</a:t>
            </a:r>
            <a:endParaRPr lang="en-US" sz="1500" dirty="0"/>
          </a:p>
        </p:txBody>
      </p:sp>
      <p:sp>
        <p:nvSpPr>
          <p:cNvPr id="35" name="Text 33"/>
          <p:cNvSpPr txBox="1"/>
          <p:nvPr/>
        </p:nvSpPr>
        <p:spPr>
          <a:xfrm>
            <a:off x="3611880" y="5541264"/>
            <a:ext cx="2103120" cy="365760"/>
          </a:xfrm>
          <a:prstGeom prst="rect">
            <a:avLst/>
          </a:prstGeom>
          <a:noFill/>
          <a:ln/>
        </p:spPr>
        <p:txBody>
          <a:bodyPr wrap="square" lIns="0" tIns="0" rIns="0" bIns="0" rtlCol="0" anchor="t"/>
          <a:lstStyle/>
          <a:p>
            <a:pPr indent="0" marL="0">
              <a:buNone/>
            </a:pPr>
            <a:r>
              <a:rPr lang="en-US" sz="1400" dirty="0">
                <a:solidFill>
                  <a:schemeClr val="accent6"/>
                </a:solidFill>
              </a:rPr>
              <a:t>Bedenken ausräumen</a:t>
            </a:r>
            <a:endParaRPr lang="en-US" sz="1400" dirty="0"/>
          </a:p>
        </p:txBody>
      </p:sp>
      <p:sp>
        <p:nvSpPr>
          <p:cNvPr id="36" name="Karte"/>
          <p:cNvSpPr/>
          <p:nvPr/>
        </p:nvSpPr>
        <p:spPr>
          <a:xfrm>
            <a:off x="6217920" y="4023360"/>
            <a:ext cx="2560320" cy="1965960"/>
          </a:xfrm>
          <a:prstGeom prst="roundRect">
            <a:avLst>
              <a:gd name="adj" fmla="val 5581"/>
            </a:avLst>
          </a:prstGeom>
          <a:solidFill>
            <a:schemeClr val="bg1"/>
          </a:solidFill>
          <a:ln/>
        </p:spPr>
      </p:sp>
      <p:sp>
        <p:nvSpPr>
          <p:cNvPr id="37" name="Phasennummer"/>
          <p:cNvSpPr/>
          <p:nvPr/>
        </p:nvSpPr>
        <p:spPr>
          <a:xfrm>
            <a:off x="6446520" y="4251960"/>
            <a:ext cx="566928" cy="566928"/>
          </a:xfrm>
          <a:prstGeom prst="ellipse">
            <a:avLst/>
          </a:prstGeom>
          <a:solidFill>
            <a:srgbClr val="D9DEE5"/>
          </a:solidFill>
          <a:ln/>
        </p:spPr>
      </p:sp>
      <p:sp>
        <p:nvSpPr>
          <p:cNvPr id="38" name="Text 36"/>
          <p:cNvSpPr txBox="1"/>
          <p:nvPr/>
        </p:nvSpPr>
        <p:spPr>
          <a:xfrm>
            <a:off x="6446520" y="4251960"/>
            <a:ext cx="566928" cy="566928"/>
          </a:xfrm>
          <a:prstGeom prst="rect">
            <a:avLst/>
          </a:prstGeom>
          <a:noFill/>
          <a:ln/>
        </p:spPr>
        <p:txBody>
          <a:bodyPr wrap="square" lIns="0" tIns="0" rIns="0" bIns="0" rtlCol="0" anchor="ctr"/>
          <a:lstStyle/>
          <a:p>
            <a:pPr algn="ctr" indent="0" marL="0">
              <a:buNone/>
            </a:pPr>
            <a:r>
              <a:rPr lang="en-US" sz="2000" b="1" dirty="0">
                <a:solidFill>
                  <a:schemeClr val="accent6"/>
                </a:solidFill>
                <a:latin typeface="Century Schoolbook" pitchFamily="34" charset="0"/>
                <a:ea typeface="Century Schoolbook" pitchFamily="34" charset="-122"/>
                <a:cs typeface="Century Schoolbook" pitchFamily="34" charset="-120"/>
              </a:rPr>
              <a:t>7</a:t>
            </a:r>
            <a:endParaRPr lang="en-US" sz="2000" dirty="0"/>
          </a:p>
        </p:txBody>
      </p:sp>
      <p:sp>
        <p:nvSpPr>
          <p:cNvPr id="39" name="Text 37"/>
          <p:cNvSpPr txBox="1"/>
          <p:nvPr/>
        </p:nvSpPr>
        <p:spPr>
          <a:xfrm>
            <a:off x="6446520" y="4919472"/>
            <a:ext cx="2194560" cy="566928"/>
          </a:xfrm>
          <a:prstGeom prst="rect">
            <a:avLst/>
          </a:prstGeom>
          <a:noFill/>
          <a:ln/>
        </p:spPr>
        <p:txBody>
          <a:bodyPr wrap="square" lIns="0" tIns="0" rIns="0" bIns="0" rtlCol="0" anchor="t"/>
          <a:lstStyle/>
          <a:p>
            <a:pPr indent="0" marL="0">
              <a:buNone/>
            </a:pPr>
            <a:r>
              <a:rPr lang="en-US" sz="1500" b="1" dirty="0">
                <a:solidFill>
                  <a:schemeClr val="tx1"/>
                </a:solidFill>
              </a:rPr>
              <a:t>Ergänzungsangebot</a:t>
            </a:r>
            <a:endParaRPr lang="en-US" sz="1500" dirty="0"/>
          </a:p>
        </p:txBody>
      </p:sp>
      <p:sp>
        <p:nvSpPr>
          <p:cNvPr id="40" name="Text 38"/>
          <p:cNvSpPr txBox="1"/>
          <p:nvPr/>
        </p:nvSpPr>
        <p:spPr>
          <a:xfrm>
            <a:off x="6446520" y="5541264"/>
            <a:ext cx="2103120" cy="365760"/>
          </a:xfrm>
          <a:prstGeom prst="rect">
            <a:avLst/>
          </a:prstGeom>
          <a:noFill/>
          <a:ln/>
        </p:spPr>
        <p:txBody>
          <a:bodyPr wrap="square" lIns="0" tIns="0" rIns="0" bIns="0" rtlCol="0" anchor="t"/>
          <a:lstStyle/>
          <a:p>
            <a:pPr indent="0" marL="0">
              <a:buNone/>
            </a:pPr>
            <a:r>
              <a:rPr lang="en-US" sz="1400" dirty="0">
                <a:solidFill>
                  <a:schemeClr val="accent6"/>
                </a:solidFill>
              </a:rPr>
              <a:t>Passendes dazu anbieten</a:t>
            </a:r>
            <a:endParaRPr lang="en-US" sz="1400" dirty="0"/>
          </a:p>
        </p:txBody>
      </p:sp>
      <p:sp>
        <p:nvSpPr>
          <p:cNvPr id="41" name="Karte"/>
          <p:cNvSpPr/>
          <p:nvPr/>
        </p:nvSpPr>
        <p:spPr>
          <a:xfrm>
            <a:off x="9052560" y="4023360"/>
            <a:ext cx="2560320" cy="1965960"/>
          </a:xfrm>
          <a:prstGeom prst="roundRect">
            <a:avLst>
              <a:gd name="adj" fmla="val 5581"/>
            </a:avLst>
          </a:prstGeom>
          <a:solidFill>
            <a:schemeClr val="bg1"/>
          </a:solidFill>
          <a:ln/>
        </p:spPr>
      </p:sp>
      <p:sp>
        <p:nvSpPr>
          <p:cNvPr id="42" name="Phasennummer"/>
          <p:cNvSpPr/>
          <p:nvPr/>
        </p:nvSpPr>
        <p:spPr>
          <a:xfrm>
            <a:off x="9281160" y="4251960"/>
            <a:ext cx="566928" cy="566928"/>
          </a:xfrm>
          <a:prstGeom prst="ellipse">
            <a:avLst/>
          </a:prstGeom>
          <a:solidFill>
            <a:srgbClr val="D9DEE5"/>
          </a:solidFill>
          <a:ln/>
        </p:spPr>
      </p:sp>
      <p:sp>
        <p:nvSpPr>
          <p:cNvPr id="43" name="Text 41"/>
          <p:cNvSpPr txBox="1"/>
          <p:nvPr/>
        </p:nvSpPr>
        <p:spPr>
          <a:xfrm>
            <a:off x="9281160" y="4251960"/>
            <a:ext cx="566928" cy="566928"/>
          </a:xfrm>
          <a:prstGeom prst="rect">
            <a:avLst/>
          </a:prstGeom>
          <a:noFill/>
          <a:ln/>
        </p:spPr>
        <p:txBody>
          <a:bodyPr wrap="square" lIns="0" tIns="0" rIns="0" bIns="0" rtlCol="0" anchor="ctr"/>
          <a:lstStyle/>
          <a:p>
            <a:pPr algn="ctr" indent="0" marL="0">
              <a:buNone/>
            </a:pPr>
            <a:r>
              <a:rPr lang="en-US" sz="2000" b="1" dirty="0">
                <a:solidFill>
                  <a:schemeClr val="accent6"/>
                </a:solidFill>
                <a:latin typeface="Century Schoolbook" pitchFamily="34" charset="0"/>
                <a:ea typeface="Century Schoolbook" pitchFamily="34" charset="-122"/>
                <a:cs typeface="Century Schoolbook" pitchFamily="34" charset="-120"/>
              </a:rPr>
              <a:t>8</a:t>
            </a:r>
            <a:endParaRPr lang="en-US" sz="2000" dirty="0"/>
          </a:p>
        </p:txBody>
      </p:sp>
      <p:sp>
        <p:nvSpPr>
          <p:cNvPr id="44" name="Text 42"/>
          <p:cNvSpPr txBox="1"/>
          <p:nvPr/>
        </p:nvSpPr>
        <p:spPr>
          <a:xfrm>
            <a:off x="9281160" y="4919472"/>
            <a:ext cx="2194560" cy="566928"/>
          </a:xfrm>
          <a:prstGeom prst="rect">
            <a:avLst/>
          </a:prstGeom>
          <a:noFill/>
          <a:ln/>
        </p:spPr>
        <p:txBody>
          <a:bodyPr wrap="square" lIns="0" tIns="0" rIns="0" bIns="0" rtlCol="0" anchor="t"/>
          <a:lstStyle/>
          <a:p>
            <a:pPr indent="0" marL="0">
              <a:buNone/>
            </a:pPr>
            <a:r>
              <a:rPr lang="en-US" sz="1500" b="1" dirty="0">
                <a:solidFill>
                  <a:schemeClr val="tx1"/>
                </a:solidFill>
              </a:rPr>
              <a:t>Abschluss &amp; Verabschiedung</a:t>
            </a:r>
            <a:endParaRPr lang="en-US" sz="1500" dirty="0"/>
          </a:p>
        </p:txBody>
      </p:sp>
      <p:sp>
        <p:nvSpPr>
          <p:cNvPr id="45" name="Text 43"/>
          <p:cNvSpPr txBox="1"/>
          <p:nvPr/>
        </p:nvSpPr>
        <p:spPr>
          <a:xfrm>
            <a:off x="9281160" y="5541264"/>
            <a:ext cx="2103120" cy="365760"/>
          </a:xfrm>
          <a:prstGeom prst="rect">
            <a:avLst/>
          </a:prstGeom>
          <a:noFill/>
          <a:ln/>
        </p:spPr>
        <p:txBody>
          <a:bodyPr wrap="square" lIns="0" tIns="0" rIns="0" bIns="0" rtlCol="0" anchor="t"/>
          <a:lstStyle/>
          <a:p>
            <a:pPr indent="0" marL="0">
              <a:buNone/>
            </a:pPr>
            <a:r>
              <a:rPr lang="en-US" sz="1400" dirty="0">
                <a:solidFill>
                  <a:schemeClr val="accent6"/>
                </a:solidFill>
              </a:rPr>
              <a:t>Kauf bestätigen</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PHASE 1 · KONTAKTAUFNAHME</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Der erste Eindruck entscheidet</a:t>
            </a:r>
            <a:endParaRPr lang="en-US" sz="3400" dirty="0"/>
          </a:p>
        </p:txBody>
      </p:sp>
      <p:sp>
        <p:nvSpPr>
          <p:cNvPr id="4" name="Phasenpunkt"/>
          <p:cNvSpPr/>
          <p:nvPr/>
        </p:nvSpPr>
        <p:spPr>
          <a:xfrm>
            <a:off x="9646920" y="429768"/>
            <a:ext cx="155448" cy="155448"/>
          </a:xfrm>
          <a:prstGeom prst="ellipse">
            <a:avLst/>
          </a:prstGeom>
          <a:solidFill>
            <a:schemeClr val="accent1"/>
          </a:solidFill>
          <a:ln/>
        </p:spPr>
      </p:sp>
      <p:sp>
        <p:nvSpPr>
          <p:cNvPr id="5" name="Phasenpunkt"/>
          <p:cNvSpPr/>
          <p:nvPr/>
        </p:nvSpPr>
        <p:spPr>
          <a:xfrm>
            <a:off x="9893808" y="429768"/>
            <a:ext cx="155448" cy="155448"/>
          </a:xfrm>
          <a:prstGeom prst="ellipse">
            <a:avLst/>
          </a:prstGeom>
          <a:solidFill>
            <a:srgbClr val="D9DEE5"/>
          </a:solidFill>
          <a:ln/>
        </p:spPr>
      </p:sp>
      <p:sp>
        <p:nvSpPr>
          <p:cNvPr id="6" name="Phasenpunkt"/>
          <p:cNvSpPr/>
          <p:nvPr/>
        </p:nvSpPr>
        <p:spPr>
          <a:xfrm>
            <a:off x="10140696" y="429768"/>
            <a:ext cx="155448" cy="155448"/>
          </a:xfrm>
          <a:prstGeom prst="ellipse">
            <a:avLst/>
          </a:prstGeom>
          <a:solidFill>
            <a:srgbClr val="D9DEE5"/>
          </a:solidFill>
          <a:ln/>
        </p:spPr>
      </p:sp>
      <p:sp>
        <p:nvSpPr>
          <p:cNvPr id="7" name="Phasenpunkt"/>
          <p:cNvSpPr/>
          <p:nvPr/>
        </p:nvSpPr>
        <p:spPr>
          <a:xfrm>
            <a:off x="10387584" y="429768"/>
            <a:ext cx="155448" cy="155448"/>
          </a:xfrm>
          <a:prstGeom prst="ellipse">
            <a:avLst/>
          </a:prstGeom>
          <a:solidFill>
            <a:srgbClr val="D9DEE5"/>
          </a:solidFill>
          <a:ln/>
        </p:spPr>
      </p:sp>
      <p:sp>
        <p:nvSpPr>
          <p:cNvPr id="8" name="Phasenpunkt"/>
          <p:cNvSpPr/>
          <p:nvPr/>
        </p:nvSpPr>
        <p:spPr>
          <a:xfrm>
            <a:off x="10634472" y="429768"/>
            <a:ext cx="155448" cy="155448"/>
          </a:xfrm>
          <a:prstGeom prst="ellipse">
            <a:avLst/>
          </a:prstGeom>
          <a:solidFill>
            <a:srgbClr val="D9DEE5"/>
          </a:solidFill>
          <a:ln/>
        </p:spPr>
      </p:sp>
      <p:sp>
        <p:nvSpPr>
          <p:cNvPr id="9" name="Phasenpunkt"/>
          <p:cNvSpPr/>
          <p:nvPr/>
        </p:nvSpPr>
        <p:spPr>
          <a:xfrm>
            <a:off x="10881360" y="429768"/>
            <a:ext cx="155448" cy="155448"/>
          </a:xfrm>
          <a:prstGeom prst="ellipse">
            <a:avLst/>
          </a:prstGeom>
          <a:solidFill>
            <a:srgbClr val="D9DEE5"/>
          </a:solidFill>
          <a:ln/>
        </p:spPr>
      </p:sp>
      <p:sp>
        <p:nvSpPr>
          <p:cNvPr id="10" name="Phasenpunkt"/>
          <p:cNvSpPr/>
          <p:nvPr/>
        </p:nvSpPr>
        <p:spPr>
          <a:xfrm>
            <a:off x="11128248" y="429768"/>
            <a:ext cx="155448" cy="155448"/>
          </a:xfrm>
          <a:prstGeom prst="ellipse">
            <a:avLst/>
          </a:prstGeom>
          <a:solidFill>
            <a:srgbClr val="D9DEE5"/>
          </a:solidFill>
          <a:ln/>
        </p:spPr>
      </p:sp>
      <p:sp>
        <p:nvSpPr>
          <p:cNvPr id="11" name="Phasenpunkt"/>
          <p:cNvSpPr/>
          <p:nvPr/>
        </p:nvSpPr>
        <p:spPr>
          <a:xfrm>
            <a:off x="11375136" y="429768"/>
            <a:ext cx="155448" cy="155448"/>
          </a:xfrm>
          <a:prstGeom prst="ellipse">
            <a:avLst/>
          </a:prstGeom>
          <a:solidFill>
            <a:srgbClr val="D9DEE5"/>
          </a:solidFill>
          <a:ln/>
        </p:spPr>
      </p:sp>
      <p:sp>
        <p:nvSpPr>
          <p:cNvPr id="12" name="Karte"/>
          <p:cNvSpPr/>
          <p:nvPr/>
        </p:nvSpPr>
        <p:spPr>
          <a:xfrm>
            <a:off x="548640" y="1737360"/>
            <a:ext cx="3502152" cy="2743200"/>
          </a:xfrm>
          <a:prstGeom prst="roundRect">
            <a:avLst>
              <a:gd name="adj" fmla="val 4000"/>
            </a:avLst>
          </a:prstGeom>
          <a:solidFill>
            <a:schemeClr val="bg1"/>
          </a:solidFill>
          <a:ln/>
          <a:effectLst>
            <a:outerShdw sx="100000" sy="100000" kx="0" ky="0" algn="bl" rotWithShape="0" blurRad="101600" dist="25400" dir="5400000">
              <a:srgbClr val="18202B">
                <a:alpha val="12000"/>
              </a:srgbClr>
            </a:outerShdw>
          </a:effectLst>
        </p:spPr>
      </p:sp>
      <p:sp>
        <p:nvSpPr>
          <p:cNvPr id="13" name="Symbolkreis"/>
          <p:cNvSpPr/>
          <p:nvPr/>
        </p:nvSpPr>
        <p:spPr>
          <a:xfrm>
            <a:off x="822960" y="1965960"/>
            <a:ext cx="685800" cy="685800"/>
          </a:xfrm>
          <a:prstGeom prst="ellipse">
            <a:avLst/>
          </a:prstGeom>
          <a:solidFill>
            <a:schemeClr val="accent5"/>
          </a:solidFill>
          <a:ln/>
        </p:spPr>
      </p:sp>
      <p:pic>
        <p:nvPicPr>
          <p:cNvPr id="14" name="Image 0" descr="Symbol">    </p:cNvPr>
          <p:cNvPicPr>
            <a:picLocks noChangeAspect="1"/>
          </p:cNvPicPr>
          <p:nvPr/>
        </p:nvPicPr>
        <p:blipFill>
          <a:blip r:embed="rId1"/>
          <a:stretch>
            <a:fillRect/>
          </a:stretch>
        </p:blipFill>
        <p:spPr>
          <a:xfrm>
            <a:off x="973836" y="2116836"/>
            <a:ext cx="384048" cy="384048"/>
          </a:xfrm>
          <a:prstGeom prst="rect">
            <a:avLst/>
          </a:prstGeom>
        </p:spPr>
      </p:pic>
      <p:sp>
        <p:nvSpPr>
          <p:cNvPr id="15" name="Text 12"/>
          <p:cNvSpPr txBox="1"/>
          <p:nvPr/>
        </p:nvSpPr>
        <p:spPr>
          <a:xfrm>
            <a:off x="822960" y="2834640"/>
            <a:ext cx="2953512" cy="411480"/>
          </a:xfrm>
          <a:prstGeom prst="rect">
            <a:avLst/>
          </a:prstGeom>
          <a:noFill/>
          <a:ln/>
        </p:spPr>
        <p:txBody>
          <a:bodyPr wrap="square" lIns="0" tIns="0" rIns="0" bIns="0" rtlCol="0" anchor="t"/>
          <a:lstStyle/>
          <a:p>
            <a:pPr indent="0" marL="0">
              <a:buNone/>
            </a:pPr>
            <a:r>
              <a:rPr lang="en-US" sz="2000" b="1" dirty="0">
                <a:solidFill>
                  <a:schemeClr val="tx1"/>
                </a:solidFill>
                <a:latin typeface="Century Schoolbook" pitchFamily="34" charset="0"/>
                <a:ea typeface="Century Schoolbook" pitchFamily="34" charset="-122"/>
                <a:cs typeface="Century Schoolbook" pitchFamily="34" charset="-120"/>
              </a:rPr>
              <a:t>1. Hingehen</a:t>
            </a:r>
            <a:endParaRPr lang="en-US" sz="2000" dirty="0"/>
          </a:p>
        </p:txBody>
      </p:sp>
      <p:sp>
        <p:nvSpPr>
          <p:cNvPr id="16" name="Text 13"/>
          <p:cNvSpPr txBox="1"/>
          <p:nvPr/>
        </p:nvSpPr>
        <p:spPr>
          <a:xfrm>
            <a:off x="822960" y="3310128"/>
            <a:ext cx="2953512" cy="1051560"/>
          </a:xfrm>
          <a:prstGeom prst="rect">
            <a:avLst/>
          </a:prstGeom>
          <a:noFill/>
          <a:ln/>
        </p:spPr>
        <p:txBody>
          <a:bodyPr wrap="square" lIns="0" tIns="0" rIns="0" bIns="0" rtlCol="0" anchor="t"/>
          <a:lstStyle/>
          <a:p>
            <a:pPr indent="0" marL="0">
              <a:buNone/>
            </a:pPr>
            <a:r>
              <a:rPr lang="en-US" sz="1500" dirty="0">
                <a:solidFill>
                  <a:schemeClr val="accent6"/>
                </a:solidFill>
              </a:rPr>
              <a:t>Gehen Sie auf die Kundschaft zu, statt aus der Ferne zu rufen oder an der Kasse zu warten.</a:t>
            </a:r>
            <a:endParaRPr lang="en-US" sz="1500" dirty="0"/>
          </a:p>
        </p:txBody>
      </p:sp>
      <p:sp>
        <p:nvSpPr>
          <p:cNvPr id="17" name="Pfeil"/>
          <p:cNvSpPr/>
          <p:nvPr/>
        </p:nvSpPr>
        <p:spPr>
          <a:xfrm>
            <a:off x="4069080" y="2926080"/>
            <a:ext cx="237744" cy="292608"/>
          </a:xfrm>
          <a:prstGeom prst="rightArrow">
            <a:avLst/>
          </a:prstGeom>
          <a:solidFill>
            <a:schemeClr val="accent1"/>
          </a:solidFill>
          <a:ln/>
        </p:spPr>
      </p:sp>
      <p:sp>
        <p:nvSpPr>
          <p:cNvPr id="18" name="Karte"/>
          <p:cNvSpPr/>
          <p:nvPr/>
        </p:nvSpPr>
        <p:spPr>
          <a:xfrm>
            <a:off x="4325112" y="1737360"/>
            <a:ext cx="3502152" cy="2743200"/>
          </a:xfrm>
          <a:prstGeom prst="roundRect">
            <a:avLst>
              <a:gd name="adj" fmla="val 4000"/>
            </a:avLst>
          </a:prstGeom>
          <a:solidFill>
            <a:schemeClr val="bg1"/>
          </a:solidFill>
          <a:ln/>
          <a:effectLst>
            <a:outerShdw sx="100000" sy="100000" kx="0" ky="0" algn="bl" rotWithShape="0" blurRad="101600" dist="25400" dir="5400000">
              <a:srgbClr val="18202B">
                <a:alpha val="12000"/>
              </a:srgbClr>
            </a:outerShdw>
          </a:effectLst>
        </p:spPr>
      </p:sp>
      <p:sp>
        <p:nvSpPr>
          <p:cNvPr id="19" name="Symbolkreis"/>
          <p:cNvSpPr/>
          <p:nvPr/>
        </p:nvSpPr>
        <p:spPr>
          <a:xfrm>
            <a:off x="4599432" y="1965960"/>
            <a:ext cx="685800" cy="685800"/>
          </a:xfrm>
          <a:prstGeom prst="ellipse">
            <a:avLst/>
          </a:prstGeom>
          <a:solidFill>
            <a:schemeClr val="accent5"/>
          </a:solidFill>
          <a:ln/>
        </p:spPr>
      </p:sp>
      <p:pic>
        <p:nvPicPr>
          <p:cNvPr id="20" name="Image 1" descr="Symbol">    </p:cNvPr>
          <p:cNvPicPr>
            <a:picLocks noChangeAspect="1"/>
          </p:cNvPicPr>
          <p:nvPr/>
        </p:nvPicPr>
        <p:blipFill>
          <a:blip r:embed="rId2"/>
          <a:stretch>
            <a:fillRect/>
          </a:stretch>
        </p:blipFill>
        <p:spPr>
          <a:xfrm>
            <a:off x="4750308" y="2116836"/>
            <a:ext cx="384048" cy="384048"/>
          </a:xfrm>
          <a:prstGeom prst="rect">
            <a:avLst/>
          </a:prstGeom>
        </p:spPr>
      </p:pic>
      <p:sp>
        <p:nvSpPr>
          <p:cNvPr id="21" name="Text 17"/>
          <p:cNvSpPr txBox="1"/>
          <p:nvPr/>
        </p:nvSpPr>
        <p:spPr>
          <a:xfrm>
            <a:off x="4599432" y="2834640"/>
            <a:ext cx="2953512" cy="411480"/>
          </a:xfrm>
          <a:prstGeom prst="rect">
            <a:avLst/>
          </a:prstGeom>
          <a:noFill/>
          <a:ln/>
        </p:spPr>
        <p:txBody>
          <a:bodyPr wrap="square" lIns="0" tIns="0" rIns="0" bIns="0" rtlCol="0" anchor="t"/>
          <a:lstStyle/>
          <a:p>
            <a:pPr indent="0" marL="0">
              <a:buNone/>
            </a:pPr>
            <a:r>
              <a:rPr lang="en-US" sz="2000" b="1" dirty="0">
                <a:solidFill>
                  <a:schemeClr val="tx1"/>
                </a:solidFill>
                <a:latin typeface="Century Schoolbook" pitchFamily="34" charset="0"/>
                <a:ea typeface="Century Schoolbook" pitchFamily="34" charset="-122"/>
                <a:cs typeface="Century Schoolbook" pitchFamily="34" charset="-120"/>
              </a:rPr>
              <a:t>2. Begrüßen</a:t>
            </a:r>
            <a:endParaRPr lang="en-US" sz="2000" dirty="0"/>
          </a:p>
        </p:txBody>
      </p:sp>
      <p:sp>
        <p:nvSpPr>
          <p:cNvPr id="22" name="Text 18"/>
          <p:cNvSpPr txBox="1"/>
          <p:nvPr/>
        </p:nvSpPr>
        <p:spPr>
          <a:xfrm>
            <a:off x="4599432" y="3310128"/>
            <a:ext cx="2953512" cy="1051560"/>
          </a:xfrm>
          <a:prstGeom prst="rect">
            <a:avLst/>
          </a:prstGeom>
          <a:noFill/>
          <a:ln/>
        </p:spPr>
        <p:txBody>
          <a:bodyPr wrap="square" lIns="0" tIns="0" rIns="0" bIns="0" rtlCol="0" anchor="t"/>
          <a:lstStyle/>
          <a:p>
            <a:pPr indent="0" marL="0">
              <a:buNone/>
            </a:pPr>
            <a:r>
              <a:rPr lang="en-US" sz="1500" dirty="0">
                <a:solidFill>
                  <a:schemeClr val="accent6"/>
                </a:solidFill>
              </a:rPr>
              <a:t>„Guten Tag!“: freundlich, deutlich und mit Blickkontakt.</a:t>
            </a:r>
            <a:endParaRPr lang="en-US" sz="1500" dirty="0"/>
          </a:p>
        </p:txBody>
      </p:sp>
      <p:sp>
        <p:nvSpPr>
          <p:cNvPr id="23" name="Pfeil"/>
          <p:cNvSpPr/>
          <p:nvPr/>
        </p:nvSpPr>
        <p:spPr>
          <a:xfrm>
            <a:off x="7845552" y="2926080"/>
            <a:ext cx="237744" cy="292608"/>
          </a:xfrm>
          <a:prstGeom prst="rightArrow">
            <a:avLst/>
          </a:prstGeom>
          <a:solidFill>
            <a:schemeClr val="accent1"/>
          </a:solidFill>
          <a:ln/>
        </p:spPr>
      </p:sp>
      <p:sp>
        <p:nvSpPr>
          <p:cNvPr id="24" name="Karte"/>
          <p:cNvSpPr/>
          <p:nvPr/>
        </p:nvSpPr>
        <p:spPr>
          <a:xfrm>
            <a:off x="8101584" y="1737360"/>
            <a:ext cx="3502152" cy="2743200"/>
          </a:xfrm>
          <a:prstGeom prst="roundRect">
            <a:avLst>
              <a:gd name="adj" fmla="val 4000"/>
            </a:avLst>
          </a:prstGeom>
          <a:solidFill>
            <a:schemeClr val="bg1"/>
          </a:solidFill>
          <a:ln/>
          <a:effectLst>
            <a:outerShdw sx="100000" sy="100000" kx="0" ky="0" algn="bl" rotWithShape="0" blurRad="101600" dist="25400" dir="5400000">
              <a:srgbClr val="18202B">
                <a:alpha val="12000"/>
              </a:srgbClr>
            </a:outerShdw>
          </a:effectLst>
        </p:spPr>
      </p:sp>
      <p:sp>
        <p:nvSpPr>
          <p:cNvPr id="25" name="Symbolkreis"/>
          <p:cNvSpPr/>
          <p:nvPr/>
        </p:nvSpPr>
        <p:spPr>
          <a:xfrm>
            <a:off x="8375904" y="1965960"/>
            <a:ext cx="685800" cy="685800"/>
          </a:xfrm>
          <a:prstGeom prst="ellipse">
            <a:avLst/>
          </a:prstGeom>
          <a:solidFill>
            <a:schemeClr val="accent5"/>
          </a:solidFill>
          <a:ln/>
        </p:spPr>
      </p:sp>
      <p:pic>
        <p:nvPicPr>
          <p:cNvPr id="26" name="Image 2" descr="Symbol">    </p:cNvPr>
          <p:cNvPicPr>
            <a:picLocks noChangeAspect="1"/>
          </p:cNvPicPr>
          <p:nvPr/>
        </p:nvPicPr>
        <p:blipFill>
          <a:blip r:embed="rId3"/>
          <a:stretch>
            <a:fillRect/>
          </a:stretch>
        </p:blipFill>
        <p:spPr>
          <a:xfrm>
            <a:off x="8526780" y="2116836"/>
            <a:ext cx="384048" cy="384048"/>
          </a:xfrm>
          <a:prstGeom prst="rect">
            <a:avLst/>
          </a:prstGeom>
        </p:spPr>
      </p:pic>
      <p:sp>
        <p:nvSpPr>
          <p:cNvPr id="27" name="Text 22"/>
          <p:cNvSpPr txBox="1"/>
          <p:nvPr/>
        </p:nvSpPr>
        <p:spPr>
          <a:xfrm>
            <a:off x="8375904" y="2834640"/>
            <a:ext cx="2953512" cy="411480"/>
          </a:xfrm>
          <a:prstGeom prst="rect">
            <a:avLst/>
          </a:prstGeom>
          <a:noFill/>
          <a:ln/>
        </p:spPr>
        <p:txBody>
          <a:bodyPr wrap="square" lIns="0" tIns="0" rIns="0" bIns="0" rtlCol="0" anchor="t"/>
          <a:lstStyle/>
          <a:p>
            <a:pPr indent="0" marL="0">
              <a:buNone/>
            </a:pPr>
            <a:r>
              <a:rPr lang="en-US" sz="2000" b="1" dirty="0">
                <a:solidFill>
                  <a:schemeClr val="tx1"/>
                </a:solidFill>
                <a:latin typeface="Century Schoolbook" pitchFamily="34" charset="0"/>
                <a:ea typeface="Century Schoolbook" pitchFamily="34" charset="-122"/>
                <a:cs typeface="Century Schoolbook" pitchFamily="34" charset="-120"/>
              </a:rPr>
              <a:t>3. Ansprechen</a:t>
            </a:r>
            <a:endParaRPr lang="en-US" sz="2000" dirty="0"/>
          </a:p>
        </p:txBody>
      </p:sp>
      <p:sp>
        <p:nvSpPr>
          <p:cNvPr id="28" name="Text 23"/>
          <p:cNvSpPr txBox="1"/>
          <p:nvPr/>
        </p:nvSpPr>
        <p:spPr>
          <a:xfrm>
            <a:off x="8375904" y="3310128"/>
            <a:ext cx="2953512" cy="1051560"/>
          </a:xfrm>
          <a:prstGeom prst="rect">
            <a:avLst/>
          </a:prstGeom>
          <a:noFill/>
          <a:ln/>
        </p:spPr>
        <p:txBody>
          <a:bodyPr wrap="square" lIns="0" tIns="0" rIns="0" bIns="0" rtlCol="0" anchor="t"/>
          <a:lstStyle/>
          <a:p>
            <a:pPr indent="0" marL="0">
              <a:buNone/>
            </a:pPr>
            <a:r>
              <a:rPr lang="en-US" sz="1500" dirty="0">
                <a:solidFill>
                  <a:schemeClr val="accent6"/>
                </a:solidFill>
              </a:rPr>
              <a:t>Mit einer Frage oder Bemerkung, die ein Gespräch eröffnet, am besten bezogen auf die Ware.</a:t>
            </a:r>
            <a:endParaRPr lang="en-US" sz="1500" dirty="0"/>
          </a:p>
        </p:txBody>
      </p:sp>
      <p:sp>
        <p:nvSpPr>
          <p:cNvPr id="29" name="Karte"/>
          <p:cNvSpPr/>
          <p:nvPr/>
        </p:nvSpPr>
        <p:spPr>
          <a:xfrm>
            <a:off x="548640" y="4754880"/>
            <a:ext cx="11091672" cy="1325880"/>
          </a:xfrm>
          <a:prstGeom prst="roundRect">
            <a:avLst>
              <a:gd name="adj" fmla="val 8276"/>
            </a:avLst>
          </a:prstGeom>
          <a:solidFill>
            <a:schemeClr val="accent5"/>
          </a:solidFill>
          <a:ln/>
        </p:spPr>
      </p:sp>
      <p:sp>
        <p:nvSpPr>
          <p:cNvPr id="30" name="Symbolkreis"/>
          <p:cNvSpPr/>
          <p:nvPr/>
        </p:nvSpPr>
        <p:spPr>
          <a:xfrm>
            <a:off x="822960" y="5120640"/>
            <a:ext cx="594360" cy="594360"/>
          </a:xfrm>
          <a:prstGeom prst="ellipse">
            <a:avLst/>
          </a:prstGeom>
          <a:solidFill>
            <a:schemeClr val="bg1"/>
          </a:solidFill>
          <a:ln/>
        </p:spPr>
      </p:sp>
      <p:pic>
        <p:nvPicPr>
          <p:cNvPr id="31" name="Image 3" descr="Symbol">    </p:cNvPr>
          <p:cNvPicPr>
            <a:picLocks noChangeAspect="1"/>
          </p:cNvPicPr>
          <p:nvPr/>
        </p:nvPicPr>
        <p:blipFill>
          <a:blip r:embed="rId4"/>
          <a:stretch>
            <a:fillRect/>
          </a:stretch>
        </p:blipFill>
        <p:spPr>
          <a:xfrm>
            <a:off x="953719" y="5251399"/>
            <a:ext cx="332842" cy="332842"/>
          </a:xfrm>
          <a:prstGeom prst="rect">
            <a:avLst/>
          </a:prstGeom>
        </p:spPr>
      </p:pic>
      <p:sp>
        <p:nvSpPr>
          <p:cNvPr id="32" name="Text 26"/>
          <p:cNvSpPr txBox="1"/>
          <p:nvPr/>
        </p:nvSpPr>
        <p:spPr>
          <a:xfrm>
            <a:off x="1645920" y="4983480"/>
            <a:ext cx="9692640" cy="868680"/>
          </a:xfrm>
          <a:prstGeom prst="rect">
            <a:avLst/>
          </a:prstGeom>
          <a:noFill/>
          <a:ln/>
        </p:spPr>
        <p:txBody>
          <a:bodyPr wrap="square" lIns="0" tIns="0" rIns="0" bIns="0" rtlCol="0" anchor="ctr"/>
          <a:lstStyle/>
          <a:p>
            <a:pPr indent="0" marL="0">
              <a:buNone/>
            </a:pPr>
            <a:r>
              <a:rPr lang="en-US" sz="1700" b="1" dirty="0">
                <a:solidFill>
                  <a:schemeClr val="tx1"/>
                </a:solidFill>
              </a:rPr>
              <a:t>Merke: </a:t>
            </a:r>
            <a:pPr indent="0" marL="0">
              <a:buNone/>
            </a:pPr>
            <a:r>
              <a:rPr lang="en-US" sz="1700" dirty="0">
                <a:solidFill>
                  <a:schemeClr val="tx1"/>
                </a:solidFill>
              </a:rPr>
              <a:t>Die Kundschaft entscheidet in den ersten Sekunden, ob sie sich willkommen fühlt. Ein schlechter Start lässt sich später nur schwer ausgleichen.</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PHASE 1 · KONTAKTAUFNAHME</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Die Körpersprache spricht zuerst</a:t>
            </a:r>
            <a:endParaRPr lang="en-US" sz="3400" dirty="0"/>
          </a:p>
        </p:txBody>
      </p:sp>
      <p:sp>
        <p:nvSpPr>
          <p:cNvPr id="4" name="Phasenpunkt"/>
          <p:cNvSpPr/>
          <p:nvPr/>
        </p:nvSpPr>
        <p:spPr>
          <a:xfrm>
            <a:off x="9646920" y="429768"/>
            <a:ext cx="155448" cy="155448"/>
          </a:xfrm>
          <a:prstGeom prst="ellipse">
            <a:avLst/>
          </a:prstGeom>
          <a:solidFill>
            <a:schemeClr val="accent1"/>
          </a:solidFill>
          <a:ln/>
        </p:spPr>
      </p:sp>
      <p:sp>
        <p:nvSpPr>
          <p:cNvPr id="5" name="Phasenpunkt"/>
          <p:cNvSpPr/>
          <p:nvPr/>
        </p:nvSpPr>
        <p:spPr>
          <a:xfrm>
            <a:off x="9893808" y="429768"/>
            <a:ext cx="155448" cy="155448"/>
          </a:xfrm>
          <a:prstGeom prst="ellipse">
            <a:avLst/>
          </a:prstGeom>
          <a:solidFill>
            <a:srgbClr val="D9DEE5"/>
          </a:solidFill>
          <a:ln/>
        </p:spPr>
      </p:sp>
      <p:sp>
        <p:nvSpPr>
          <p:cNvPr id="6" name="Phasenpunkt"/>
          <p:cNvSpPr/>
          <p:nvPr/>
        </p:nvSpPr>
        <p:spPr>
          <a:xfrm>
            <a:off x="10140696" y="429768"/>
            <a:ext cx="155448" cy="155448"/>
          </a:xfrm>
          <a:prstGeom prst="ellipse">
            <a:avLst/>
          </a:prstGeom>
          <a:solidFill>
            <a:srgbClr val="D9DEE5"/>
          </a:solidFill>
          <a:ln/>
        </p:spPr>
      </p:sp>
      <p:sp>
        <p:nvSpPr>
          <p:cNvPr id="7" name="Phasenpunkt"/>
          <p:cNvSpPr/>
          <p:nvPr/>
        </p:nvSpPr>
        <p:spPr>
          <a:xfrm>
            <a:off x="10387584" y="429768"/>
            <a:ext cx="155448" cy="155448"/>
          </a:xfrm>
          <a:prstGeom prst="ellipse">
            <a:avLst/>
          </a:prstGeom>
          <a:solidFill>
            <a:srgbClr val="D9DEE5"/>
          </a:solidFill>
          <a:ln/>
        </p:spPr>
      </p:sp>
      <p:sp>
        <p:nvSpPr>
          <p:cNvPr id="8" name="Phasenpunkt"/>
          <p:cNvSpPr/>
          <p:nvPr/>
        </p:nvSpPr>
        <p:spPr>
          <a:xfrm>
            <a:off x="10634472" y="429768"/>
            <a:ext cx="155448" cy="155448"/>
          </a:xfrm>
          <a:prstGeom prst="ellipse">
            <a:avLst/>
          </a:prstGeom>
          <a:solidFill>
            <a:srgbClr val="D9DEE5"/>
          </a:solidFill>
          <a:ln/>
        </p:spPr>
      </p:sp>
      <p:sp>
        <p:nvSpPr>
          <p:cNvPr id="9" name="Phasenpunkt"/>
          <p:cNvSpPr/>
          <p:nvPr/>
        </p:nvSpPr>
        <p:spPr>
          <a:xfrm>
            <a:off x="10881360" y="429768"/>
            <a:ext cx="155448" cy="155448"/>
          </a:xfrm>
          <a:prstGeom prst="ellipse">
            <a:avLst/>
          </a:prstGeom>
          <a:solidFill>
            <a:srgbClr val="D9DEE5"/>
          </a:solidFill>
          <a:ln/>
        </p:spPr>
      </p:sp>
      <p:sp>
        <p:nvSpPr>
          <p:cNvPr id="10" name="Phasenpunkt"/>
          <p:cNvSpPr/>
          <p:nvPr/>
        </p:nvSpPr>
        <p:spPr>
          <a:xfrm>
            <a:off x="11128248" y="429768"/>
            <a:ext cx="155448" cy="155448"/>
          </a:xfrm>
          <a:prstGeom prst="ellipse">
            <a:avLst/>
          </a:prstGeom>
          <a:solidFill>
            <a:srgbClr val="D9DEE5"/>
          </a:solidFill>
          <a:ln/>
        </p:spPr>
      </p:sp>
      <p:sp>
        <p:nvSpPr>
          <p:cNvPr id="11" name="Phasenpunkt"/>
          <p:cNvSpPr/>
          <p:nvPr/>
        </p:nvSpPr>
        <p:spPr>
          <a:xfrm>
            <a:off x="11375136" y="429768"/>
            <a:ext cx="155448" cy="155448"/>
          </a:xfrm>
          <a:prstGeom prst="ellipse">
            <a:avLst/>
          </a:prstGeom>
          <a:solidFill>
            <a:srgbClr val="D9DEE5"/>
          </a:solidFill>
          <a:ln/>
        </p:spPr>
      </p:sp>
      <p:sp>
        <p:nvSpPr>
          <p:cNvPr id="12" name="Karte"/>
          <p:cNvSpPr/>
          <p:nvPr/>
        </p:nvSpPr>
        <p:spPr>
          <a:xfrm>
            <a:off x="548640" y="1737360"/>
            <a:ext cx="2606040" cy="2286000"/>
          </a:xfrm>
          <a:prstGeom prst="roundRect">
            <a:avLst>
              <a:gd name="adj" fmla="val 4800"/>
            </a:avLst>
          </a:prstGeom>
          <a:solidFill>
            <a:schemeClr val="bg1"/>
          </a:solidFill>
          <a:ln/>
          <a:effectLst>
            <a:outerShdw sx="100000" sy="100000" kx="0" ky="0" algn="bl" rotWithShape="0" blurRad="101600" dist="25400" dir="5400000">
              <a:srgbClr val="18202B">
                <a:alpha val="12000"/>
              </a:srgbClr>
            </a:outerShdw>
          </a:effectLst>
        </p:spPr>
      </p:sp>
      <p:sp>
        <p:nvSpPr>
          <p:cNvPr id="13" name="Symbolkreis"/>
          <p:cNvSpPr/>
          <p:nvPr/>
        </p:nvSpPr>
        <p:spPr>
          <a:xfrm>
            <a:off x="822960" y="1920240"/>
            <a:ext cx="640080" cy="640080"/>
          </a:xfrm>
          <a:prstGeom prst="ellipse">
            <a:avLst/>
          </a:prstGeom>
          <a:solidFill>
            <a:schemeClr val="accent5"/>
          </a:solidFill>
          <a:ln/>
        </p:spPr>
      </p:sp>
      <p:pic>
        <p:nvPicPr>
          <p:cNvPr id="14" name="Image 0" descr="Symbol">    </p:cNvPr>
          <p:cNvPicPr>
            <a:picLocks noChangeAspect="1"/>
          </p:cNvPicPr>
          <p:nvPr/>
        </p:nvPicPr>
        <p:blipFill>
          <a:blip r:embed="rId1"/>
          <a:stretch>
            <a:fillRect/>
          </a:stretch>
        </p:blipFill>
        <p:spPr>
          <a:xfrm>
            <a:off x="963778" y="2061058"/>
            <a:ext cx="358445" cy="358445"/>
          </a:xfrm>
          <a:prstGeom prst="rect">
            <a:avLst/>
          </a:prstGeom>
        </p:spPr>
      </p:pic>
      <p:sp>
        <p:nvSpPr>
          <p:cNvPr id="15" name="Text 12"/>
          <p:cNvSpPr txBox="1"/>
          <p:nvPr/>
        </p:nvSpPr>
        <p:spPr>
          <a:xfrm>
            <a:off x="822960" y="2697480"/>
            <a:ext cx="2057400" cy="411480"/>
          </a:xfrm>
          <a:prstGeom prst="rect">
            <a:avLst/>
          </a:prstGeom>
          <a:noFill/>
          <a:ln/>
        </p:spPr>
        <p:txBody>
          <a:bodyPr wrap="square" lIns="0" tIns="0" rIns="0" bIns="0" rtlCol="0" anchor="t"/>
          <a:lstStyle/>
          <a:p>
            <a:pPr indent="0" marL="0">
              <a:buNone/>
            </a:pPr>
            <a:r>
              <a:rPr lang="en-US" sz="1800" b="1" dirty="0">
                <a:solidFill>
                  <a:schemeClr val="tx1"/>
                </a:solidFill>
              </a:rPr>
              <a:t>Blickkontakt</a:t>
            </a:r>
            <a:endParaRPr lang="en-US" sz="1800" dirty="0"/>
          </a:p>
        </p:txBody>
      </p:sp>
      <p:sp>
        <p:nvSpPr>
          <p:cNvPr id="16" name="Text 13"/>
          <p:cNvSpPr txBox="1"/>
          <p:nvPr/>
        </p:nvSpPr>
        <p:spPr>
          <a:xfrm>
            <a:off x="822960" y="3127248"/>
            <a:ext cx="2057400" cy="822960"/>
          </a:xfrm>
          <a:prstGeom prst="rect">
            <a:avLst/>
          </a:prstGeom>
          <a:noFill/>
          <a:ln/>
        </p:spPr>
        <p:txBody>
          <a:bodyPr wrap="square" lIns="0" tIns="0" rIns="0" bIns="0" rtlCol="0" anchor="t"/>
          <a:lstStyle/>
          <a:p>
            <a:pPr indent="0" marL="0">
              <a:buNone/>
            </a:pPr>
            <a:r>
              <a:rPr lang="en-US" sz="1500" dirty="0">
                <a:solidFill>
                  <a:schemeClr val="accent6"/>
                </a:solidFill>
              </a:rPr>
              <a:t>zeigt: Ich habe Sie bemerkt.</a:t>
            </a:r>
            <a:endParaRPr lang="en-US" sz="1500" dirty="0"/>
          </a:p>
        </p:txBody>
      </p:sp>
      <p:sp>
        <p:nvSpPr>
          <p:cNvPr id="17" name="Karte"/>
          <p:cNvSpPr/>
          <p:nvPr/>
        </p:nvSpPr>
        <p:spPr>
          <a:xfrm>
            <a:off x="3383280" y="1737360"/>
            <a:ext cx="2606040" cy="2286000"/>
          </a:xfrm>
          <a:prstGeom prst="roundRect">
            <a:avLst>
              <a:gd name="adj" fmla="val 4800"/>
            </a:avLst>
          </a:prstGeom>
          <a:solidFill>
            <a:schemeClr val="bg1"/>
          </a:solidFill>
          <a:ln/>
          <a:effectLst>
            <a:outerShdw sx="100000" sy="100000" kx="0" ky="0" algn="bl" rotWithShape="0" blurRad="101600" dist="25400" dir="5400000">
              <a:srgbClr val="18202B">
                <a:alpha val="12000"/>
              </a:srgbClr>
            </a:outerShdw>
          </a:effectLst>
        </p:spPr>
      </p:sp>
      <p:sp>
        <p:nvSpPr>
          <p:cNvPr id="18" name="Symbolkreis"/>
          <p:cNvSpPr/>
          <p:nvPr/>
        </p:nvSpPr>
        <p:spPr>
          <a:xfrm>
            <a:off x="3657600" y="1920240"/>
            <a:ext cx="640080" cy="640080"/>
          </a:xfrm>
          <a:prstGeom prst="ellipse">
            <a:avLst/>
          </a:prstGeom>
          <a:solidFill>
            <a:schemeClr val="accent5"/>
          </a:solidFill>
          <a:ln/>
        </p:spPr>
      </p:sp>
      <p:pic>
        <p:nvPicPr>
          <p:cNvPr id="19" name="Image 1" descr="Symbol">    </p:cNvPr>
          <p:cNvPicPr>
            <a:picLocks noChangeAspect="1"/>
          </p:cNvPicPr>
          <p:nvPr/>
        </p:nvPicPr>
        <p:blipFill>
          <a:blip r:embed="rId2"/>
          <a:stretch>
            <a:fillRect/>
          </a:stretch>
        </p:blipFill>
        <p:spPr>
          <a:xfrm>
            <a:off x="3798418" y="2061058"/>
            <a:ext cx="358445" cy="358445"/>
          </a:xfrm>
          <a:prstGeom prst="rect">
            <a:avLst/>
          </a:prstGeom>
        </p:spPr>
      </p:pic>
      <p:sp>
        <p:nvSpPr>
          <p:cNvPr id="20" name="Text 16"/>
          <p:cNvSpPr txBox="1"/>
          <p:nvPr/>
        </p:nvSpPr>
        <p:spPr>
          <a:xfrm>
            <a:off x="3657600" y="2697480"/>
            <a:ext cx="2057400" cy="411480"/>
          </a:xfrm>
          <a:prstGeom prst="rect">
            <a:avLst/>
          </a:prstGeom>
          <a:noFill/>
          <a:ln/>
        </p:spPr>
        <p:txBody>
          <a:bodyPr wrap="square" lIns="0" tIns="0" rIns="0" bIns="0" rtlCol="0" anchor="t"/>
          <a:lstStyle/>
          <a:p>
            <a:pPr indent="0" marL="0">
              <a:buNone/>
            </a:pPr>
            <a:r>
              <a:rPr lang="en-US" sz="1800" b="1" dirty="0">
                <a:solidFill>
                  <a:schemeClr val="tx1"/>
                </a:solidFill>
              </a:rPr>
              <a:t>Lächeln</a:t>
            </a:r>
            <a:endParaRPr lang="en-US" sz="1800" dirty="0"/>
          </a:p>
        </p:txBody>
      </p:sp>
      <p:sp>
        <p:nvSpPr>
          <p:cNvPr id="21" name="Text 17"/>
          <p:cNvSpPr txBox="1"/>
          <p:nvPr/>
        </p:nvSpPr>
        <p:spPr>
          <a:xfrm>
            <a:off x="3657600" y="3127248"/>
            <a:ext cx="2057400" cy="822960"/>
          </a:xfrm>
          <a:prstGeom prst="rect">
            <a:avLst/>
          </a:prstGeom>
          <a:noFill/>
          <a:ln/>
        </p:spPr>
        <p:txBody>
          <a:bodyPr wrap="square" lIns="0" tIns="0" rIns="0" bIns="0" rtlCol="0" anchor="t"/>
          <a:lstStyle/>
          <a:p>
            <a:pPr indent="0" marL="0">
              <a:buNone/>
            </a:pPr>
            <a:r>
              <a:rPr lang="en-US" sz="1500" dirty="0">
                <a:solidFill>
                  <a:schemeClr val="accent6"/>
                </a:solidFill>
              </a:rPr>
              <a:t>wirkt offen und einladend.</a:t>
            </a:r>
            <a:endParaRPr lang="en-US" sz="1500" dirty="0"/>
          </a:p>
        </p:txBody>
      </p:sp>
      <p:sp>
        <p:nvSpPr>
          <p:cNvPr id="22" name="Karte"/>
          <p:cNvSpPr/>
          <p:nvPr/>
        </p:nvSpPr>
        <p:spPr>
          <a:xfrm>
            <a:off x="6217920" y="1737360"/>
            <a:ext cx="2606040" cy="2286000"/>
          </a:xfrm>
          <a:prstGeom prst="roundRect">
            <a:avLst>
              <a:gd name="adj" fmla="val 4800"/>
            </a:avLst>
          </a:prstGeom>
          <a:solidFill>
            <a:schemeClr val="bg1"/>
          </a:solidFill>
          <a:ln/>
          <a:effectLst>
            <a:outerShdw sx="100000" sy="100000" kx="0" ky="0" algn="bl" rotWithShape="0" blurRad="101600" dist="25400" dir="5400000">
              <a:srgbClr val="18202B">
                <a:alpha val="12000"/>
              </a:srgbClr>
            </a:outerShdw>
          </a:effectLst>
        </p:spPr>
      </p:sp>
      <p:sp>
        <p:nvSpPr>
          <p:cNvPr id="23" name="Symbolkreis"/>
          <p:cNvSpPr/>
          <p:nvPr/>
        </p:nvSpPr>
        <p:spPr>
          <a:xfrm>
            <a:off x="6492240" y="1920240"/>
            <a:ext cx="640080" cy="640080"/>
          </a:xfrm>
          <a:prstGeom prst="ellipse">
            <a:avLst/>
          </a:prstGeom>
          <a:solidFill>
            <a:schemeClr val="accent5"/>
          </a:solidFill>
          <a:ln/>
        </p:spPr>
      </p:sp>
      <p:pic>
        <p:nvPicPr>
          <p:cNvPr id="24" name="Image 2" descr="Symbol">    </p:cNvPr>
          <p:cNvPicPr>
            <a:picLocks noChangeAspect="1"/>
          </p:cNvPicPr>
          <p:nvPr/>
        </p:nvPicPr>
        <p:blipFill>
          <a:blip r:embed="rId3"/>
          <a:stretch>
            <a:fillRect/>
          </a:stretch>
        </p:blipFill>
        <p:spPr>
          <a:xfrm>
            <a:off x="6633058" y="2061058"/>
            <a:ext cx="358445" cy="358445"/>
          </a:xfrm>
          <a:prstGeom prst="rect">
            <a:avLst/>
          </a:prstGeom>
        </p:spPr>
      </p:pic>
      <p:sp>
        <p:nvSpPr>
          <p:cNvPr id="25" name="Text 20"/>
          <p:cNvSpPr txBox="1"/>
          <p:nvPr/>
        </p:nvSpPr>
        <p:spPr>
          <a:xfrm>
            <a:off x="6492240" y="2697480"/>
            <a:ext cx="2057400" cy="411480"/>
          </a:xfrm>
          <a:prstGeom prst="rect">
            <a:avLst/>
          </a:prstGeom>
          <a:noFill/>
          <a:ln/>
        </p:spPr>
        <p:txBody>
          <a:bodyPr wrap="square" lIns="0" tIns="0" rIns="0" bIns="0" rtlCol="0" anchor="t"/>
          <a:lstStyle/>
          <a:p>
            <a:pPr indent="0" marL="0">
              <a:buNone/>
            </a:pPr>
            <a:r>
              <a:rPr lang="en-US" sz="1800" b="1" dirty="0">
                <a:solidFill>
                  <a:schemeClr val="tx1"/>
                </a:solidFill>
              </a:rPr>
              <a:t>Offene Haltung</a:t>
            </a:r>
            <a:endParaRPr lang="en-US" sz="1800" dirty="0"/>
          </a:p>
        </p:txBody>
      </p:sp>
      <p:sp>
        <p:nvSpPr>
          <p:cNvPr id="26" name="Text 21"/>
          <p:cNvSpPr txBox="1"/>
          <p:nvPr/>
        </p:nvSpPr>
        <p:spPr>
          <a:xfrm>
            <a:off x="6492240" y="3127248"/>
            <a:ext cx="2057400" cy="822960"/>
          </a:xfrm>
          <a:prstGeom prst="rect">
            <a:avLst/>
          </a:prstGeom>
          <a:noFill/>
          <a:ln/>
        </p:spPr>
        <p:txBody>
          <a:bodyPr wrap="square" lIns="0" tIns="0" rIns="0" bIns="0" rtlCol="0" anchor="t"/>
          <a:lstStyle/>
          <a:p>
            <a:pPr indent="0" marL="0">
              <a:buNone/>
            </a:pPr>
            <a:r>
              <a:rPr lang="en-US" sz="1500" dirty="0">
                <a:solidFill>
                  <a:schemeClr val="accent6"/>
                </a:solidFill>
              </a:rPr>
              <a:t>keine verschränkten Arme, Hände nicht in den Taschen.</a:t>
            </a:r>
            <a:endParaRPr lang="en-US" sz="1500" dirty="0"/>
          </a:p>
        </p:txBody>
      </p:sp>
      <p:sp>
        <p:nvSpPr>
          <p:cNvPr id="27" name="Karte"/>
          <p:cNvSpPr/>
          <p:nvPr/>
        </p:nvSpPr>
        <p:spPr>
          <a:xfrm>
            <a:off x="9052560" y="1737360"/>
            <a:ext cx="2606040" cy="2286000"/>
          </a:xfrm>
          <a:prstGeom prst="roundRect">
            <a:avLst>
              <a:gd name="adj" fmla="val 4800"/>
            </a:avLst>
          </a:prstGeom>
          <a:solidFill>
            <a:schemeClr val="bg1"/>
          </a:solidFill>
          <a:ln/>
          <a:effectLst>
            <a:outerShdw sx="100000" sy="100000" kx="0" ky="0" algn="bl" rotWithShape="0" blurRad="101600" dist="25400" dir="5400000">
              <a:srgbClr val="18202B">
                <a:alpha val="12000"/>
              </a:srgbClr>
            </a:outerShdw>
          </a:effectLst>
        </p:spPr>
      </p:sp>
      <p:sp>
        <p:nvSpPr>
          <p:cNvPr id="28" name="Symbolkreis"/>
          <p:cNvSpPr/>
          <p:nvPr/>
        </p:nvSpPr>
        <p:spPr>
          <a:xfrm>
            <a:off x="9326880" y="1920240"/>
            <a:ext cx="640080" cy="640080"/>
          </a:xfrm>
          <a:prstGeom prst="ellipse">
            <a:avLst/>
          </a:prstGeom>
          <a:solidFill>
            <a:schemeClr val="accent5"/>
          </a:solidFill>
          <a:ln/>
        </p:spPr>
      </p:sp>
      <p:pic>
        <p:nvPicPr>
          <p:cNvPr id="29" name="Image 3" descr="Symbol">    </p:cNvPr>
          <p:cNvPicPr>
            <a:picLocks noChangeAspect="1"/>
          </p:cNvPicPr>
          <p:nvPr/>
        </p:nvPicPr>
        <p:blipFill>
          <a:blip r:embed="rId4"/>
          <a:stretch>
            <a:fillRect/>
          </a:stretch>
        </p:blipFill>
        <p:spPr>
          <a:xfrm>
            <a:off x="9467698" y="2061058"/>
            <a:ext cx="358445" cy="358445"/>
          </a:xfrm>
          <a:prstGeom prst="rect">
            <a:avLst/>
          </a:prstGeom>
        </p:spPr>
      </p:pic>
      <p:sp>
        <p:nvSpPr>
          <p:cNvPr id="30" name="Text 24"/>
          <p:cNvSpPr txBox="1"/>
          <p:nvPr/>
        </p:nvSpPr>
        <p:spPr>
          <a:xfrm>
            <a:off x="9326880" y="2697480"/>
            <a:ext cx="2057400" cy="411480"/>
          </a:xfrm>
          <a:prstGeom prst="rect">
            <a:avLst/>
          </a:prstGeom>
          <a:noFill/>
          <a:ln/>
        </p:spPr>
        <p:txBody>
          <a:bodyPr wrap="square" lIns="0" tIns="0" rIns="0" bIns="0" rtlCol="0" anchor="t"/>
          <a:lstStyle/>
          <a:p>
            <a:pPr indent="0" marL="0">
              <a:buNone/>
            </a:pPr>
            <a:r>
              <a:rPr lang="en-US" sz="1800" b="1" dirty="0">
                <a:solidFill>
                  <a:schemeClr val="tx1"/>
                </a:solidFill>
              </a:rPr>
              <a:t>Passender Abstand</a:t>
            </a:r>
            <a:endParaRPr lang="en-US" sz="1800" dirty="0"/>
          </a:p>
        </p:txBody>
      </p:sp>
      <p:sp>
        <p:nvSpPr>
          <p:cNvPr id="31" name="Text 25"/>
          <p:cNvSpPr txBox="1"/>
          <p:nvPr/>
        </p:nvSpPr>
        <p:spPr>
          <a:xfrm>
            <a:off x="9326880" y="3127248"/>
            <a:ext cx="2057400" cy="822960"/>
          </a:xfrm>
          <a:prstGeom prst="rect">
            <a:avLst/>
          </a:prstGeom>
          <a:noFill/>
          <a:ln/>
        </p:spPr>
        <p:txBody>
          <a:bodyPr wrap="square" lIns="0" tIns="0" rIns="0" bIns="0" rtlCol="0" anchor="t"/>
          <a:lstStyle/>
          <a:p>
            <a:pPr indent="0" marL="0">
              <a:buNone/>
            </a:pPr>
            <a:r>
              <a:rPr lang="en-US" sz="1500" dirty="0">
                <a:solidFill>
                  <a:schemeClr val="accent6"/>
                </a:solidFill>
              </a:rPr>
              <a:t>etwa eine Armlänge, nicht zu nah herantreten.</a:t>
            </a:r>
            <a:endParaRPr lang="en-US" sz="1500" dirty="0"/>
          </a:p>
        </p:txBody>
      </p:sp>
      <p:sp>
        <p:nvSpPr>
          <p:cNvPr id="32" name="Karte"/>
          <p:cNvSpPr/>
          <p:nvPr/>
        </p:nvSpPr>
        <p:spPr>
          <a:xfrm>
            <a:off x="548640" y="4251960"/>
            <a:ext cx="5440680" cy="1874520"/>
          </a:xfrm>
          <a:prstGeom prst="roundRect">
            <a:avLst>
              <a:gd name="adj" fmla="val 5854"/>
            </a:avLst>
          </a:prstGeom>
          <a:solidFill>
            <a:schemeClr val="bg1"/>
          </a:solidFill>
          <a:ln/>
          <a:effectLst>
            <a:outerShdw sx="100000" sy="100000" kx="0" ky="0" algn="bl" rotWithShape="0" blurRad="101600" dist="25400" dir="5400000">
              <a:srgbClr val="18202B">
                <a:alpha val="12000"/>
              </a:srgbClr>
            </a:outerShdw>
          </a:effectLst>
        </p:spPr>
      </p:sp>
      <p:sp>
        <p:nvSpPr>
          <p:cNvPr id="33" name="Etikett"/>
          <p:cNvSpPr/>
          <p:nvPr/>
        </p:nvSpPr>
        <p:spPr>
          <a:xfrm>
            <a:off x="822960" y="4480560"/>
            <a:ext cx="1371600" cy="292608"/>
          </a:xfrm>
          <a:prstGeom prst="roundRect">
            <a:avLst>
              <a:gd name="adj" fmla="val 50000"/>
            </a:avLst>
          </a:prstGeom>
          <a:solidFill>
            <a:schemeClr val="accent3"/>
          </a:solidFill>
          <a:ln/>
        </p:spPr>
      </p:sp>
      <p:sp>
        <p:nvSpPr>
          <p:cNvPr id="34" name="Text 28"/>
          <p:cNvSpPr txBox="1"/>
          <p:nvPr/>
        </p:nvSpPr>
        <p:spPr>
          <a:xfrm>
            <a:off x="822960" y="4480560"/>
            <a:ext cx="1371600" cy="292608"/>
          </a:xfrm>
          <a:prstGeom prst="rect">
            <a:avLst/>
          </a:prstGeom>
          <a:noFill/>
          <a:ln/>
        </p:spPr>
        <p:txBody>
          <a:bodyPr wrap="square" lIns="0" tIns="0" rIns="0" bIns="0" rtlCol="0" anchor="ctr"/>
          <a:lstStyle/>
          <a:p>
            <a:pPr algn="ctr" indent="0" marL="0">
              <a:buNone/>
            </a:pPr>
            <a:r>
              <a:rPr lang="en-US" sz="1100" b="1" dirty="0">
                <a:solidFill>
                  <a:schemeClr val="bg1"/>
                </a:solidFill>
              </a:rPr>
              <a:t>Ungünstig</a:t>
            </a:r>
            <a:endParaRPr lang="en-US" sz="1100" dirty="0"/>
          </a:p>
        </p:txBody>
      </p:sp>
      <p:sp>
        <p:nvSpPr>
          <p:cNvPr id="35" name="Text 29"/>
          <p:cNvSpPr txBox="1"/>
          <p:nvPr/>
        </p:nvSpPr>
        <p:spPr>
          <a:xfrm>
            <a:off x="822960" y="4892040"/>
            <a:ext cx="4892040" cy="411480"/>
          </a:xfrm>
          <a:prstGeom prst="rect">
            <a:avLst/>
          </a:prstGeom>
          <a:noFill/>
          <a:ln/>
        </p:spPr>
        <p:txBody>
          <a:bodyPr wrap="square" lIns="0" tIns="0" rIns="0" bIns="0" rtlCol="0" anchor="t"/>
          <a:lstStyle/>
          <a:p>
            <a:pPr indent="0" marL="0">
              <a:buNone/>
            </a:pPr>
            <a:r>
              <a:rPr lang="en-US" sz="1700" b="1" i="1" dirty="0">
                <a:solidFill>
                  <a:schemeClr val="tx1"/>
                </a:solidFill>
              </a:rPr>
              <a:t>Seufzen, weiter aufräumen, auf die Uhr schauen</a:t>
            </a:r>
            <a:endParaRPr lang="en-US" sz="1700" dirty="0"/>
          </a:p>
        </p:txBody>
      </p:sp>
      <p:sp>
        <p:nvSpPr>
          <p:cNvPr id="36" name="Text 30"/>
          <p:cNvSpPr txBox="1"/>
          <p:nvPr/>
        </p:nvSpPr>
        <p:spPr>
          <a:xfrm>
            <a:off x="822960" y="5349240"/>
            <a:ext cx="4892040" cy="640080"/>
          </a:xfrm>
          <a:prstGeom prst="rect">
            <a:avLst/>
          </a:prstGeom>
          <a:noFill/>
          <a:ln/>
        </p:spPr>
        <p:txBody>
          <a:bodyPr wrap="square" lIns="0" tIns="0" rIns="0" bIns="0" rtlCol="0" anchor="t"/>
          <a:lstStyle/>
          <a:p>
            <a:pPr indent="0" marL="0">
              <a:buNone/>
            </a:pPr>
            <a:r>
              <a:rPr lang="en-US" sz="1400" dirty="0">
                <a:solidFill>
                  <a:schemeClr val="accent6"/>
                </a:solidFill>
              </a:rPr>
              <a:t>Signalisiert: Sie stören. Das merkt die Kundschaft sofort, auch ohne ein Wort.</a:t>
            </a:r>
            <a:endParaRPr lang="en-US" sz="1400" dirty="0"/>
          </a:p>
        </p:txBody>
      </p:sp>
      <p:sp>
        <p:nvSpPr>
          <p:cNvPr id="37" name="Karte"/>
          <p:cNvSpPr/>
          <p:nvPr/>
        </p:nvSpPr>
        <p:spPr>
          <a:xfrm>
            <a:off x="6199632" y="4251960"/>
            <a:ext cx="5440680" cy="1874520"/>
          </a:xfrm>
          <a:prstGeom prst="roundRect">
            <a:avLst>
              <a:gd name="adj" fmla="val 5854"/>
            </a:avLst>
          </a:prstGeom>
          <a:solidFill>
            <a:schemeClr val="bg1"/>
          </a:solidFill>
          <a:ln/>
          <a:effectLst>
            <a:outerShdw sx="100000" sy="100000" kx="0" ky="0" algn="bl" rotWithShape="0" blurRad="101600" dist="25400" dir="5400000">
              <a:srgbClr val="18202B">
                <a:alpha val="12000"/>
              </a:srgbClr>
            </a:outerShdw>
          </a:effectLst>
        </p:spPr>
      </p:sp>
      <p:sp>
        <p:nvSpPr>
          <p:cNvPr id="38" name="Etikett"/>
          <p:cNvSpPr/>
          <p:nvPr/>
        </p:nvSpPr>
        <p:spPr>
          <a:xfrm>
            <a:off x="6473952" y="4480560"/>
            <a:ext cx="1371600" cy="292608"/>
          </a:xfrm>
          <a:prstGeom prst="roundRect">
            <a:avLst>
              <a:gd name="adj" fmla="val 50000"/>
            </a:avLst>
          </a:prstGeom>
          <a:solidFill>
            <a:schemeClr val="accent2"/>
          </a:solidFill>
          <a:ln/>
        </p:spPr>
      </p:sp>
      <p:sp>
        <p:nvSpPr>
          <p:cNvPr id="39" name="Text 33"/>
          <p:cNvSpPr txBox="1"/>
          <p:nvPr/>
        </p:nvSpPr>
        <p:spPr>
          <a:xfrm>
            <a:off x="6473952" y="4480560"/>
            <a:ext cx="1371600" cy="292608"/>
          </a:xfrm>
          <a:prstGeom prst="rect">
            <a:avLst/>
          </a:prstGeom>
          <a:noFill/>
          <a:ln/>
        </p:spPr>
        <p:txBody>
          <a:bodyPr wrap="square" lIns="0" tIns="0" rIns="0" bIns="0" rtlCol="0" anchor="ctr"/>
          <a:lstStyle/>
          <a:p>
            <a:pPr algn="ctr" indent="0" marL="0">
              <a:buNone/>
            </a:pPr>
            <a:r>
              <a:rPr lang="en-US" sz="1100" b="1" dirty="0">
                <a:solidFill>
                  <a:schemeClr val="bg1"/>
                </a:solidFill>
              </a:rPr>
              <a:t>Besser</a:t>
            </a:r>
            <a:endParaRPr lang="en-US" sz="1100" dirty="0"/>
          </a:p>
        </p:txBody>
      </p:sp>
      <p:sp>
        <p:nvSpPr>
          <p:cNvPr id="40" name="Text 34"/>
          <p:cNvSpPr txBox="1"/>
          <p:nvPr/>
        </p:nvSpPr>
        <p:spPr>
          <a:xfrm>
            <a:off x="6473952" y="4892040"/>
            <a:ext cx="4892040" cy="411480"/>
          </a:xfrm>
          <a:prstGeom prst="rect">
            <a:avLst/>
          </a:prstGeom>
          <a:noFill/>
          <a:ln/>
        </p:spPr>
        <p:txBody>
          <a:bodyPr wrap="square" lIns="0" tIns="0" rIns="0" bIns="0" rtlCol="0" anchor="t"/>
          <a:lstStyle/>
          <a:p>
            <a:pPr indent="0" marL="0">
              <a:buNone/>
            </a:pPr>
            <a:r>
              <a:rPr lang="en-US" sz="1700" b="1" i="1" dirty="0">
                <a:solidFill>
                  <a:schemeClr val="tx1"/>
                </a:solidFill>
              </a:rPr>
              <a:t>Arbeit zur Seite legen und sich zuwenden</a:t>
            </a:r>
            <a:endParaRPr lang="en-US" sz="1700" dirty="0"/>
          </a:p>
        </p:txBody>
      </p:sp>
      <p:sp>
        <p:nvSpPr>
          <p:cNvPr id="41" name="Text 35"/>
          <p:cNvSpPr txBox="1"/>
          <p:nvPr/>
        </p:nvSpPr>
        <p:spPr>
          <a:xfrm>
            <a:off x="6473952" y="5349240"/>
            <a:ext cx="4892040" cy="640080"/>
          </a:xfrm>
          <a:prstGeom prst="rect">
            <a:avLst/>
          </a:prstGeom>
          <a:noFill/>
          <a:ln/>
        </p:spPr>
        <p:txBody>
          <a:bodyPr wrap="square" lIns="0" tIns="0" rIns="0" bIns="0" rtlCol="0" anchor="t"/>
          <a:lstStyle/>
          <a:p>
            <a:pPr indent="0" marL="0">
              <a:buNone/>
            </a:pPr>
            <a:r>
              <a:rPr lang="en-US" sz="1400" dirty="0">
                <a:solidFill>
                  <a:schemeClr val="accent6"/>
                </a:solidFill>
              </a:rPr>
              <a:t>Signalisiert: Sie sind jetzt wichtiger als alles andere.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PHASE 1 · KONTAKTAUFNAHME</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Wann ist der richtige Moment?</a:t>
            </a:r>
            <a:endParaRPr lang="en-US" sz="3400" dirty="0"/>
          </a:p>
        </p:txBody>
      </p:sp>
      <p:sp>
        <p:nvSpPr>
          <p:cNvPr id="4" name="Phasenpunkt"/>
          <p:cNvSpPr/>
          <p:nvPr/>
        </p:nvSpPr>
        <p:spPr>
          <a:xfrm>
            <a:off x="9646920" y="429768"/>
            <a:ext cx="155448" cy="155448"/>
          </a:xfrm>
          <a:prstGeom prst="ellipse">
            <a:avLst/>
          </a:prstGeom>
          <a:solidFill>
            <a:schemeClr val="accent1"/>
          </a:solidFill>
          <a:ln/>
        </p:spPr>
      </p:sp>
      <p:sp>
        <p:nvSpPr>
          <p:cNvPr id="5" name="Phasenpunkt"/>
          <p:cNvSpPr/>
          <p:nvPr/>
        </p:nvSpPr>
        <p:spPr>
          <a:xfrm>
            <a:off x="9893808" y="429768"/>
            <a:ext cx="155448" cy="155448"/>
          </a:xfrm>
          <a:prstGeom prst="ellipse">
            <a:avLst/>
          </a:prstGeom>
          <a:solidFill>
            <a:srgbClr val="D9DEE5"/>
          </a:solidFill>
          <a:ln/>
        </p:spPr>
      </p:sp>
      <p:sp>
        <p:nvSpPr>
          <p:cNvPr id="6" name="Phasenpunkt"/>
          <p:cNvSpPr/>
          <p:nvPr/>
        </p:nvSpPr>
        <p:spPr>
          <a:xfrm>
            <a:off x="10140696" y="429768"/>
            <a:ext cx="155448" cy="155448"/>
          </a:xfrm>
          <a:prstGeom prst="ellipse">
            <a:avLst/>
          </a:prstGeom>
          <a:solidFill>
            <a:srgbClr val="D9DEE5"/>
          </a:solidFill>
          <a:ln/>
        </p:spPr>
      </p:sp>
      <p:sp>
        <p:nvSpPr>
          <p:cNvPr id="7" name="Phasenpunkt"/>
          <p:cNvSpPr/>
          <p:nvPr/>
        </p:nvSpPr>
        <p:spPr>
          <a:xfrm>
            <a:off x="10387584" y="429768"/>
            <a:ext cx="155448" cy="155448"/>
          </a:xfrm>
          <a:prstGeom prst="ellipse">
            <a:avLst/>
          </a:prstGeom>
          <a:solidFill>
            <a:srgbClr val="D9DEE5"/>
          </a:solidFill>
          <a:ln/>
        </p:spPr>
      </p:sp>
      <p:sp>
        <p:nvSpPr>
          <p:cNvPr id="8" name="Phasenpunkt"/>
          <p:cNvSpPr/>
          <p:nvPr/>
        </p:nvSpPr>
        <p:spPr>
          <a:xfrm>
            <a:off x="10634472" y="429768"/>
            <a:ext cx="155448" cy="155448"/>
          </a:xfrm>
          <a:prstGeom prst="ellipse">
            <a:avLst/>
          </a:prstGeom>
          <a:solidFill>
            <a:srgbClr val="D9DEE5"/>
          </a:solidFill>
          <a:ln/>
        </p:spPr>
      </p:sp>
      <p:sp>
        <p:nvSpPr>
          <p:cNvPr id="9" name="Phasenpunkt"/>
          <p:cNvSpPr/>
          <p:nvPr/>
        </p:nvSpPr>
        <p:spPr>
          <a:xfrm>
            <a:off x="10881360" y="429768"/>
            <a:ext cx="155448" cy="155448"/>
          </a:xfrm>
          <a:prstGeom prst="ellipse">
            <a:avLst/>
          </a:prstGeom>
          <a:solidFill>
            <a:srgbClr val="D9DEE5"/>
          </a:solidFill>
          <a:ln/>
        </p:spPr>
      </p:sp>
      <p:sp>
        <p:nvSpPr>
          <p:cNvPr id="10" name="Phasenpunkt"/>
          <p:cNvSpPr/>
          <p:nvPr/>
        </p:nvSpPr>
        <p:spPr>
          <a:xfrm>
            <a:off x="11128248" y="429768"/>
            <a:ext cx="155448" cy="155448"/>
          </a:xfrm>
          <a:prstGeom prst="ellipse">
            <a:avLst/>
          </a:prstGeom>
          <a:solidFill>
            <a:srgbClr val="D9DEE5"/>
          </a:solidFill>
          <a:ln/>
        </p:spPr>
      </p:sp>
      <p:sp>
        <p:nvSpPr>
          <p:cNvPr id="11" name="Phasenpunkt"/>
          <p:cNvSpPr/>
          <p:nvPr/>
        </p:nvSpPr>
        <p:spPr>
          <a:xfrm>
            <a:off x="11375136" y="429768"/>
            <a:ext cx="155448" cy="155448"/>
          </a:xfrm>
          <a:prstGeom prst="ellipse">
            <a:avLst/>
          </a:prstGeom>
          <a:solidFill>
            <a:srgbClr val="D9DEE5"/>
          </a:solidFill>
          <a:ln/>
        </p:spPr>
      </p:sp>
      <p:sp>
        <p:nvSpPr>
          <p:cNvPr id="12" name="Karte"/>
          <p:cNvSpPr/>
          <p:nvPr/>
        </p:nvSpPr>
        <p:spPr>
          <a:xfrm>
            <a:off x="548640" y="1737360"/>
            <a:ext cx="5440680" cy="3291840"/>
          </a:xfrm>
          <a:prstGeom prst="roundRect">
            <a:avLst>
              <a:gd name="adj" fmla="val 3333"/>
            </a:avLst>
          </a:prstGeom>
          <a:solidFill>
            <a:schemeClr val="bg1"/>
          </a:solidFill>
          <a:ln/>
          <a:effectLst>
            <a:outerShdw sx="100000" sy="100000" kx="0" ky="0" algn="bl" rotWithShape="0" blurRad="101600" dist="25400" dir="5400000">
              <a:srgbClr val="18202B">
                <a:alpha val="12000"/>
              </a:srgbClr>
            </a:outerShdw>
          </a:effectLst>
        </p:spPr>
      </p:sp>
      <p:sp>
        <p:nvSpPr>
          <p:cNvPr id="13" name="Etikett"/>
          <p:cNvSpPr/>
          <p:nvPr/>
        </p:nvSpPr>
        <p:spPr>
          <a:xfrm>
            <a:off x="822960" y="1965960"/>
            <a:ext cx="1737360" cy="292608"/>
          </a:xfrm>
          <a:prstGeom prst="roundRect">
            <a:avLst>
              <a:gd name="adj" fmla="val 50000"/>
            </a:avLst>
          </a:prstGeom>
          <a:solidFill>
            <a:schemeClr val="accent2"/>
          </a:solidFill>
          <a:ln/>
        </p:spPr>
      </p:sp>
      <p:sp>
        <p:nvSpPr>
          <p:cNvPr id="14" name="Text 12"/>
          <p:cNvSpPr txBox="1"/>
          <p:nvPr/>
        </p:nvSpPr>
        <p:spPr>
          <a:xfrm>
            <a:off x="822960" y="1965960"/>
            <a:ext cx="1737360" cy="292608"/>
          </a:xfrm>
          <a:prstGeom prst="rect">
            <a:avLst/>
          </a:prstGeom>
          <a:noFill/>
          <a:ln/>
        </p:spPr>
        <p:txBody>
          <a:bodyPr wrap="square" lIns="0" tIns="0" rIns="0" bIns="0" rtlCol="0" anchor="ctr"/>
          <a:lstStyle/>
          <a:p>
            <a:pPr algn="ctr" indent="0" marL="0">
              <a:buNone/>
            </a:pPr>
            <a:r>
              <a:rPr lang="en-US" sz="1100" b="1" dirty="0">
                <a:solidFill>
                  <a:schemeClr val="bg1"/>
                </a:solidFill>
              </a:rPr>
              <a:t>Jetzt ansprechen</a:t>
            </a:r>
            <a:endParaRPr lang="en-US" sz="1100" dirty="0"/>
          </a:p>
        </p:txBody>
      </p:sp>
      <p:sp>
        <p:nvSpPr>
          <p:cNvPr id="15" name="Text 13"/>
          <p:cNvSpPr txBox="1"/>
          <p:nvPr/>
        </p:nvSpPr>
        <p:spPr>
          <a:xfrm>
            <a:off x="822960" y="2468880"/>
            <a:ext cx="489204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Die Kundin schaut sich suchend um.</a:t>
            </a:r>
            <a:endParaRPr lang="en-US" sz="1600" dirty="0"/>
          </a:p>
          <a:p>
            <a:pPr marL="342900" indent="-342900">
              <a:spcAft>
                <a:spcPts val="800"/>
              </a:spcAft>
              <a:buSzPct val="100000"/>
              <a:buChar char="•"/>
            </a:pPr>
            <a:r>
              <a:rPr lang="en-US" sz="1600" dirty="0">
                <a:solidFill>
                  <a:schemeClr val="tx1"/>
                </a:solidFill>
              </a:rPr>
              <a:t>Der Kunde nimmt Ware in die Hand oder bleibt länger stehen.</a:t>
            </a:r>
            <a:endParaRPr lang="en-US" sz="1600" dirty="0"/>
          </a:p>
          <a:p>
            <a:pPr marL="342900" indent="-342900">
              <a:spcAft>
                <a:spcPts val="800"/>
              </a:spcAft>
              <a:buSzPct val="100000"/>
              <a:buChar char="•"/>
            </a:pPr>
            <a:r>
              <a:rPr lang="en-US" sz="1600" dirty="0">
                <a:solidFill>
                  <a:schemeClr val="tx1"/>
                </a:solidFill>
              </a:rPr>
              <a:t>Jemand sucht Blickkontakt mit Ihnen.</a:t>
            </a:r>
            <a:endParaRPr lang="en-US" sz="1600" dirty="0"/>
          </a:p>
          <a:p>
            <a:pPr marL="342900" indent="-342900">
              <a:spcAft>
                <a:spcPts val="800"/>
              </a:spcAft>
              <a:buSzPct val="100000"/>
              <a:buChar char="•"/>
            </a:pPr>
            <a:r>
              <a:rPr lang="en-US" sz="1600" dirty="0">
                <a:solidFill>
                  <a:schemeClr val="tx1"/>
                </a:solidFill>
              </a:rPr>
              <a:t>Jemand ist sichtlich in Eile.</a:t>
            </a:r>
            <a:endParaRPr lang="en-US" sz="1600" dirty="0"/>
          </a:p>
        </p:txBody>
      </p:sp>
      <p:sp>
        <p:nvSpPr>
          <p:cNvPr id="16" name="Karte"/>
          <p:cNvSpPr/>
          <p:nvPr/>
        </p:nvSpPr>
        <p:spPr>
          <a:xfrm>
            <a:off x="6199632" y="1737360"/>
            <a:ext cx="5440680" cy="3291840"/>
          </a:xfrm>
          <a:prstGeom prst="roundRect">
            <a:avLst>
              <a:gd name="adj" fmla="val 3333"/>
            </a:avLst>
          </a:prstGeom>
          <a:solidFill>
            <a:schemeClr val="bg1"/>
          </a:solidFill>
          <a:ln/>
          <a:effectLst>
            <a:outerShdw sx="100000" sy="100000" kx="0" ky="0" algn="bl" rotWithShape="0" blurRad="101600" dist="25400" dir="5400000">
              <a:srgbClr val="18202B">
                <a:alpha val="12000"/>
              </a:srgbClr>
            </a:outerShdw>
          </a:effectLst>
        </p:spPr>
      </p:sp>
      <p:sp>
        <p:nvSpPr>
          <p:cNvPr id="17" name="Etikett"/>
          <p:cNvSpPr/>
          <p:nvPr/>
        </p:nvSpPr>
        <p:spPr>
          <a:xfrm>
            <a:off x="6473952" y="1965960"/>
            <a:ext cx="1463040" cy="292608"/>
          </a:xfrm>
          <a:prstGeom prst="roundRect">
            <a:avLst>
              <a:gd name="adj" fmla="val 50000"/>
            </a:avLst>
          </a:prstGeom>
          <a:solidFill>
            <a:schemeClr val="accent4"/>
          </a:solidFill>
          <a:ln/>
        </p:spPr>
      </p:sp>
      <p:sp>
        <p:nvSpPr>
          <p:cNvPr id="18" name="Text 16"/>
          <p:cNvSpPr txBox="1"/>
          <p:nvPr/>
        </p:nvSpPr>
        <p:spPr>
          <a:xfrm>
            <a:off x="6473952" y="1965960"/>
            <a:ext cx="1463040" cy="292608"/>
          </a:xfrm>
          <a:prstGeom prst="rect">
            <a:avLst/>
          </a:prstGeom>
          <a:noFill/>
          <a:ln/>
        </p:spPr>
        <p:txBody>
          <a:bodyPr wrap="square" lIns="0" tIns="0" rIns="0" bIns="0" rtlCol="0" anchor="ctr"/>
          <a:lstStyle/>
          <a:p>
            <a:pPr algn="ctr" indent="0" marL="0">
              <a:buNone/>
            </a:pPr>
            <a:r>
              <a:rPr lang="en-US" sz="1100" b="1" dirty="0">
                <a:solidFill>
                  <a:schemeClr val="bg1"/>
                </a:solidFill>
              </a:rPr>
              <a:t>Noch warten</a:t>
            </a:r>
            <a:endParaRPr lang="en-US" sz="1100" dirty="0"/>
          </a:p>
        </p:txBody>
      </p:sp>
      <p:sp>
        <p:nvSpPr>
          <p:cNvPr id="19" name="Text 17"/>
          <p:cNvSpPr txBox="1"/>
          <p:nvPr/>
        </p:nvSpPr>
        <p:spPr>
          <a:xfrm>
            <a:off x="6473952" y="2468880"/>
            <a:ext cx="489204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Die Kundin kommt gerade erst zur Tür herein.</a:t>
            </a:r>
            <a:endParaRPr lang="en-US" sz="1600" dirty="0"/>
          </a:p>
          <a:p>
            <a:pPr marL="342900" indent="-342900">
              <a:spcAft>
                <a:spcPts val="800"/>
              </a:spcAft>
              <a:buSzPct val="100000"/>
              <a:buChar char="•"/>
            </a:pPr>
            <a:r>
              <a:rPr lang="en-US" sz="1600" dirty="0">
                <a:solidFill>
                  <a:schemeClr val="tx1"/>
                </a:solidFill>
              </a:rPr>
              <a:t>Der Kunde stöbert entspannt und will sich erst orientieren.</a:t>
            </a:r>
            <a:endParaRPr lang="en-US" sz="1600" dirty="0"/>
          </a:p>
          <a:p>
            <a:pPr marL="342900" indent="-342900">
              <a:spcAft>
                <a:spcPts val="800"/>
              </a:spcAft>
              <a:buSzPct val="100000"/>
              <a:buChar char="•"/>
            </a:pPr>
            <a:r>
              <a:rPr lang="en-US" sz="1600" dirty="0">
                <a:solidFill>
                  <a:schemeClr val="tx1"/>
                </a:solidFill>
              </a:rPr>
              <a:t>Jemand telefoniert gerade.</a:t>
            </a:r>
            <a:endParaRPr lang="en-US" sz="1600" dirty="0"/>
          </a:p>
          <a:p>
            <a:pPr marL="342900" indent="-342900">
              <a:spcAft>
                <a:spcPts val="800"/>
              </a:spcAft>
              <a:buSzPct val="100000"/>
              <a:buChar char="•"/>
            </a:pPr>
            <a:r>
              <a:rPr lang="en-US" sz="1600" dirty="0">
                <a:solidFill>
                  <a:schemeClr val="tx1"/>
                </a:solidFill>
              </a:rPr>
              <a:t>Dann: kurz begrüßen und Zeit lassen, aber in der Nähe bleiben.</a:t>
            </a:r>
            <a:endParaRPr lang="en-US" sz="1600" dirty="0"/>
          </a:p>
        </p:txBody>
      </p:sp>
      <p:sp>
        <p:nvSpPr>
          <p:cNvPr id="20" name="Karte"/>
          <p:cNvSpPr/>
          <p:nvPr/>
        </p:nvSpPr>
        <p:spPr>
          <a:xfrm>
            <a:off x="548640" y="5303520"/>
            <a:ext cx="5440680" cy="822960"/>
          </a:xfrm>
          <a:prstGeom prst="roundRect">
            <a:avLst>
              <a:gd name="adj" fmla="val 13333"/>
            </a:avLst>
          </a:prstGeom>
          <a:solidFill>
            <a:srgbClr val="F8E1DE"/>
          </a:solidFill>
          <a:ln/>
        </p:spPr>
      </p:sp>
      <p:sp>
        <p:nvSpPr>
          <p:cNvPr id="21" name="Text 19"/>
          <p:cNvSpPr txBox="1"/>
          <p:nvPr/>
        </p:nvSpPr>
        <p:spPr>
          <a:xfrm>
            <a:off x="822960" y="5303520"/>
            <a:ext cx="4892040" cy="822960"/>
          </a:xfrm>
          <a:prstGeom prst="rect">
            <a:avLst/>
          </a:prstGeom>
          <a:noFill/>
          <a:ln/>
        </p:spPr>
        <p:txBody>
          <a:bodyPr wrap="square" lIns="0" tIns="0" rIns="0" bIns="0" rtlCol="0" anchor="ctr"/>
          <a:lstStyle/>
          <a:p>
            <a:pPr indent="0" marL="0">
              <a:buNone/>
            </a:pPr>
            <a:r>
              <a:rPr lang="en-US" sz="1700" b="1" dirty="0">
                <a:solidFill>
                  <a:srgbClr val="B5352A"/>
                </a:solidFill>
              </a:rPr>
              <a:t>Zu früh: </a:t>
            </a:r>
            <a:pPr indent="0" marL="0">
              <a:buNone/>
            </a:pPr>
            <a:r>
              <a:rPr lang="en-US" sz="1700" dirty="0">
                <a:solidFill>
                  <a:schemeClr val="tx1"/>
                </a:solidFill>
              </a:rPr>
              <a:t>wirkt aufdringlich.</a:t>
            </a:r>
            <a:endParaRPr lang="en-US" sz="1700" dirty="0"/>
          </a:p>
        </p:txBody>
      </p:sp>
      <p:sp>
        <p:nvSpPr>
          <p:cNvPr id="22" name="Karte"/>
          <p:cNvSpPr/>
          <p:nvPr/>
        </p:nvSpPr>
        <p:spPr>
          <a:xfrm>
            <a:off x="6199632" y="5303520"/>
            <a:ext cx="5440680" cy="822960"/>
          </a:xfrm>
          <a:prstGeom prst="roundRect">
            <a:avLst>
              <a:gd name="adj" fmla="val 13333"/>
            </a:avLst>
          </a:prstGeom>
          <a:solidFill>
            <a:srgbClr val="F8E1DE"/>
          </a:solidFill>
          <a:ln/>
        </p:spPr>
      </p:sp>
      <p:sp>
        <p:nvSpPr>
          <p:cNvPr id="23" name="Text 21"/>
          <p:cNvSpPr txBox="1"/>
          <p:nvPr/>
        </p:nvSpPr>
        <p:spPr>
          <a:xfrm>
            <a:off x="6473952" y="5303520"/>
            <a:ext cx="4892040" cy="822960"/>
          </a:xfrm>
          <a:prstGeom prst="rect">
            <a:avLst/>
          </a:prstGeom>
          <a:noFill/>
          <a:ln/>
        </p:spPr>
        <p:txBody>
          <a:bodyPr wrap="square" lIns="0" tIns="0" rIns="0" bIns="0" rtlCol="0" anchor="ctr"/>
          <a:lstStyle/>
          <a:p>
            <a:pPr indent="0" marL="0">
              <a:buNone/>
            </a:pPr>
            <a:r>
              <a:rPr lang="en-US" sz="1700" b="1" dirty="0">
                <a:solidFill>
                  <a:srgbClr val="B5352A"/>
                </a:solidFill>
              </a:rPr>
              <a:t>Zu spät: </a:t>
            </a:r>
            <a:pPr indent="0" marL="0">
              <a:buNone/>
            </a:pPr>
            <a:r>
              <a:rPr lang="en-US" sz="1700" dirty="0">
                <a:solidFill>
                  <a:schemeClr val="tx1"/>
                </a:solidFill>
              </a:rPr>
              <a:t>Die Kundschaft fühlt sich ignoriert.</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PHASE 1 · KONTAKTAUFNAHME</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So sprechen Sie Kundinnen und Kunden an</a:t>
            </a:r>
            <a:endParaRPr lang="en-US" sz="3400" dirty="0"/>
          </a:p>
        </p:txBody>
      </p:sp>
      <p:sp>
        <p:nvSpPr>
          <p:cNvPr id="4" name="Phasenpunkt"/>
          <p:cNvSpPr/>
          <p:nvPr/>
        </p:nvSpPr>
        <p:spPr>
          <a:xfrm>
            <a:off x="9646920" y="429768"/>
            <a:ext cx="155448" cy="155448"/>
          </a:xfrm>
          <a:prstGeom prst="ellipse">
            <a:avLst/>
          </a:prstGeom>
          <a:solidFill>
            <a:schemeClr val="accent1"/>
          </a:solidFill>
          <a:ln/>
        </p:spPr>
      </p:sp>
      <p:sp>
        <p:nvSpPr>
          <p:cNvPr id="5" name="Phasenpunkt"/>
          <p:cNvSpPr/>
          <p:nvPr/>
        </p:nvSpPr>
        <p:spPr>
          <a:xfrm>
            <a:off x="9893808" y="429768"/>
            <a:ext cx="155448" cy="155448"/>
          </a:xfrm>
          <a:prstGeom prst="ellipse">
            <a:avLst/>
          </a:prstGeom>
          <a:solidFill>
            <a:srgbClr val="D9DEE5"/>
          </a:solidFill>
          <a:ln/>
        </p:spPr>
      </p:sp>
      <p:sp>
        <p:nvSpPr>
          <p:cNvPr id="6" name="Phasenpunkt"/>
          <p:cNvSpPr/>
          <p:nvPr/>
        </p:nvSpPr>
        <p:spPr>
          <a:xfrm>
            <a:off x="10140696" y="429768"/>
            <a:ext cx="155448" cy="155448"/>
          </a:xfrm>
          <a:prstGeom prst="ellipse">
            <a:avLst/>
          </a:prstGeom>
          <a:solidFill>
            <a:srgbClr val="D9DEE5"/>
          </a:solidFill>
          <a:ln/>
        </p:spPr>
      </p:sp>
      <p:sp>
        <p:nvSpPr>
          <p:cNvPr id="7" name="Phasenpunkt"/>
          <p:cNvSpPr/>
          <p:nvPr/>
        </p:nvSpPr>
        <p:spPr>
          <a:xfrm>
            <a:off x="10387584" y="429768"/>
            <a:ext cx="155448" cy="155448"/>
          </a:xfrm>
          <a:prstGeom prst="ellipse">
            <a:avLst/>
          </a:prstGeom>
          <a:solidFill>
            <a:srgbClr val="D9DEE5"/>
          </a:solidFill>
          <a:ln/>
        </p:spPr>
      </p:sp>
      <p:sp>
        <p:nvSpPr>
          <p:cNvPr id="8" name="Phasenpunkt"/>
          <p:cNvSpPr/>
          <p:nvPr/>
        </p:nvSpPr>
        <p:spPr>
          <a:xfrm>
            <a:off x="10634472" y="429768"/>
            <a:ext cx="155448" cy="155448"/>
          </a:xfrm>
          <a:prstGeom prst="ellipse">
            <a:avLst/>
          </a:prstGeom>
          <a:solidFill>
            <a:srgbClr val="D9DEE5"/>
          </a:solidFill>
          <a:ln/>
        </p:spPr>
      </p:sp>
      <p:sp>
        <p:nvSpPr>
          <p:cNvPr id="9" name="Phasenpunkt"/>
          <p:cNvSpPr/>
          <p:nvPr/>
        </p:nvSpPr>
        <p:spPr>
          <a:xfrm>
            <a:off x="10881360" y="429768"/>
            <a:ext cx="155448" cy="155448"/>
          </a:xfrm>
          <a:prstGeom prst="ellipse">
            <a:avLst/>
          </a:prstGeom>
          <a:solidFill>
            <a:srgbClr val="D9DEE5"/>
          </a:solidFill>
          <a:ln/>
        </p:spPr>
      </p:sp>
      <p:sp>
        <p:nvSpPr>
          <p:cNvPr id="10" name="Phasenpunkt"/>
          <p:cNvSpPr/>
          <p:nvPr/>
        </p:nvSpPr>
        <p:spPr>
          <a:xfrm>
            <a:off x="11128248" y="429768"/>
            <a:ext cx="155448" cy="155448"/>
          </a:xfrm>
          <a:prstGeom prst="ellipse">
            <a:avLst/>
          </a:prstGeom>
          <a:solidFill>
            <a:srgbClr val="D9DEE5"/>
          </a:solidFill>
          <a:ln/>
        </p:spPr>
      </p:sp>
      <p:sp>
        <p:nvSpPr>
          <p:cNvPr id="11" name="Phasenpunkt"/>
          <p:cNvSpPr/>
          <p:nvPr/>
        </p:nvSpPr>
        <p:spPr>
          <a:xfrm>
            <a:off x="11375136" y="429768"/>
            <a:ext cx="155448" cy="155448"/>
          </a:xfrm>
          <a:prstGeom prst="ellipse">
            <a:avLst/>
          </a:prstGeom>
          <a:solidFill>
            <a:srgbClr val="D9DEE5"/>
          </a:solidFill>
          <a:ln/>
        </p:spPr>
      </p:sp>
      <p:sp>
        <p:nvSpPr>
          <p:cNvPr id="12" name="Karte"/>
          <p:cNvSpPr/>
          <p:nvPr/>
        </p:nvSpPr>
        <p:spPr>
          <a:xfrm>
            <a:off x="548640" y="1737360"/>
            <a:ext cx="3502152" cy="4343400"/>
          </a:xfrm>
          <a:prstGeom prst="roundRect">
            <a:avLst>
              <a:gd name="adj" fmla="val 3133"/>
            </a:avLst>
          </a:prstGeom>
          <a:solidFill>
            <a:schemeClr val="bg1"/>
          </a:solidFill>
          <a:ln/>
          <a:effectLst>
            <a:outerShdw sx="100000" sy="100000" kx="0" ky="0" algn="bl" rotWithShape="0" blurRad="101600" dist="25400" dir="5400000">
              <a:srgbClr val="18202B">
                <a:alpha val="12000"/>
              </a:srgbClr>
            </a:outerShdw>
          </a:effectLst>
        </p:spPr>
      </p:sp>
      <p:sp>
        <p:nvSpPr>
          <p:cNvPr id="13" name="Text 11"/>
          <p:cNvSpPr txBox="1"/>
          <p:nvPr/>
        </p:nvSpPr>
        <p:spPr>
          <a:xfrm>
            <a:off x="822960" y="1965960"/>
            <a:ext cx="2953512" cy="731520"/>
          </a:xfrm>
          <a:prstGeom prst="rect">
            <a:avLst/>
          </a:prstGeom>
          <a:noFill/>
          <a:ln/>
        </p:spPr>
        <p:txBody>
          <a:bodyPr wrap="square" lIns="0" tIns="0" rIns="0" bIns="0" rtlCol="0" anchor="t"/>
          <a:lstStyle/>
          <a:p>
            <a:pPr indent="0" marL="0">
              <a:buNone/>
            </a:pPr>
            <a:r>
              <a:rPr lang="en-US" sz="2000" b="1" dirty="0">
                <a:solidFill>
                  <a:schemeClr val="accent1"/>
                </a:solidFill>
                <a:latin typeface="Century Schoolbook" pitchFamily="34" charset="0"/>
                <a:ea typeface="Century Schoolbook" pitchFamily="34" charset="-122"/>
                <a:cs typeface="Century Schoolbook" pitchFamily="34" charset="-120"/>
              </a:rPr>
              <a:t>Begrüßung</a:t>
            </a:r>
            <a:endParaRPr lang="en-US" sz="2000" dirty="0"/>
          </a:p>
        </p:txBody>
      </p:sp>
      <p:sp>
        <p:nvSpPr>
          <p:cNvPr id="14" name="Text 12"/>
          <p:cNvSpPr txBox="1"/>
          <p:nvPr/>
        </p:nvSpPr>
        <p:spPr>
          <a:xfrm>
            <a:off x="822960" y="2743200"/>
            <a:ext cx="2953512" cy="1737360"/>
          </a:xfrm>
          <a:prstGeom prst="rect">
            <a:avLst/>
          </a:prstGeom>
          <a:noFill/>
          <a:ln/>
        </p:spPr>
        <p:txBody>
          <a:bodyPr wrap="square" lIns="0" tIns="0" rIns="0" bIns="0" rtlCol="0" anchor="t"/>
          <a:lstStyle/>
          <a:p>
            <a:pPr indent="0" marL="0">
              <a:buNone/>
            </a:pPr>
            <a:r>
              <a:rPr lang="en-US" sz="1700" i="1" dirty="0">
                <a:solidFill>
                  <a:schemeClr val="tx1"/>
                </a:solidFill>
              </a:rPr>
              <a:t>„Guten Tag! Schauen Sie sich gern in Ruhe um.“</a:t>
            </a:r>
            <a:endParaRPr lang="en-US" sz="1700" dirty="0"/>
          </a:p>
        </p:txBody>
      </p:sp>
      <p:sp>
        <p:nvSpPr>
          <p:cNvPr id="15" name="Text 13"/>
          <p:cNvSpPr txBox="1"/>
          <p:nvPr/>
        </p:nvSpPr>
        <p:spPr>
          <a:xfrm>
            <a:off x="822960" y="4572000"/>
            <a:ext cx="2953512" cy="1325880"/>
          </a:xfrm>
          <a:prstGeom prst="rect">
            <a:avLst/>
          </a:prstGeom>
          <a:noFill/>
          <a:ln/>
        </p:spPr>
        <p:txBody>
          <a:bodyPr wrap="square" lIns="0" tIns="0" rIns="0" bIns="0" rtlCol="0" anchor="t"/>
          <a:lstStyle/>
          <a:p>
            <a:pPr indent="0" marL="0">
              <a:buNone/>
            </a:pPr>
            <a:r>
              <a:rPr lang="en-US" sz="1400" dirty="0">
                <a:solidFill>
                  <a:schemeClr val="accent6"/>
                </a:solidFill>
              </a:rPr>
              <a:t>Passt, wenn die Kundschaft erst stöbern möchte. Sie zeigen: Ich bin da.</a:t>
            </a:r>
            <a:endParaRPr lang="en-US" sz="1400" dirty="0"/>
          </a:p>
        </p:txBody>
      </p:sp>
      <p:sp>
        <p:nvSpPr>
          <p:cNvPr id="16" name="Karte"/>
          <p:cNvSpPr/>
          <p:nvPr/>
        </p:nvSpPr>
        <p:spPr>
          <a:xfrm>
            <a:off x="4325112" y="1737360"/>
            <a:ext cx="3502152" cy="4343400"/>
          </a:xfrm>
          <a:prstGeom prst="roundRect">
            <a:avLst>
              <a:gd name="adj" fmla="val 3133"/>
            </a:avLst>
          </a:prstGeom>
          <a:solidFill>
            <a:schemeClr val="bg1"/>
          </a:solidFill>
          <a:ln/>
          <a:effectLst>
            <a:outerShdw sx="100000" sy="100000" kx="0" ky="0" algn="bl" rotWithShape="0" blurRad="101600" dist="25400" dir="5400000">
              <a:srgbClr val="18202B">
                <a:alpha val="12000"/>
              </a:srgbClr>
            </a:outerShdw>
          </a:effectLst>
        </p:spPr>
      </p:sp>
      <p:sp>
        <p:nvSpPr>
          <p:cNvPr id="17" name="Text 15"/>
          <p:cNvSpPr txBox="1"/>
          <p:nvPr/>
        </p:nvSpPr>
        <p:spPr>
          <a:xfrm>
            <a:off x="4599432" y="1965960"/>
            <a:ext cx="2953512" cy="731520"/>
          </a:xfrm>
          <a:prstGeom prst="rect">
            <a:avLst/>
          </a:prstGeom>
          <a:noFill/>
          <a:ln/>
        </p:spPr>
        <p:txBody>
          <a:bodyPr wrap="square" lIns="0" tIns="0" rIns="0" bIns="0" rtlCol="0" anchor="t"/>
          <a:lstStyle/>
          <a:p>
            <a:pPr indent="0" marL="0">
              <a:buNone/>
            </a:pPr>
            <a:r>
              <a:rPr lang="en-US" sz="2000" b="1" dirty="0">
                <a:solidFill>
                  <a:schemeClr val="accent2"/>
                </a:solidFill>
                <a:latin typeface="Century Schoolbook" pitchFamily="34" charset="0"/>
                <a:ea typeface="Century Schoolbook" pitchFamily="34" charset="-122"/>
                <a:cs typeface="Century Schoolbook" pitchFamily="34" charset="-120"/>
              </a:rPr>
              <a:t>Warenbezogene Ansprache</a:t>
            </a:r>
            <a:endParaRPr lang="en-US" sz="2000" dirty="0"/>
          </a:p>
        </p:txBody>
      </p:sp>
      <p:sp>
        <p:nvSpPr>
          <p:cNvPr id="18" name="Text 16"/>
          <p:cNvSpPr txBox="1"/>
          <p:nvPr/>
        </p:nvSpPr>
        <p:spPr>
          <a:xfrm>
            <a:off x="4599432" y="2743200"/>
            <a:ext cx="2953512" cy="1737360"/>
          </a:xfrm>
          <a:prstGeom prst="rect">
            <a:avLst/>
          </a:prstGeom>
          <a:noFill/>
          <a:ln/>
        </p:spPr>
        <p:txBody>
          <a:bodyPr wrap="square" lIns="0" tIns="0" rIns="0" bIns="0" rtlCol="0" anchor="t"/>
          <a:lstStyle/>
          <a:p>
            <a:pPr indent="0" marL="0">
              <a:buNone/>
            </a:pPr>
            <a:r>
              <a:rPr lang="en-US" sz="1700" i="1" dirty="0">
                <a:solidFill>
                  <a:schemeClr val="tx1"/>
                </a:solidFill>
              </a:rPr>
              <a:t>„Das ist unser AeroRun, ein sehr beliebter Laufschuh. Laufen Sie eher auf der Straße oder im Gelände?“</a:t>
            </a:r>
            <a:endParaRPr lang="en-US" sz="1700" dirty="0"/>
          </a:p>
        </p:txBody>
      </p:sp>
      <p:sp>
        <p:nvSpPr>
          <p:cNvPr id="19" name="Text 17"/>
          <p:cNvSpPr txBox="1"/>
          <p:nvPr/>
        </p:nvSpPr>
        <p:spPr>
          <a:xfrm>
            <a:off x="4599432" y="4572000"/>
            <a:ext cx="2953512" cy="1325880"/>
          </a:xfrm>
          <a:prstGeom prst="rect">
            <a:avLst/>
          </a:prstGeom>
          <a:noFill/>
          <a:ln/>
        </p:spPr>
        <p:txBody>
          <a:bodyPr wrap="square" lIns="0" tIns="0" rIns="0" bIns="0" rtlCol="0" anchor="t"/>
          <a:lstStyle/>
          <a:p>
            <a:pPr indent="0" marL="0">
              <a:buNone/>
            </a:pPr>
            <a:r>
              <a:rPr lang="en-US" sz="1400" dirty="0">
                <a:solidFill>
                  <a:schemeClr val="accent6"/>
                </a:solidFill>
              </a:rPr>
              <a:t>Am besten: Sie knüpfen an die Ware an und eröffnen sofort ein Gespräch.</a:t>
            </a:r>
            <a:endParaRPr lang="en-US" sz="1400" dirty="0"/>
          </a:p>
        </p:txBody>
      </p:sp>
      <p:sp>
        <p:nvSpPr>
          <p:cNvPr id="20" name="Karte"/>
          <p:cNvSpPr/>
          <p:nvPr/>
        </p:nvSpPr>
        <p:spPr>
          <a:xfrm>
            <a:off x="8101584" y="1737360"/>
            <a:ext cx="3502152" cy="4343400"/>
          </a:xfrm>
          <a:prstGeom prst="roundRect">
            <a:avLst>
              <a:gd name="adj" fmla="val 3133"/>
            </a:avLst>
          </a:prstGeom>
          <a:solidFill>
            <a:schemeClr val="bg1"/>
          </a:solidFill>
          <a:ln/>
          <a:effectLst>
            <a:outerShdw sx="100000" sy="100000" kx="0" ky="0" algn="bl" rotWithShape="0" blurRad="101600" dist="25400" dir="5400000">
              <a:srgbClr val="18202B">
                <a:alpha val="12000"/>
              </a:srgbClr>
            </a:outerShdw>
          </a:effectLst>
        </p:spPr>
      </p:sp>
      <p:sp>
        <p:nvSpPr>
          <p:cNvPr id="21" name="Text 19"/>
          <p:cNvSpPr txBox="1"/>
          <p:nvPr/>
        </p:nvSpPr>
        <p:spPr>
          <a:xfrm>
            <a:off x="8375904" y="1965960"/>
            <a:ext cx="2953512" cy="731520"/>
          </a:xfrm>
          <a:prstGeom prst="rect">
            <a:avLst/>
          </a:prstGeom>
          <a:noFill/>
          <a:ln/>
        </p:spPr>
        <p:txBody>
          <a:bodyPr wrap="square" lIns="0" tIns="0" rIns="0" bIns="0" rtlCol="0" anchor="t"/>
          <a:lstStyle/>
          <a:p>
            <a:pPr indent="0" marL="0">
              <a:buNone/>
            </a:pPr>
            <a:r>
              <a:rPr lang="en-US" sz="2000" b="1" dirty="0">
                <a:solidFill>
                  <a:schemeClr val="accent3"/>
                </a:solidFill>
                <a:latin typeface="Century Schoolbook" pitchFamily="34" charset="0"/>
                <a:ea typeface="Century Schoolbook" pitchFamily="34" charset="-122"/>
                <a:cs typeface="Century Schoolbook" pitchFamily="34" charset="-120"/>
              </a:rPr>
              <a:t>Geschlossene Frage</a:t>
            </a:r>
            <a:endParaRPr lang="en-US" sz="2000" dirty="0"/>
          </a:p>
        </p:txBody>
      </p:sp>
      <p:sp>
        <p:nvSpPr>
          <p:cNvPr id="22" name="Text 20"/>
          <p:cNvSpPr txBox="1"/>
          <p:nvPr/>
        </p:nvSpPr>
        <p:spPr>
          <a:xfrm>
            <a:off x="8375904" y="2743200"/>
            <a:ext cx="2953512" cy="1737360"/>
          </a:xfrm>
          <a:prstGeom prst="rect">
            <a:avLst/>
          </a:prstGeom>
          <a:noFill/>
          <a:ln/>
        </p:spPr>
        <p:txBody>
          <a:bodyPr wrap="square" lIns="0" tIns="0" rIns="0" bIns="0" rtlCol="0" anchor="t"/>
          <a:lstStyle/>
          <a:p>
            <a:pPr indent="0" marL="0">
              <a:buNone/>
            </a:pPr>
            <a:r>
              <a:rPr lang="en-US" sz="1700" i="1" dirty="0">
                <a:solidFill>
                  <a:schemeClr val="tx1"/>
                </a:solidFill>
              </a:rPr>
              <a:t>„Kann ich Ihnen helfen?“</a:t>
            </a:r>
            <a:endParaRPr lang="en-US" sz="1700" dirty="0"/>
          </a:p>
        </p:txBody>
      </p:sp>
      <p:sp>
        <p:nvSpPr>
          <p:cNvPr id="23" name="Text 21"/>
          <p:cNvSpPr txBox="1"/>
          <p:nvPr/>
        </p:nvSpPr>
        <p:spPr>
          <a:xfrm>
            <a:off x="8375904" y="4572000"/>
            <a:ext cx="2953512" cy="1325880"/>
          </a:xfrm>
          <a:prstGeom prst="rect">
            <a:avLst/>
          </a:prstGeom>
          <a:noFill/>
          <a:ln/>
        </p:spPr>
        <p:txBody>
          <a:bodyPr wrap="square" lIns="0" tIns="0" rIns="0" bIns="0" rtlCol="0" anchor="t"/>
          <a:lstStyle/>
          <a:p>
            <a:pPr indent="0" marL="0">
              <a:buNone/>
            </a:pPr>
            <a:r>
              <a:rPr lang="en-US" sz="1400" dirty="0">
                <a:solidFill>
                  <a:schemeClr val="accent6"/>
                </a:solidFill>
              </a:rPr>
              <a:t>Ungünstig: Darauf antworten viele reflexartig „Nein danke, ich schaue nur“.</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300" kern="0" dirty="0">
                <a:solidFill>
                  <a:schemeClr val="accent1"/>
                </a:solidFill>
              </a:rPr>
              <a:t>PHASE 1 · KONTAKTAUFNAHME</a:t>
            </a:r>
            <a:endParaRPr lang="en-US" sz="1200" dirty="0"/>
          </a:p>
        </p:txBody>
      </p:sp>
      <p:sp>
        <p:nvSpPr>
          <p:cNvPr id="3" name="Text 0"/>
          <p:cNvSpPr/>
          <p:nvPr>
            <p:ph idx="101" type="title" hasCustomPrompt="1"/>
          </p:nvPr>
        </p:nvSpPr>
        <p:spPr>
          <a:xfrm>
            <a:off x="548640" y="68580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Jede Kundschaft braucht einen anderen Einstieg</a:t>
            </a:r>
            <a:endParaRPr lang="en-US" sz="3400" dirty="0"/>
          </a:p>
        </p:txBody>
      </p:sp>
      <p:sp>
        <p:nvSpPr>
          <p:cNvPr id="4" name="Phasenpunkt"/>
          <p:cNvSpPr/>
          <p:nvPr/>
        </p:nvSpPr>
        <p:spPr>
          <a:xfrm>
            <a:off x="9646920" y="429768"/>
            <a:ext cx="155448" cy="155448"/>
          </a:xfrm>
          <a:prstGeom prst="ellipse">
            <a:avLst/>
          </a:prstGeom>
          <a:solidFill>
            <a:schemeClr val="accent1"/>
          </a:solidFill>
          <a:ln/>
        </p:spPr>
      </p:sp>
      <p:sp>
        <p:nvSpPr>
          <p:cNvPr id="5" name="Phasenpunkt"/>
          <p:cNvSpPr/>
          <p:nvPr/>
        </p:nvSpPr>
        <p:spPr>
          <a:xfrm>
            <a:off x="9893808" y="429768"/>
            <a:ext cx="155448" cy="155448"/>
          </a:xfrm>
          <a:prstGeom prst="ellipse">
            <a:avLst/>
          </a:prstGeom>
          <a:solidFill>
            <a:srgbClr val="D9DEE5"/>
          </a:solidFill>
          <a:ln/>
        </p:spPr>
      </p:sp>
      <p:sp>
        <p:nvSpPr>
          <p:cNvPr id="6" name="Phasenpunkt"/>
          <p:cNvSpPr/>
          <p:nvPr/>
        </p:nvSpPr>
        <p:spPr>
          <a:xfrm>
            <a:off x="10140696" y="429768"/>
            <a:ext cx="155448" cy="155448"/>
          </a:xfrm>
          <a:prstGeom prst="ellipse">
            <a:avLst/>
          </a:prstGeom>
          <a:solidFill>
            <a:srgbClr val="D9DEE5"/>
          </a:solidFill>
          <a:ln/>
        </p:spPr>
      </p:sp>
      <p:sp>
        <p:nvSpPr>
          <p:cNvPr id="7" name="Phasenpunkt"/>
          <p:cNvSpPr/>
          <p:nvPr/>
        </p:nvSpPr>
        <p:spPr>
          <a:xfrm>
            <a:off x="10387584" y="429768"/>
            <a:ext cx="155448" cy="155448"/>
          </a:xfrm>
          <a:prstGeom prst="ellipse">
            <a:avLst/>
          </a:prstGeom>
          <a:solidFill>
            <a:srgbClr val="D9DEE5"/>
          </a:solidFill>
          <a:ln/>
        </p:spPr>
      </p:sp>
      <p:sp>
        <p:nvSpPr>
          <p:cNvPr id="8" name="Phasenpunkt"/>
          <p:cNvSpPr/>
          <p:nvPr/>
        </p:nvSpPr>
        <p:spPr>
          <a:xfrm>
            <a:off x="10634472" y="429768"/>
            <a:ext cx="155448" cy="155448"/>
          </a:xfrm>
          <a:prstGeom prst="ellipse">
            <a:avLst/>
          </a:prstGeom>
          <a:solidFill>
            <a:srgbClr val="D9DEE5"/>
          </a:solidFill>
          <a:ln/>
        </p:spPr>
      </p:sp>
      <p:sp>
        <p:nvSpPr>
          <p:cNvPr id="9" name="Phasenpunkt"/>
          <p:cNvSpPr/>
          <p:nvPr/>
        </p:nvSpPr>
        <p:spPr>
          <a:xfrm>
            <a:off x="10881360" y="429768"/>
            <a:ext cx="155448" cy="155448"/>
          </a:xfrm>
          <a:prstGeom prst="ellipse">
            <a:avLst/>
          </a:prstGeom>
          <a:solidFill>
            <a:srgbClr val="D9DEE5"/>
          </a:solidFill>
          <a:ln/>
        </p:spPr>
      </p:sp>
      <p:sp>
        <p:nvSpPr>
          <p:cNvPr id="10" name="Phasenpunkt"/>
          <p:cNvSpPr/>
          <p:nvPr/>
        </p:nvSpPr>
        <p:spPr>
          <a:xfrm>
            <a:off x="11128248" y="429768"/>
            <a:ext cx="155448" cy="155448"/>
          </a:xfrm>
          <a:prstGeom prst="ellipse">
            <a:avLst/>
          </a:prstGeom>
          <a:solidFill>
            <a:srgbClr val="D9DEE5"/>
          </a:solidFill>
          <a:ln/>
        </p:spPr>
      </p:sp>
      <p:sp>
        <p:nvSpPr>
          <p:cNvPr id="11" name="Phasenpunkt"/>
          <p:cNvSpPr/>
          <p:nvPr/>
        </p:nvSpPr>
        <p:spPr>
          <a:xfrm>
            <a:off x="11375136" y="429768"/>
            <a:ext cx="155448" cy="155448"/>
          </a:xfrm>
          <a:prstGeom prst="ellipse">
            <a:avLst/>
          </a:prstGeom>
          <a:solidFill>
            <a:srgbClr val="D9DEE5"/>
          </a:solidFill>
          <a:ln/>
        </p:spPr>
      </p:sp>
      <p:sp>
        <p:nvSpPr>
          <p:cNvPr id="12" name="Karte"/>
          <p:cNvSpPr/>
          <p:nvPr/>
        </p:nvSpPr>
        <p:spPr>
          <a:xfrm>
            <a:off x="548640" y="1737360"/>
            <a:ext cx="2606040" cy="4343400"/>
          </a:xfrm>
          <a:prstGeom prst="roundRect">
            <a:avLst>
              <a:gd name="adj" fmla="val 4211"/>
            </a:avLst>
          </a:prstGeom>
          <a:solidFill>
            <a:schemeClr val="bg1"/>
          </a:solidFill>
          <a:ln/>
          <a:effectLst>
            <a:outerShdw sx="100000" sy="100000" kx="0" ky="0" algn="bl" rotWithShape="0" blurRad="101600" dist="25400" dir="5400000">
              <a:srgbClr val="18202B">
                <a:alpha val="12000"/>
              </a:srgbClr>
            </a:outerShdw>
          </a:effectLst>
        </p:spPr>
      </p:sp>
      <p:pic>
        <p:nvPicPr>
          <p:cNvPr id="13" name="Image 0" descr="Kundenfigur Herr Albers">    </p:cNvPr>
          <p:cNvPicPr>
            <a:picLocks noChangeAspect="1"/>
          </p:cNvPicPr>
          <p:nvPr/>
        </p:nvPicPr>
        <p:blipFill>
          <a:blip r:embed="rId1"/>
          <a:stretch>
            <a:fillRect/>
          </a:stretch>
        </p:blipFill>
        <p:spPr>
          <a:xfrm>
            <a:off x="1257300" y="1874520"/>
            <a:ext cx="1188720" cy="1188720"/>
          </a:xfrm>
          <a:prstGeom prst="rect">
            <a:avLst/>
          </a:prstGeom>
        </p:spPr>
      </p:pic>
      <p:sp>
        <p:nvSpPr>
          <p:cNvPr id="14" name="Text 11"/>
          <p:cNvSpPr txBox="1"/>
          <p:nvPr/>
        </p:nvSpPr>
        <p:spPr>
          <a:xfrm>
            <a:off x="777240" y="3154680"/>
            <a:ext cx="2148840" cy="365760"/>
          </a:xfrm>
          <a:prstGeom prst="rect">
            <a:avLst/>
          </a:prstGeom>
          <a:noFill/>
          <a:ln/>
        </p:spPr>
        <p:txBody>
          <a:bodyPr wrap="square" lIns="0" tIns="0" rIns="0" bIns="0" rtlCol="0" anchor="t"/>
          <a:lstStyle/>
          <a:p>
            <a:pPr algn="ctr" indent="0" marL="0">
              <a:buNone/>
            </a:pPr>
            <a:r>
              <a:rPr lang="en-US" sz="1600" b="1" dirty="0">
                <a:solidFill>
                  <a:schemeClr val="accent1"/>
                </a:solidFill>
              </a:rPr>
              <a:t>Älterer Kunde</a:t>
            </a:r>
            <a:endParaRPr lang="en-US" sz="1600" dirty="0"/>
          </a:p>
        </p:txBody>
      </p:sp>
      <p:sp>
        <p:nvSpPr>
          <p:cNvPr id="15" name="Text 12"/>
          <p:cNvSpPr txBox="1"/>
          <p:nvPr/>
        </p:nvSpPr>
        <p:spPr>
          <a:xfrm>
            <a:off x="777240" y="3611880"/>
            <a:ext cx="2148840" cy="1600200"/>
          </a:xfrm>
          <a:prstGeom prst="rect">
            <a:avLst/>
          </a:prstGeom>
          <a:noFill/>
          <a:ln/>
        </p:spPr>
        <p:txBody>
          <a:bodyPr wrap="square" lIns="0" tIns="0" rIns="0" bIns="0" rtlCol="0" anchor="t"/>
          <a:lstStyle/>
          <a:p>
            <a:pPr indent="0" marL="0">
              <a:buNone/>
            </a:pPr>
            <a:r>
              <a:rPr lang="en-US" sz="1400" i="1" dirty="0">
                <a:solidFill>
                  <a:schemeClr val="tx1"/>
                </a:solidFill>
              </a:rPr>
              <a:t>„Guten Tag! Sie schauen sich die Smartphones an. Suchen Sie eines für sich selbst?“</a:t>
            </a:r>
            <a:endParaRPr lang="en-US" sz="1400" dirty="0"/>
          </a:p>
        </p:txBody>
      </p:sp>
      <p:sp>
        <p:nvSpPr>
          <p:cNvPr id="16" name="Text 13"/>
          <p:cNvSpPr txBox="1"/>
          <p:nvPr/>
        </p:nvSpPr>
        <p:spPr>
          <a:xfrm>
            <a:off x="777240" y="5303520"/>
            <a:ext cx="2148840" cy="548640"/>
          </a:xfrm>
          <a:prstGeom prst="rect">
            <a:avLst/>
          </a:prstGeom>
          <a:noFill/>
          <a:ln/>
        </p:spPr>
        <p:txBody>
          <a:bodyPr wrap="square" lIns="0" tIns="0" rIns="0" bIns="0" rtlCol="0" anchor="t"/>
          <a:lstStyle/>
          <a:p>
            <a:pPr indent="0" marL="0">
              <a:buNone/>
            </a:pPr>
            <a:r>
              <a:rPr lang="en-US" sz="1400" b="1" dirty="0">
                <a:solidFill>
                  <a:schemeClr val="accent2"/>
                </a:solidFill>
              </a:rPr>
              <a:t>ruhig und deutlich sprechen</a:t>
            </a:r>
            <a:endParaRPr lang="en-US" sz="1400" dirty="0"/>
          </a:p>
        </p:txBody>
      </p:sp>
      <p:sp>
        <p:nvSpPr>
          <p:cNvPr id="17" name="Karte"/>
          <p:cNvSpPr/>
          <p:nvPr/>
        </p:nvSpPr>
        <p:spPr>
          <a:xfrm>
            <a:off x="3383280" y="1737360"/>
            <a:ext cx="2606040" cy="4343400"/>
          </a:xfrm>
          <a:prstGeom prst="roundRect">
            <a:avLst>
              <a:gd name="adj" fmla="val 4211"/>
            </a:avLst>
          </a:prstGeom>
          <a:solidFill>
            <a:schemeClr val="bg1"/>
          </a:solidFill>
          <a:ln/>
          <a:effectLst>
            <a:outerShdw sx="100000" sy="100000" kx="0" ky="0" algn="bl" rotWithShape="0" blurRad="101600" dist="25400" dir="5400000">
              <a:srgbClr val="18202B">
                <a:alpha val="12000"/>
              </a:srgbClr>
            </a:outerShdw>
          </a:effectLst>
        </p:spPr>
      </p:sp>
      <p:pic>
        <p:nvPicPr>
          <p:cNvPr id="18" name="Image 1" descr="Kundenfigur Herr Yilmaz">    </p:cNvPr>
          <p:cNvPicPr>
            <a:picLocks noChangeAspect="1"/>
          </p:cNvPicPr>
          <p:nvPr/>
        </p:nvPicPr>
        <p:blipFill>
          <a:blip r:embed="rId2"/>
          <a:stretch>
            <a:fillRect/>
          </a:stretch>
        </p:blipFill>
        <p:spPr>
          <a:xfrm>
            <a:off x="4091940" y="1874520"/>
            <a:ext cx="1188720" cy="1188720"/>
          </a:xfrm>
          <a:prstGeom prst="rect">
            <a:avLst/>
          </a:prstGeom>
        </p:spPr>
      </p:pic>
      <p:sp>
        <p:nvSpPr>
          <p:cNvPr id="19" name="Text 15"/>
          <p:cNvSpPr txBox="1"/>
          <p:nvPr/>
        </p:nvSpPr>
        <p:spPr>
          <a:xfrm>
            <a:off x="3611880" y="3154680"/>
            <a:ext cx="2148840" cy="365760"/>
          </a:xfrm>
          <a:prstGeom prst="rect">
            <a:avLst/>
          </a:prstGeom>
          <a:noFill/>
          <a:ln/>
        </p:spPr>
        <p:txBody>
          <a:bodyPr wrap="square" lIns="0" tIns="0" rIns="0" bIns="0" rtlCol="0" anchor="t"/>
          <a:lstStyle/>
          <a:p>
            <a:pPr algn="ctr" indent="0" marL="0">
              <a:buNone/>
            </a:pPr>
            <a:r>
              <a:rPr lang="en-US" sz="1600" b="1" dirty="0">
                <a:solidFill>
                  <a:schemeClr val="accent1"/>
                </a:solidFill>
              </a:rPr>
              <a:t>Kurz vor Ladenschluss</a:t>
            </a:r>
            <a:endParaRPr lang="en-US" sz="1600" dirty="0"/>
          </a:p>
        </p:txBody>
      </p:sp>
      <p:sp>
        <p:nvSpPr>
          <p:cNvPr id="20" name="Text 16"/>
          <p:cNvSpPr txBox="1"/>
          <p:nvPr/>
        </p:nvSpPr>
        <p:spPr>
          <a:xfrm>
            <a:off x="3611880" y="3611880"/>
            <a:ext cx="2148840" cy="1600200"/>
          </a:xfrm>
          <a:prstGeom prst="rect">
            <a:avLst/>
          </a:prstGeom>
          <a:noFill/>
          <a:ln/>
        </p:spPr>
        <p:txBody>
          <a:bodyPr wrap="square" lIns="0" tIns="0" rIns="0" bIns="0" rtlCol="0" anchor="t"/>
          <a:lstStyle/>
          <a:p>
            <a:pPr indent="0" marL="0">
              <a:buNone/>
            </a:pPr>
            <a:r>
              <a:rPr lang="en-US" sz="1400" i="1" dirty="0">
                <a:solidFill>
                  <a:schemeClr val="tx1"/>
                </a:solidFill>
              </a:rPr>
              <a:t>„Guten Abend! Sie haben es eilig, wobei kann ich Ihnen helfen?“</a:t>
            </a:r>
            <a:endParaRPr lang="en-US" sz="1400" dirty="0"/>
          </a:p>
        </p:txBody>
      </p:sp>
      <p:sp>
        <p:nvSpPr>
          <p:cNvPr id="21" name="Text 17"/>
          <p:cNvSpPr txBox="1"/>
          <p:nvPr/>
        </p:nvSpPr>
        <p:spPr>
          <a:xfrm>
            <a:off x="3611880" y="5303520"/>
            <a:ext cx="2148840" cy="548640"/>
          </a:xfrm>
          <a:prstGeom prst="rect">
            <a:avLst/>
          </a:prstGeom>
          <a:noFill/>
          <a:ln/>
        </p:spPr>
        <p:txBody>
          <a:bodyPr wrap="square" lIns="0" tIns="0" rIns="0" bIns="0" rtlCol="0" anchor="t"/>
          <a:lstStyle/>
          <a:p>
            <a:pPr indent="0" marL="0">
              <a:buNone/>
            </a:pPr>
            <a:r>
              <a:rPr lang="en-US" sz="1400" b="1" dirty="0">
                <a:solidFill>
                  <a:schemeClr val="accent2"/>
                </a:solidFill>
              </a:rPr>
              <a:t>Arbeit unterbrechen, Eile ansprechen</a:t>
            </a:r>
            <a:endParaRPr lang="en-US" sz="1400" dirty="0"/>
          </a:p>
        </p:txBody>
      </p:sp>
      <p:sp>
        <p:nvSpPr>
          <p:cNvPr id="22" name="Karte"/>
          <p:cNvSpPr/>
          <p:nvPr/>
        </p:nvSpPr>
        <p:spPr>
          <a:xfrm>
            <a:off x="6217920" y="1737360"/>
            <a:ext cx="2606040" cy="4343400"/>
          </a:xfrm>
          <a:prstGeom prst="roundRect">
            <a:avLst>
              <a:gd name="adj" fmla="val 4211"/>
            </a:avLst>
          </a:prstGeom>
          <a:solidFill>
            <a:schemeClr val="bg1"/>
          </a:solidFill>
          <a:ln/>
          <a:effectLst>
            <a:outerShdw sx="100000" sy="100000" kx="0" ky="0" algn="bl" rotWithShape="0" blurRad="101600" dist="25400" dir="5400000">
              <a:srgbClr val="18202B">
                <a:alpha val="12000"/>
              </a:srgbClr>
            </a:outerShdw>
          </a:effectLst>
        </p:spPr>
      </p:sp>
      <p:pic>
        <p:nvPicPr>
          <p:cNvPr id="23" name="Image 2" descr="Kundenfigur Herr Brenner">    </p:cNvPr>
          <p:cNvPicPr>
            <a:picLocks noChangeAspect="1"/>
          </p:cNvPicPr>
          <p:nvPr/>
        </p:nvPicPr>
        <p:blipFill>
          <a:blip r:embed="rId3"/>
          <a:stretch>
            <a:fillRect/>
          </a:stretch>
        </p:blipFill>
        <p:spPr>
          <a:xfrm>
            <a:off x="6926580" y="1874520"/>
            <a:ext cx="1188720" cy="1188720"/>
          </a:xfrm>
          <a:prstGeom prst="rect">
            <a:avLst/>
          </a:prstGeom>
        </p:spPr>
      </p:pic>
      <p:sp>
        <p:nvSpPr>
          <p:cNvPr id="24" name="Text 19"/>
          <p:cNvSpPr txBox="1"/>
          <p:nvPr/>
        </p:nvSpPr>
        <p:spPr>
          <a:xfrm>
            <a:off x="6446520" y="3154680"/>
            <a:ext cx="2148840" cy="365760"/>
          </a:xfrm>
          <a:prstGeom prst="rect">
            <a:avLst/>
          </a:prstGeom>
          <a:noFill/>
          <a:ln/>
        </p:spPr>
        <p:txBody>
          <a:bodyPr wrap="square" lIns="0" tIns="0" rIns="0" bIns="0" rtlCol="0" anchor="t"/>
          <a:lstStyle/>
          <a:p>
            <a:pPr algn="ctr" indent="0" marL="0">
              <a:buNone/>
            </a:pPr>
            <a:r>
              <a:rPr lang="en-US" sz="1600" b="1" dirty="0">
                <a:solidFill>
                  <a:schemeClr val="accent1"/>
                </a:solidFill>
              </a:rPr>
              <a:t>Gut informiert</a:t>
            </a:r>
            <a:endParaRPr lang="en-US" sz="1600" dirty="0"/>
          </a:p>
        </p:txBody>
      </p:sp>
      <p:sp>
        <p:nvSpPr>
          <p:cNvPr id="25" name="Text 20"/>
          <p:cNvSpPr txBox="1"/>
          <p:nvPr/>
        </p:nvSpPr>
        <p:spPr>
          <a:xfrm>
            <a:off x="6446520" y="3611880"/>
            <a:ext cx="2148840" cy="1600200"/>
          </a:xfrm>
          <a:prstGeom prst="rect">
            <a:avLst/>
          </a:prstGeom>
          <a:noFill/>
          <a:ln/>
        </p:spPr>
        <p:txBody>
          <a:bodyPr wrap="square" lIns="0" tIns="0" rIns="0" bIns="0" rtlCol="0" anchor="t"/>
          <a:lstStyle/>
          <a:p>
            <a:pPr indent="0" marL="0">
              <a:buNone/>
            </a:pPr>
            <a:r>
              <a:rPr lang="en-US" sz="1400" i="1" dirty="0">
                <a:solidFill>
                  <a:schemeClr val="tx1"/>
                </a:solidFill>
              </a:rPr>
              <a:t>„Guten Tag! Ich sehe, Sie vergleichen schon. Welche Modelle haben Sie sich angeschaut?“</a:t>
            </a:r>
            <a:endParaRPr lang="en-US" sz="1400" dirty="0"/>
          </a:p>
        </p:txBody>
      </p:sp>
      <p:sp>
        <p:nvSpPr>
          <p:cNvPr id="26" name="Text 21"/>
          <p:cNvSpPr txBox="1"/>
          <p:nvPr/>
        </p:nvSpPr>
        <p:spPr>
          <a:xfrm>
            <a:off x="6446520" y="5303520"/>
            <a:ext cx="2148840" cy="548640"/>
          </a:xfrm>
          <a:prstGeom prst="rect">
            <a:avLst/>
          </a:prstGeom>
          <a:noFill/>
          <a:ln/>
        </p:spPr>
        <p:txBody>
          <a:bodyPr wrap="square" lIns="0" tIns="0" rIns="0" bIns="0" rtlCol="0" anchor="t"/>
          <a:lstStyle/>
          <a:p>
            <a:pPr indent="0" marL="0">
              <a:buNone/>
            </a:pPr>
            <a:r>
              <a:rPr lang="en-US" sz="1400" b="1" dirty="0">
                <a:solidFill>
                  <a:schemeClr val="accent2"/>
                </a:solidFill>
              </a:rPr>
              <a:t>Vorwissen anerkennen</a:t>
            </a:r>
            <a:endParaRPr lang="en-US" sz="1400" dirty="0"/>
          </a:p>
        </p:txBody>
      </p:sp>
      <p:sp>
        <p:nvSpPr>
          <p:cNvPr id="27" name="Karte"/>
          <p:cNvSpPr/>
          <p:nvPr/>
        </p:nvSpPr>
        <p:spPr>
          <a:xfrm>
            <a:off x="9052560" y="1737360"/>
            <a:ext cx="2606040" cy="4343400"/>
          </a:xfrm>
          <a:prstGeom prst="roundRect">
            <a:avLst>
              <a:gd name="adj" fmla="val 4211"/>
            </a:avLst>
          </a:prstGeom>
          <a:solidFill>
            <a:schemeClr val="bg1"/>
          </a:solidFill>
          <a:ln/>
          <a:effectLst>
            <a:outerShdw sx="100000" sy="100000" kx="0" ky="0" algn="bl" rotWithShape="0" blurRad="101600" dist="25400" dir="5400000">
              <a:srgbClr val="18202B">
                <a:alpha val="12000"/>
              </a:srgbClr>
            </a:outerShdw>
          </a:effectLst>
        </p:spPr>
      </p:sp>
      <p:pic>
        <p:nvPicPr>
          <p:cNvPr id="28" name="Image 3" descr="Kundenfigur Lea">    </p:cNvPr>
          <p:cNvPicPr>
            <a:picLocks noChangeAspect="1"/>
          </p:cNvPicPr>
          <p:nvPr/>
        </p:nvPicPr>
        <p:blipFill>
          <a:blip r:embed="rId4"/>
          <a:stretch>
            <a:fillRect/>
          </a:stretch>
        </p:blipFill>
        <p:spPr>
          <a:xfrm>
            <a:off x="9761220" y="1874520"/>
            <a:ext cx="1188720" cy="1188720"/>
          </a:xfrm>
          <a:prstGeom prst="rect">
            <a:avLst/>
          </a:prstGeom>
        </p:spPr>
      </p:pic>
      <p:sp>
        <p:nvSpPr>
          <p:cNvPr id="29" name="Text 23"/>
          <p:cNvSpPr txBox="1"/>
          <p:nvPr/>
        </p:nvSpPr>
        <p:spPr>
          <a:xfrm>
            <a:off x="9281160" y="3154680"/>
            <a:ext cx="2148840" cy="365760"/>
          </a:xfrm>
          <a:prstGeom prst="rect">
            <a:avLst/>
          </a:prstGeom>
          <a:noFill/>
          <a:ln/>
        </p:spPr>
        <p:txBody>
          <a:bodyPr wrap="square" lIns="0" tIns="0" rIns="0" bIns="0" rtlCol="0" anchor="t"/>
          <a:lstStyle/>
          <a:p>
            <a:pPr algn="ctr" indent="0" marL="0">
              <a:buNone/>
            </a:pPr>
            <a:r>
              <a:rPr lang="en-US" sz="1600" b="1" dirty="0">
                <a:solidFill>
                  <a:schemeClr val="accent1"/>
                </a:solidFill>
              </a:rPr>
              <a:t>Unentschlossen</a:t>
            </a:r>
            <a:endParaRPr lang="en-US" sz="1600" dirty="0"/>
          </a:p>
        </p:txBody>
      </p:sp>
      <p:sp>
        <p:nvSpPr>
          <p:cNvPr id="30" name="Text 24"/>
          <p:cNvSpPr txBox="1"/>
          <p:nvPr/>
        </p:nvSpPr>
        <p:spPr>
          <a:xfrm>
            <a:off x="9281160" y="3611880"/>
            <a:ext cx="2148840" cy="1600200"/>
          </a:xfrm>
          <a:prstGeom prst="rect">
            <a:avLst/>
          </a:prstGeom>
          <a:noFill/>
          <a:ln/>
        </p:spPr>
        <p:txBody>
          <a:bodyPr wrap="square" lIns="0" tIns="0" rIns="0" bIns="0" rtlCol="0" anchor="t"/>
          <a:lstStyle/>
          <a:p>
            <a:pPr indent="0" marL="0">
              <a:buNone/>
            </a:pPr>
            <a:r>
              <a:rPr lang="en-US" sz="1400" i="1" dirty="0">
                <a:solidFill>
                  <a:schemeClr val="tx1"/>
                </a:solidFill>
              </a:rPr>
              <a:t>„Hallo! Suchen Sie einen Duft für sich oder ein Geschenk?“</a:t>
            </a:r>
            <a:endParaRPr lang="en-US" sz="1400" dirty="0"/>
          </a:p>
        </p:txBody>
      </p:sp>
      <p:sp>
        <p:nvSpPr>
          <p:cNvPr id="31" name="Text 25"/>
          <p:cNvSpPr txBox="1"/>
          <p:nvPr/>
        </p:nvSpPr>
        <p:spPr>
          <a:xfrm>
            <a:off x="9281160" y="5303520"/>
            <a:ext cx="2148840" cy="548640"/>
          </a:xfrm>
          <a:prstGeom prst="rect">
            <a:avLst/>
          </a:prstGeom>
          <a:noFill/>
          <a:ln/>
        </p:spPr>
        <p:txBody>
          <a:bodyPr wrap="square" lIns="0" tIns="0" rIns="0" bIns="0" rtlCol="0" anchor="t"/>
          <a:lstStyle/>
          <a:p>
            <a:pPr indent="0" marL="0">
              <a:buNone/>
            </a:pPr>
            <a:r>
              <a:rPr lang="en-US" sz="1400" b="1" dirty="0">
                <a:solidFill>
                  <a:schemeClr val="accent2"/>
                </a:solidFill>
              </a:rPr>
              <a:t>Alternativfrage gibt Orientierung</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lstStyle/>
          <a:p>
            <a:pPr indent="0" marL="0">
              <a:buNone/>
            </a:pPr>
            <a:r>
              <a:rPr lang="en-US" sz="1200" b="1" spc="300" kern="0" dirty="0">
                <a:solidFill>
                  <a:schemeClr val="accent5"/>
                </a:solidFill>
              </a:rPr>
              <a:t>PARTNERARBEIT · 5 MINUTEN</a:t>
            </a:r>
            <a:endParaRPr lang="en-US" sz="1200" dirty="0"/>
          </a:p>
        </p:txBody>
      </p:sp>
      <p:sp>
        <p:nvSpPr>
          <p:cNvPr id="3" name="Text 0"/>
          <p:cNvSpPr/>
          <p:nvPr>
            <p:ph idx="101" type="title" hasCustomPrompt="1"/>
          </p:nvPr>
        </p:nvSpPr>
        <p:spPr>
          <a:xfrm>
            <a:off x="548640" y="777240"/>
            <a:ext cx="11064240" cy="1417320"/>
          </a:xfrm>
          <a:prstGeom prst="rect">
            <a:avLst/>
          </a:prstGeom>
          <a:noFill/>
          <a:ln/>
        </p:spPr>
        <p:txBody>
          <a:bodyPr wrap="square" lIns="0" tIns="0" rIns="0" bIns="0" rtlCol="0" anchor="t"/>
          <a:lstStyle/>
          <a:p>
            <a:pPr algn="l" indent="0" marL="0">
              <a:buNone/>
            </a:pPr>
            <a:r>
              <a:rPr lang="en-US" sz="3000" b="1" dirty="0">
                <a:solidFill>
                  <a:schemeClr val="bg1"/>
                </a:solidFill>
              </a:rPr>
              <a:t>Denken Sie an Ihren letzten Einkauf. Wurden Sie begrüßt oder angesprochen? Wie war das für Sie?</a:t>
            </a:r>
            <a:endParaRPr lang="en-US" sz="3000" dirty="0"/>
          </a:p>
        </p:txBody>
      </p:sp>
      <p:sp>
        <p:nvSpPr>
          <p:cNvPr id="4" name="Karte"/>
          <p:cNvSpPr/>
          <p:nvPr/>
        </p:nvSpPr>
        <p:spPr>
          <a:xfrm>
            <a:off x="548640" y="2514600"/>
            <a:ext cx="3502152" cy="3520440"/>
          </a:xfrm>
          <a:prstGeom prst="roundRect">
            <a:avLst>
              <a:gd name="adj" fmla="val 3133"/>
            </a:avLst>
          </a:prstGeom>
          <a:solidFill>
            <a:schemeClr val="bg1"/>
          </a:solidFill>
          <a:ln/>
          <a:effectLst>
            <a:outerShdw sx="100000" sy="100000" kx="0" ky="0" algn="bl" rotWithShape="0" blurRad="101600" dist="25400" dir="5400000">
              <a:srgbClr val="18202B">
                <a:alpha val="12000"/>
              </a:srgbClr>
            </a:outerShdw>
          </a:effectLst>
        </p:spPr>
      </p:sp>
      <p:sp>
        <p:nvSpPr>
          <p:cNvPr id="5" name="Symbolkreis"/>
          <p:cNvSpPr/>
          <p:nvPr/>
        </p:nvSpPr>
        <p:spPr>
          <a:xfrm>
            <a:off x="822960" y="2743200"/>
            <a:ext cx="685800" cy="685800"/>
          </a:xfrm>
          <a:prstGeom prst="ellipse">
            <a:avLst/>
          </a:prstGeom>
          <a:solidFill>
            <a:schemeClr val="accent5"/>
          </a:solidFill>
          <a:ln/>
        </p:spPr>
      </p:sp>
      <p:pic>
        <p:nvPicPr>
          <p:cNvPr id="6" name="Image 0" descr="Symbol">    </p:cNvPr>
          <p:cNvPicPr>
            <a:picLocks noChangeAspect="1"/>
          </p:cNvPicPr>
          <p:nvPr/>
        </p:nvPicPr>
        <p:blipFill>
          <a:blip r:embed="rId1"/>
          <a:stretch>
            <a:fillRect/>
          </a:stretch>
        </p:blipFill>
        <p:spPr>
          <a:xfrm>
            <a:off x="973836" y="2894076"/>
            <a:ext cx="384048" cy="384048"/>
          </a:xfrm>
          <a:prstGeom prst="rect">
            <a:avLst/>
          </a:prstGeom>
        </p:spPr>
      </p:pic>
      <p:sp>
        <p:nvSpPr>
          <p:cNvPr id="7" name="Etikett"/>
          <p:cNvSpPr/>
          <p:nvPr/>
        </p:nvSpPr>
        <p:spPr>
          <a:xfrm>
            <a:off x="2862072" y="2926080"/>
            <a:ext cx="914400" cy="292608"/>
          </a:xfrm>
          <a:prstGeom prst="roundRect">
            <a:avLst>
              <a:gd name="adj" fmla="val 50000"/>
            </a:avLst>
          </a:prstGeom>
          <a:solidFill>
            <a:schemeClr val="accent1"/>
          </a:solidFill>
          <a:ln/>
        </p:spPr>
      </p:sp>
      <p:sp>
        <p:nvSpPr>
          <p:cNvPr id="8" name="Text 5"/>
          <p:cNvSpPr txBox="1"/>
          <p:nvPr/>
        </p:nvSpPr>
        <p:spPr>
          <a:xfrm>
            <a:off x="2862072" y="2926080"/>
            <a:ext cx="914400" cy="292608"/>
          </a:xfrm>
          <a:prstGeom prst="rect">
            <a:avLst/>
          </a:prstGeom>
          <a:noFill/>
          <a:ln/>
        </p:spPr>
        <p:txBody>
          <a:bodyPr wrap="square" lIns="0" tIns="0" rIns="0" bIns="0" rtlCol="0" anchor="ctr"/>
          <a:lstStyle/>
          <a:p>
            <a:pPr algn="ctr" indent="0" marL="0">
              <a:buNone/>
            </a:pPr>
            <a:r>
              <a:rPr lang="en-US" sz="1100" b="1" dirty="0">
                <a:solidFill>
                  <a:schemeClr val="bg1"/>
                </a:solidFill>
              </a:rPr>
              <a:t>1 Min.</a:t>
            </a:r>
            <a:endParaRPr lang="en-US" sz="1100" dirty="0"/>
          </a:p>
        </p:txBody>
      </p:sp>
      <p:sp>
        <p:nvSpPr>
          <p:cNvPr id="9" name="Text 6"/>
          <p:cNvSpPr txBox="1"/>
          <p:nvPr/>
        </p:nvSpPr>
        <p:spPr>
          <a:xfrm>
            <a:off x="822960" y="3611880"/>
            <a:ext cx="2953512" cy="457200"/>
          </a:xfrm>
          <a:prstGeom prst="rect">
            <a:avLst/>
          </a:prstGeom>
          <a:noFill/>
          <a:ln/>
        </p:spPr>
        <p:txBody>
          <a:bodyPr wrap="square" lIns="0" tIns="0" rIns="0" bIns="0" rtlCol="0" anchor="t"/>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1. Denken Sie allein nach</a:t>
            </a:r>
            <a:endParaRPr lang="en-US" sz="1900" dirty="0"/>
          </a:p>
        </p:txBody>
      </p:sp>
      <p:sp>
        <p:nvSpPr>
          <p:cNvPr id="10" name="Text 7"/>
          <p:cNvSpPr txBox="1"/>
          <p:nvPr/>
        </p:nvSpPr>
        <p:spPr>
          <a:xfrm>
            <a:off x="822960" y="4114800"/>
            <a:ext cx="2953512" cy="1783080"/>
          </a:xfrm>
          <a:prstGeom prst="rect">
            <a:avLst/>
          </a:prstGeom>
          <a:noFill/>
          <a:ln/>
        </p:spPr>
        <p:txBody>
          <a:bodyPr wrap="square" lIns="0" tIns="0" rIns="0" bIns="0" rtlCol="0" anchor="t"/>
          <a:lstStyle/>
          <a:p>
            <a:pPr indent="0" marL="0">
              <a:buNone/>
            </a:pPr>
            <a:r>
              <a:rPr lang="en-US" sz="1600" dirty="0">
                <a:solidFill>
                  <a:schemeClr val="tx1"/>
                </a:solidFill>
              </a:rPr>
              <a:t>Erinnern Sie sich an eine Situation, z. B. im Supermarkt, im Kleidergeschäft, in der Bäckerei oder in der Drogerie.</a:t>
            </a:r>
            <a:endParaRPr lang="en-US" sz="1600" dirty="0"/>
          </a:p>
        </p:txBody>
      </p:sp>
      <p:sp>
        <p:nvSpPr>
          <p:cNvPr id="11" name="Karte"/>
          <p:cNvSpPr/>
          <p:nvPr/>
        </p:nvSpPr>
        <p:spPr>
          <a:xfrm>
            <a:off x="4325112" y="2514600"/>
            <a:ext cx="3502152" cy="3520440"/>
          </a:xfrm>
          <a:prstGeom prst="roundRect">
            <a:avLst>
              <a:gd name="adj" fmla="val 3133"/>
            </a:avLst>
          </a:prstGeom>
          <a:solidFill>
            <a:schemeClr val="bg1"/>
          </a:solidFill>
          <a:ln/>
          <a:effectLst>
            <a:outerShdw sx="100000" sy="100000" kx="0" ky="0" algn="bl" rotWithShape="0" blurRad="101600" dist="25400" dir="5400000">
              <a:srgbClr val="18202B">
                <a:alpha val="12000"/>
              </a:srgbClr>
            </a:outerShdw>
          </a:effectLst>
        </p:spPr>
      </p:sp>
      <p:sp>
        <p:nvSpPr>
          <p:cNvPr id="12" name="Symbolkreis"/>
          <p:cNvSpPr/>
          <p:nvPr/>
        </p:nvSpPr>
        <p:spPr>
          <a:xfrm>
            <a:off x="4599432" y="2743200"/>
            <a:ext cx="685800" cy="685800"/>
          </a:xfrm>
          <a:prstGeom prst="ellipse">
            <a:avLst/>
          </a:prstGeom>
          <a:solidFill>
            <a:schemeClr val="accent5"/>
          </a:solidFill>
          <a:ln/>
        </p:spPr>
      </p:sp>
      <p:pic>
        <p:nvPicPr>
          <p:cNvPr id="13" name="Image 1" descr="Symbol">    </p:cNvPr>
          <p:cNvPicPr>
            <a:picLocks noChangeAspect="1"/>
          </p:cNvPicPr>
          <p:nvPr/>
        </p:nvPicPr>
        <p:blipFill>
          <a:blip r:embed="rId2"/>
          <a:stretch>
            <a:fillRect/>
          </a:stretch>
        </p:blipFill>
        <p:spPr>
          <a:xfrm>
            <a:off x="4750308" y="2894076"/>
            <a:ext cx="384048" cy="384048"/>
          </a:xfrm>
          <a:prstGeom prst="rect">
            <a:avLst/>
          </a:prstGeom>
        </p:spPr>
      </p:pic>
      <p:sp>
        <p:nvSpPr>
          <p:cNvPr id="14" name="Etikett"/>
          <p:cNvSpPr/>
          <p:nvPr/>
        </p:nvSpPr>
        <p:spPr>
          <a:xfrm>
            <a:off x="6638544" y="2926080"/>
            <a:ext cx="914400" cy="292608"/>
          </a:xfrm>
          <a:prstGeom prst="roundRect">
            <a:avLst>
              <a:gd name="adj" fmla="val 50000"/>
            </a:avLst>
          </a:prstGeom>
          <a:solidFill>
            <a:schemeClr val="accent1"/>
          </a:solidFill>
          <a:ln/>
        </p:spPr>
      </p:sp>
      <p:sp>
        <p:nvSpPr>
          <p:cNvPr id="15" name="Text 11"/>
          <p:cNvSpPr txBox="1"/>
          <p:nvPr/>
        </p:nvSpPr>
        <p:spPr>
          <a:xfrm>
            <a:off x="6638544" y="2926080"/>
            <a:ext cx="914400" cy="292608"/>
          </a:xfrm>
          <a:prstGeom prst="rect">
            <a:avLst/>
          </a:prstGeom>
          <a:noFill/>
          <a:ln/>
        </p:spPr>
        <p:txBody>
          <a:bodyPr wrap="square" lIns="0" tIns="0" rIns="0" bIns="0" rtlCol="0" anchor="ctr"/>
          <a:lstStyle/>
          <a:p>
            <a:pPr algn="ctr" indent="0" marL="0">
              <a:buNone/>
            </a:pPr>
            <a:r>
              <a:rPr lang="en-US" sz="1100" b="1" dirty="0">
                <a:solidFill>
                  <a:schemeClr val="bg1"/>
                </a:solidFill>
              </a:rPr>
              <a:t>2 Min.</a:t>
            </a:r>
            <a:endParaRPr lang="en-US" sz="1100" dirty="0"/>
          </a:p>
        </p:txBody>
      </p:sp>
      <p:sp>
        <p:nvSpPr>
          <p:cNvPr id="16" name="Text 12"/>
          <p:cNvSpPr txBox="1"/>
          <p:nvPr/>
        </p:nvSpPr>
        <p:spPr>
          <a:xfrm>
            <a:off x="4599432" y="3611880"/>
            <a:ext cx="2953512" cy="457200"/>
          </a:xfrm>
          <a:prstGeom prst="rect">
            <a:avLst/>
          </a:prstGeom>
          <a:noFill/>
          <a:ln/>
        </p:spPr>
        <p:txBody>
          <a:bodyPr wrap="square" lIns="0" tIns="0" rIns="0" bIns="0" rtlCol="0" anchor="t"/>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2. Tauschen Sie sich aus</a:t>
            </a:r>
            <a:endParaRPr lang="en-US" sz="1900" dirty="0"/>
          </a:p>
        </p:txBody>
      </p:sp>
      <p:sp>
        <p:nvSpPr>
          <p:cNvPr id="17" name="Text 13"/>
          <p:cNvSpPr txBox="1"/>
          <p:nvPr/>
        </p:nvSpPr>
        <p:spPr>
          <a:xfrm>
            <a:off x="4599432" y="4114800"/>
            <a:ext cx="2953512" cy="1783080"/>
          </a:xfrm>
          <a:prstGeom prst="rect">
            <a:avLst/>
          </a:prstGeom>
          <a:noFill/>
          <a:ln/>
        </p:spPr>
        <p:txBody>
          <a:bodyPr wrap="square" lIns="0" tIns="0" rIns="0" bIns="0" rtlCol="0" anchor="t"/>
          <a:lstStyle/>
          <a:p>
            <a:pPr indent="0" marL="0">
              <a:buNone/>
            </a:pPr>
            <a:r>
              <a:rPr lang="en-US" sz="1600" dirty="0">
                <a:solidFill>
                  <a:schemeClr val="tx1"/>
                </a:solidFill>
              </a:rPr>
              <a:t>Erzählen Sie Ihrer Partnerin oder Ihrem Partner Ihre Situation. War das angenehm oder unangenehm? Warum?</a:t>
            </a:r>
            <a:endParaRPr lang="en-US" sz="1600" dirty="0"/>
          </a:p>
        </p:txBody>
      </p:sp>
      <p:sp>
        <p:nvSpPr>
          <p:cNvPr id="18" name="Karte"/>
          <p:cNvSpPr/>
          <p:nvPr/>
        </p:nvSpPr>
        <p:spPr>
          <a:xfrm>
            <a:off x="8101584" y="2514600"/>
            <a:ext cx="3502152" cy="3520440"/>
          </a:xfrm>
          <a:prstGeom prst="roundRect">
            <a:avLst>
              <a:gd name="adj" fmla="val 3133"/>
            </a:avLst>
          </a:prstGeom>
          <a:solidFill>
            <a:schemeClr val="bg1"/>
          </a:solidFill>
          <a:ln/>
          <a:effectLst>
            <a:outerShdw sx="100000" sy="100000" kx="0" ky="0" algn="bl" rotWithShape="0" blurRad="101600" dist="25400" dir="5400000">
              <a:srgbClr val="18202B">
                <a:alpha val="12000"/>
              </a:srgbClr>
            </a:outerShdw>
          </a:effectLst>
        </p:spPr>
      </p:sp>
      <p:sp>
        <p:nvSpPr>
          <p:cNvPr id="19" name="Symbolkreis"/>
          <p:cNvSpPr/>
          <p:nvPr/>
        </p:nvSpPr>
        <p:spPr>
          <a:xfrm>
            <a:off x="8375904" y="2743200"/>
            <a:ext cx="685800" cy="685800"/>
          </a:xfrm>
          <a:prstGeom prst="ellipse">
            <a:avLst/>
          </a:prstGeom>
          <a:solidFill>
            <a:schemeClr val="accent5"/>
          </a:solidFill>
          <a:ln/>
        </p:spPr>
      </p:sp>
      <p:pic>
        <p:nvPicPr>
          <p:cNvPr id="20" name="Image 2" descr="Symbol">    </p:cNvPr>
          <p:cNvPicPr>
            <a:picLocks noChangeAspect="1"/>
          </p:cNvPicPr>
          <p:nvPr/>
        </p:nvPicPr>
        <p:blipFill>
          <a:blip r:embed="rId3"/>
          <a:stretch>
            <a:fillRect/>
          </a:stretch>
        </p:blipFill>
        <p:spPr>
          <a:xfrm>
            <a:off x="8526780" y="2894076"/>
            <a:ext cx="384048" cy="384048"/>
          </a:xfrm>
          <a:prstGeom prst="rect">
            <a:avLst/>
          </a:prstGeom>
        </p:spPr>
      </p:pic>
      <p:sp>
        <p:nvSpPr>
          <p:cNvPr id="21" name="Etikett"/>
          <p:cNvSpPr/>
          <p:nvPr/>
        </p:nvSpPr>
        <p:spPr>
          <a:xfrm>
            <a:off x="10415016" y="2926080"/>
            <a:ext cx="914400" cy="292608"/>
          </a:xfrm>
          <a:prstGeom prst="roundRect">
            <a:avLst>
              <a:gd name="adj" fmla="val 50000"/>
            </a:avLst>
          </a:prstGeom>
          <a:solidFill>
            <a:schemeClr val="accent1"/>
          </a:solidFill>
          <a:ln/>
        </p:spPr>
      </p:sp>
      <p:sp>
        <p:nvSpPr>
          <p:cNvPr id="22" name="Text 17"/>
          <p:cNvSpPr txBox="1"/>
          <p:nvPr/>
        </p:nvSpPr>
        <p:spPr>
          <a:xfrm>
            <a:off x="10415016" y="2926080"/>
            <a:ext cx="914400" cy="292608"/>
          </a:xfrm>
          <a:prstGeom prst="rect">
            <a:avLst/>
          </a:prstGeom>
          <a:noFill/>
          <a:ln/>
        </p:spPr>
        <p:txBody>
          <a:bodyPr wrap="square" lIns="0" tIns="0" rIns="0" bIns="0" rtlCol="0" anchor="ctr"/>
          <a:lstStyle/>
          <a:p>
            <a:pPr algn="ctr" indent="0" marL="0">
              <a:buNone/>
            </a:pPr>
            <a:r>
              <a:rPr lang="en-US" sz="1100" b="1" dirty="0">
                <a:solidFill>
                  <a:schemeClr val="bg1"/>
                </a:solidFill>
              </a:rPr>
              <a:t>2 Min.</a:t>
            </a:r>
            <a:endParaRPr lang="en-US" sz="1100" dirty="0"/>
          </a:p>
        </p:txBody>
      </p:sp>
      <p:sp>
        <p:nvSpPr>
          <p:cNvPr id="23" name="Text 18"/>
          <p:cNvSpPr txBox="1"/>
          <p:nvPr/>
        </p:nvSpPr>
        <p:spPr>
          <a:xfrm>
            <a:off x="8375904" y="3611880"/>
            <a:ext cx="2953512" cy="457200"/>
          </a:xfrm>
          <a:prstGeom prst="rect">
            <a:avLst/>
          </a:prstGeom>
          <a:noFill/>
          <a:ln/>
        </p:spPr>
        <p:txBody>
          <a:bodyPr wrap="square" lIns="0" tIns="0" rIns="0" bIns="0" rtlCol="0" anchor="t"/>
          <a:lstStyle/>
          <a:p>
            <a:pPr indent="0" marL="0">
              <a:buNone/>
            </a:pPr>
            <a:r>
              <a:rPr lang="en-US" sz="1900" b="1" dirty="0">
                <a:solidFill>
                  <a:schemeClr val="tx1"/>
                </a:solidFill>
                <a:latin typeface="Century Schoolbook" pitchFamily="34" charset="0"/>
                <a:ea typeface="Century Schoolbook" pitchFamily="34" charset="-122"/>
                <a:cs typeface="Century Schoolbook" pitchFamily="34" charset="-120"/>
              </a:rPr>
              <a:t>3. Berichten Sie</a:t>
            </a:r>
            <a:endParaRPr lang="en-US" sz="1900" dirty="0"/>
          </a:p>
        </p:txBody>
      </p:sp>
      <p:sp>
        <p:nvSpPr>
          <p:cNvPr id="24" name="Text 19"/>
          <p:cNvSpPr txBox="1"/>
          <p:nvPr/>
        </p:nvSpPr>
        <p:spPr>
          <a:xfrm>
            <a:off x="8375904" y="4114800"/>
            <a:ext cx="2953512" cy="1783080"/>
          </a:xfrm>
          <a:prstGeom prst="rect">
            <a:avLst/>
          </a:prstGeom>
          <a:noFill/>
          <a:ln/>
        </p:spPr>
        <p:txBody>
          <a:bodyPr wrap="square" lIns="0" tIns="0" rIns="0" bIns="0" rtlCol="0" anchor="t"/>
          <a:lstStyle/>
          <a:p>
            <a:pPr indent="0" marL="0">
              <a:buNone/>
            </a:pPr>
            <a:r>
              <a:rPr lang="en-US" sz="1600" dirty="0">
                <a:solidFill>
                  <a:schemeClr val="tx1"/>
                </a:solidFill>
              </a:rPr>
              <a:t>Was ist Ihnen aufgefallen? Zwei oder drei Paare berichten kurz.</a:t>
            </a:r>
            <a:endParaRPr lang="en-US" sz="1600" dirty="0"/>
          </a:p>
        </p:txBody>
      </p:sp>
    </p:spTree>
  </p:cSld>
  <p:clrMapOvr>
    <a:masterClrMapping/>
  </p:clrMapOvr>
</p:sld>
</file>

<file path=ppt/theme/theme1.xml><?xml version="1.0" encoding="utf-8"?>
<a:theme xmlns:a="http://schemas.openxmlformats.org/drawingml/2006/main" name="Verkaufstraining">
  <a:themeElements>
    <a:clrScheme name="Verkaufstraining">
      <a:dk1>
        <a:srgbClr val="18202B"/>
      </a:dk1>
      <a:lt1>
        <a:srgbClr val="FFFFFF"/>
      </a:lt1>
      <a:dk2>
        <a:srgbClr val="1B2A4E"/>
      </a:dk2>
      <a:lt2>
        <a:srgbClr val="F2F4F6"/>
      </a:lt2>
      <a:accent1>
        <a:srgbClr val="2346A0"/>
      </a:accent1>
      <a:accent2>
        <a:srgbClr val="1D7A4C"/>
      </a:accent2>
      <a:accent3>
        <a:srgbClr val="B5352A"/>
      </a:accent3>
      <a:accent4>
        <a:srgbClr val="9A6400"/>
      </a:accent4>
      <a:accent5>
        <a:srgbClr val="E3E9F8"/>
      </a:accent5>
      <a:accent6>
        <a:srgbClr val="5B6676"/>
      </a:accent6>
      <a:hlink>
        <a:srgbClr val="2346A0"/>
      </a:hlink>
      <a:folHlink>
        <a:srgbClr val="5B6676"/>
      </a:folHlink>
    </a:clrScheme>
    <a:fontScheme name="Verkaufstraining">
      <a:majorFont>
        <a:latin typeface="Century Schoolboo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Das Verkaufsgespräch</dc:title>
  <dc:subject>PptxGenJS Presentation</dc:subject>
  <dc:creator>Verkaufstraining Einzelhandel</dc:creator>
  <cp:lastModifiedBy>Verkaufstraining Einzelhandel</cp:lastModifiedBy>
  <cp:revision>1</cp:revision>
  <dcterms:created xsi:type="dcterms:W3CDTF">2026-10-14T08:47:28Z</dcterms:created>
  <dcterms:modified xsi:type="dcterms:W3CDTF">2026-10-14T08:47:28Z</dcterms:modified>
</cp:coreProperties>
</file>