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1ff28e69-c2a5-467b-511f-b7d4d99976ad}">
          <p14:sldIdLst>
            <p14:sldId id="256"/>
            <p14:sldId id="257"/>
          </p14:sldIdLst>
        </p14:section>
        <p14:section name="Kundengruppen" id="{a86536a5-a3a5-7e6f-b91b-8c862e68c7e7}">
          <p14:sldIdLst>
            <p14:sldId id="258"/>
            <p14:sldId id="259"/>
            <p14:sldId id="260"/>
            <p14:sldId id="261"/>
          </p14:sldIdLst>
        </p14:section>
        <p14:section name="Altersgruppen" id="{703c06d0-b37c-a3c5-c49c-79cba26961be}">
          <p14:sldIdLst>
            <p14:sldId id="262"/>
            <p14:sldId id="263"/>
            <p14:sldId id="264"/>
            <p14:sldId id="265"/>
            <p14:sldId id="266"/>
          </p14:sldIdLst>
        </p14:section>
        <p14:section name="Internationale Kunden" id="{762c976f-b3fd-03d9-8ab7-8dc881cc78be}">
          <p14:sldIdLst>
            <p14:sldId id="267"/>
            <p14:sldId id="268"/>
          </p14:sldIdLst>
        </p14:section>
        <p14:section name="Kundentypen" id="{9daa4045-ab2d-ab66-55d4-3ca1d5e6947a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Abschluss" id="{e7c3399e-0021-7e08-3a62-d492e34c5cd3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8202B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8202B"/>
                </a:solidFill>
                <a:latin typeface="+mn-lt"/>
              </a:rPr>
              <a:t>Zustimmung in Prozent (2023)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Männer</c:v>
                </c:pt>
              </c:strCache>
            </c:strRef>
          </c:tx>
          <c:spPr>
            <a:solidFill>
              <a:srgbClr val="2346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8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Kleidung drückt meinen Stil aus</c:v>
                  </c:pt>
                  <c:pt idx="1">
                    <c:v>Kleidung kaufen macht mir Spaß</c:v>
                  </c:pt>
                  <c:pt idx="2">
                    <c:v>Ich kaufe gerne im Internet ein</c:v>
                  </c:pt>
                  <c:pt idx="3">
                    <c:v>Ich bleibe bei Technik auf dem Laufenden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33.2</c:v>
                </c:pt>
                <c:pt idx="1">
                  <c:v>18.6</c:v>
                </c:pt>
                <c:pt idx="2">
                  <c:v>39</c:v>
                </c:pt>
                <c:pt idx="3">
                  <c:v>42.8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Frauen</c:v>
                </c:pt>
              </c:strCache>
            </c:strRef>
          </c:tx>
          <c:spPr>
            <a:solidFill>
              <a:srgbClr val="9A64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8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Kleidung drückt meinen Stil aus</c:v>
                  </c:pt>
                  <c:pt idx="1">
                    <c:v>Kleidung kaufen macht mir Spaß</c:v>
                  </c:pt>
                  <c:pt idx="2">
                    <c:v>Ich kaufe gerne im Internet ein</c:v>
                  </c:pt>
                  <c:pt idx="3">
                    <c:v>Ich bleibe bei Technik auf dem Laufenden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57.8</c:v>
                </c:pt>
                <c:pt idx="1">
                  <c:v>58.2</c:v>
                </c:pt>
                <c:pt idx="2">
                  <c:v>39.1</c:v>
                </c:pt>
                <c:pt idx="3">
                  <c:v>18.5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8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8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820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8202B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8202B"/>
                </a:solidFill>
                <a:latin typeface="+mn-lt"/>
              </a:rPr>
              <a:t>Was beim Lebensmitteleinkauf wichtig ist (in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wichtig</c:v>
                </c:pt>
              </c:strCache>
            </c:strRef>
          </c:tx>
          <c:spPr>
            <a:solidFill>
              <a:srgbClr val="234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8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Geschmack</c:v>
                  </c:pt>
                  <c:pt idx="1">
                    <c:v>Saisonalität</c:v>
                  </c:pt>
                  <c:pt idx="2">
                    <c:v>Tierhaltung</c:v>
                  </c:pt>
                  <c:pt idx="3">
                    <c:v>Regionalität</c:v>
                  </c:pt>
                  <c:pt idx="4">
                    <c:v>fairer Handel</c:v>
                  </c:pt>
                  <c:pt idx="5">
                    <c:v>ökologische Produktion</c:v>
                  </c:pt>
                  <c:pt idx="6">
                    <c:v>Angebote</c:v>
                  </c:pt>
                  <c:pt idx="7">
                    <c:v>umweltschonende Produktion</c:v>
                  </c:pt>
                  <c:pt idx="8">
                    <c:v>Produktinformationen</c:v>
                  </c:pt>
                  <c:pt idx="9">
                    <c:v>niedriger Preis</c:v>
                  </c:pt>
                  <c:pt idx="10">
                    <c:v>Inspiration durch Sortiment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94</c:v>
                </c:pt>
                <c:pt idx="1">
                  <c:v>80</c:v>
                </c:pt>
                <c:pt idx="2">
                  <c:v>79</c:v>
                </c:pt>
                <c:pt idx="3">
                  <c:v>77</c:v>
                </c:pt>
                <c:pt idx="4">
                  <c:v>70</c:v>
                </c:pt>
                <c:pt idx="5">
                  <c:v>70</c:v>
                </c:pt>
                <c:pt idx="6">
                  <c:v>68</c:v>
                </c:pt>
                <c:pt idx="7">
                  <c:v>68</c:v>
                </c:pt>
                <c:pt idx="8">
                  <c:v>58</c:v>
                </c:pt>
                <c:pt idx="9">
                  <c:v>55</c:v>
                </c:pt>
                <c:pt idx="10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8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8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Präsentation fasst die Buchseiten 168 bis 177 zusammen. Sie ersetzt das Lesen im Buch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Arbeitsauftrag für die Vertretungsstunde. Die Online-Übung enthält die gleichen fünf Themenblöcke wie diese Präsentation.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Demografische Merkmale sind leicht erkennbar. Für ein Kundenprofil reicht ein Merkmal allein aber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Beim Einkaufen im Internet gibt es fast keinen Unterschied. Bei Kleidung und Technik dagegen schon.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Beispiele aus der Tabelle auf Seite 169.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Tabelle „Beispiele für das Kaufverhalten von Frauen und Männern im Vergleich“, Seite 169 und 170.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Mehr zur Geschäftsfähigkeit steht im Lernfeld 3, Kapitel 7.1 und 7.2.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bis 17 Jahre: Jugendliche, 18 bis 21 Jahre: junge Erwachsene. Sie sind kaufkräftig durch Taschengeld, Geldgeschenke, Jobs oder eigenes Einkommen.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Alterskontrolle: Bei Zweifeln immer nach einem Ausweispapier fragen, z. B. dem Personalausweis.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Bevölkerung in Deutschland wird älter (Diagramm „Deutsche Lebensbäume“, Seite 172). Deshalb wird diese Zielgruppe immer wichtiger.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betrifft das Sortiment, die Ladengestaltung, die Warenplatzierung, die Serviceleistungen und die Kompetenzen des Verkaufspersonals.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Diagramm „Aus aller Welt“, Seite 174. 2003 waren es noch 7,3 Millionen.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Kulturelle Unterschiede bei Erwartungen und Kaufgewohnheiten berücksichtigen, damit die Kundschaft zufrieden ist. Steuerfrei einkaufen: Lernfeld 3, Kapitel 6.6.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Kundentypen finden sich in allen Kundengruppen.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Bio-Kunden sind keine homogene (gleichmäßig zusammengesetzte) Gruppe: Es gibt Intensivkäufer, Gelegenheitskäufer und Genießer.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Mehrfachnennungen möglich. Befragt wurden Menschen in Deutschland ab 14 Jahren.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Showroomer: Lernfeld 10, Kapitel 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skeptischen Kunden sind Geduld, Zuhören und Einfühlungsvermögen wahre Türöffner.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Beispielsätze sind ausgedacht. Sie helfen, die Kundentypen im Gespräch zu erkennen.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Online-Übung ist eine Webseite für das Smartphone. Ergebnisse werden nur auf dem eigenen Gerät gespeichert.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dunke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108960"/>
            <a:ext cx="5943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977640"/>
            <a:ext cx="59436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92240"/>
            <a:ext cx="5943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457200" y="1170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LF 10 · Kundenvielfalt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 dunke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48640"/>
            <a:ext cx="5943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005840"/>
            <a:ext cx="5943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1089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5"/>
                </a:solidFill>
              </a:rPr>
              <a:t>LERNFELD 10 · SELBSTLERNEN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9776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Kundenvielfalt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922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Kundengruppen und Kundentypen im Einzelhandel. Buch „Ausbildung im Einzelhandel“, S. 168–177</a:t>
            </a:r>
            <a:endParaRPr lang="en-US" sz="2000" dirty="0"/>
          </a:p>
        </p:txBody>
      </p:sp>
      <p:sp>
        <p:nvSpPr>
          <p:cNvPr id="5" name="Symbolkreis"/>
          <p:cNvSpPr/>
          <p:nvPr/>
        </p:nvSpPr>
        <p:spPr>
          <a:xfrm>
            <a:off x="457200" y="8778240"/>
            <a:ext cx="960120" cy="960120"/>
          </a:xfrm>
          <a:prstGeom prst="ellipse">
            <a:avLst/>
          </a:prstGeom>
          <a:solidFill>
            <a:srgbClr val="2A3D6B"/>
          </a:solidFill>
          <a:ln/>
        </p:spPr>
      </p:sp>
      <p:pic>
        <p:nvPicPr>
          <p:cNvPr id="6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26" y="8989466"/>
            <a:ext cx="537667" cy="537667"/>
          </a:xfrm>
          <a:prstGeom prst="rect">
            <a:avLst/>
          </a:prstGeom>
        </p:spPr>
      </p:pic>
      <p:sp>
        <p:nvSpPr>
          <p:cNvPr id="7" name="Symbolkreis"/>
          <p:cNvSpPr/>
          <p:nvPr/>
        </p:nvSpPr>
        <p:spPr>
          <a:xfrm>
            <a:off x="1664208" y="8778240"/>
            <a:ext cx="960120" cy="960120"/>
          </a:xfrm>
          <a:prstGeom prst="ellipse">
            <a:avLst/>
          </a:prstGeom>
          <a:solidFill>
            <a:srgbClr val="2A3D6B"/>
          </a:solidFill>
          <a:ln/>
        </p:spPr>
      </p:sp>
      <p:pic>
        <p:nvPicPr>
          <p:cNvPr id="8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34" y="8989466"/>
            <a:ext cx="537667" cy="537667"/>
          </a:xfrm>
          <a:prstGeom prst="rect">
            <a:avLst/>
          </a:prstGeom>
        </p:spPr>
      </p:pic>
      <p:sp>
        <p:nvSpPr>
          <p:cNvPr id="9" name="Symbolkreis"/>
          <p:cNvSpPr/>
          <p:nvPr/>
        </p:nvSpPr>
        <p:spPr>
          <a:xfrm>
            <a:off x="2871216" y="8778240"/>
            <a:ext cx="960120" cy="960120"/>
          </a:xfrm>
          <a:prstGeom prst="ellipse">
            <a:avLst/>
          </a:prstGeom>
          <a:solidFill>
            <a:srgbClr val="2A3D6B"/>
          </a:solidFill>
          <a:ln/>
        </p:spPr>
      </p:sp>
      <p:pic>
        <p:nvPicPr>
          <p:cNvPr id="10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442" y="8989466"/>
            <a:ext cx="537667" cy="537667"/>
          </a:xfrm>
          <a:prstGeom prst="rect">
            <a:avLst/>
          </a:prstGeom>
        </p:spPr>
      </p:pic>
      <p:sp>
        <p:nvSpPr>
          <p:cNvPr id="11" name="Symbolkreis"/>
          <p:cNvSpPr/>
          <p:nvPr/>
        </p:nvSpPr>
        <p:spPr>
          <a:xfrm>
            <a:off x="4078224" y="8778240"/>
            <a:ext cx="960120" cy="960120"/>
          </a:xfrm>
          <a:prstGeom prst="ellipse">
            <a:avLst/>
          </a:prstGeom>
          <a:solidFill>
            <a:srgbClr val="2A3D6B"/>
          </a:solidFill>
          <a:ln/>
        </p:spPr>
      </p:sp>
      <p:pic>
        <p:nvPicPr>
          <p:cNvPr id="12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450" y="8989466"/>
            <a:ext cx="537667" cy="537667"/>
          </a:xfrm>
          <a:prstGeom prst="rect">
            <a:avLst/>
          </a:prstGeom>
        </p:spPr>
      </p:pic>
      <p:sp>
        <p:nvSpPr>
          <p:cNvPr id="13" name="Symbolkreis"/>
          <p:cNvSpPr/>
          <p:nvPr/>
        </p:nvSpPr>
        <p:spPr>
          <a:xfrm>
            <a:off x="5285232" y="8778240"/>
            <a:ext cx="960120" cy="960120"/>
          </a:xfrm>
          <a:prstGeom prst="ellipse">
            <a:avLst/>
          </a:prstGeom>
          <a:solidFill>
            <a:srgbClr val="2A3D6B"/>
          </a:solidFill>
          <a:ln/>
        </p:spPr>
      </p:sp>
      <p:pic>
        <p:nvPicPr>
          <p:cNvPr id="14" name="Image 4" descr="Symbo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458" y="8989466"/>
            <a:ext cx="537667" cy="5376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SO ARBEITEN SIE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Ihr Arbeitsauftrag für heute</a:t>
            </a:r>
            <a:endParaRPr lang="en-US" sz="3000" dirty="0"/>
          </a:p>
        </p:txBody>
      </p:sp>
      <p:sp>
        <p:nvSpPr>
          <p:cNvPr id="4" name="Symbolkreis"/>
          <p:cNvSpPr/>
          <p:nvPr/>
        </p:nvSpPr>
        <p:spPr>
          <a:xfrm>
            <a:off x="457200" y="23774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25283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 Lesen Sie im Buch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8346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Seiten 168 bis 177. Markieren Sie Fachbegriffe, wenn Sie das Buch auf Papier haben.</a:t>
            </a:r>
            <a:endParaRPr lang="en-US" sz="1800" dirty="0"/>
          </a:p>
        </p:txBody>
      </p:sp>
      <p:sp>
        <p:nvSpPr>
          <p:cNvPr id="8" name="Symbolkreis"/>
          <p:cNvSpPr/>
          <p:nvPr/>
        </p:nvSpPr>
        <p:spPr>
          <a:xfrm>
            <a:off x="457200" y="45262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467715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4526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2. Gehen Sie die Folien durch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49834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Jede Folie fasst einen Abschnitt zusammen. Oben steht die passende Buchseite.</a:t>
            </a:r>
            <a:endParaRPr lang="en-US" sz="1800" dirty="0"/>
          </a:p>
        </p:txBody>
      </p:sp>
      <p:sp>
        <p:nvSpPr>
          <p:cNvPr id="12" name="Symbolkreis"/>
          <p:cNvSpPr/>
          <p:nvPr/>
        </p:nvSpPr>
        <p:spPr>
          <a:xfrm>
            <a:off x="457200" y="66751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682599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6675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3. Bearbeiten Sie die Online-Übung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71323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Fünf Stationen mit je zehn Aufgaben. Sie können jede Station wiederholen.</a:t>
            </a:r>
            <a:endParaRPr lang="en-US" sz="1800" dirty="0"/>
          </a:p>
        </p:txBody>
      </p:sp>
      <p:sp>
        <p:nvSpPr>
          <p:cNvPr id="16" name="Symbolkreis"/>
          <p:cNvSpPr/>
          <p:nvPr/>
        </p:nvSpPr>
        <p:spPr>
          <a:xfrm>
            <a:off x="457200" y="88239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897483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8823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4. Sichern Sie Ihr Ergebnis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92811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Machen Sie am Ende einen Screenshot vom Nachweis in der Übung und bewahren Sie ihn für Ihre Lehrkraft auf.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1.1 KUNDENGRUPPEN · S. 168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Merkmale teilen Kunden in Gruppen ein</a:t>
            </a:r>
            <a:endParaRPr lang="en-US" sz="3000" dirty="0"/>
          </a:p>
        </p:txBody>
      </p:sp>
      <p:sp>
        <p:nvSpPr>
          <p:cNvPr id="4" name="Tabelle Merkmale"/>
          <p:cNvSpPr/>
          <p:nvPr/>
        </p:nvSpPr>
        <p:spPr>
          <a:xfrm>
            <a:off x="457200" y="2286000"/>
            <a:ext cx="5943600" cy="6903720"/>
          </a:xfrm>
          <a:prstGeom prst="roundRect">
            <a:avLst>
              <a:gd name="adj" fmla="val 2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468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Geschlecht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706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Frauen und Männer</a:t>
            </a:r>
            <a:endParaRPr lang="en-US" sz="1800" dirty="0"/>
          </a:p>
        </p:txBody>
      </p:sp>
      <p:sp>
        <p:nvSpPr>
          <p:cNvPr id="7" name="Trennlinie"/>
          <p:cNvSpPr/>
          <p:nvPr/>
        </p:nvSpPr>
        <p:spPr>
          <a:xfrm>
            <a:off x="731520" y="3364992"/>
            <a:ext cx="539496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198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Alter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2160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Kinder, Jugendliche, Erwachsene</a:t>
            </a:r>
            <a:endParaRPr lang="en-US" sz="1800" dirty="0"/>
          </a:p>
        </p:txBody>
      </p:sp>
      <p:sp>
        <p:nvSpPr>
          <p:cNvPr id="10" name="Trennlinie"/>
          <p:cNvSpPr/>
          <p:nvPr/>
        </p:nvSpPr>
        <p:spPr>
          <a:xfrm>
            <a:off x="731520" y="4315968"/>
            <a:ext cx="539496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3708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Wohnort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725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Stadt-, Landbevölkerung</a:t>
            </a:r>
            <a:endParaRPr lang="en-US" sz="1800" dirty="0"/>
          </a:p>
        </p:txBody>
      </p:sp>
      <p:sp>
        <p:nvSpPr>
          <p:cNvPr id="13" name="Trennlinie"/>
          <p:cNvSpPr/>
          <p:nvPr/>
        </p:nvSpPr>
        <p:spPr>
          <a:xfrm>
            <a:off x="731520" y="5266944"/>
            <a:ext cx="539496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3218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Herkunft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6235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Kunden ohne und mit Migrationsgeschichte</a:t>
            </a:r>
            <a:endParaRPr lang="en-US" sz="1800" dirty="0"/>
          </a:p>
        </p:txBody>
      </p:sp>
      <p:sp>
        <p:nvSpPr>
          <p:cNvPr id="16" name="Trennlinie"/>
          <p:cNvSpPr/>
          <p:nvPr/>
        </p:nvSpPr>
        <p:spPr>
          <a:xfrm>
            <a:off x="731520" y="6217920"/>
            <a:ext cx="539496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62727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Einkommen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5745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gehobenes Einkommen, Geringverdiener, Alleinverdiener</a:t>
            </a:r>
            <a:endParaRPr lang="en-US" sz="1800" dirty="0"/>
          </a:p>
        </p:txBody>
      </p:sp>
      <p:sp>
        <p:nvSpPr>
          <p:cNvPr id="19" name="Trennlinie"/>
          <p:cNvSpPr/>
          <p:nvPr/>
        </p:nvSpPr>
        <p:spPr>
          <a:xfrm>
            <a:off x="731520" y="7168896"/>
            <a:ext cx="539496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7223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Familienstand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752551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Single, Partnerschaft mit/ohne Kinder, Alleinerziehende</a:t>
            </a:r>
            <a:endParaRPr lang="en-US" sz="1800" dirty="0"/>
          </a:p>
        </p:txBody>
      </p:sp>
      <p:sp>
        <p:nvSpPr>
          <p:cNvPr id="22" name="Trennlinie"/>
          <p:cNvSpPr/>
          <p:nvPr/>
        </p:nvSpPr>
        <p:spPr>
          <a:xfrm>
            <a:off x="731520" y="8119872"/>
            <a:ext cx="539496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81747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Haushaltsgröße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84764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Ein-, Mehrpersonenhaushalte</a:t>
            </a:r>
            <a:endParaRPr lang="en-US" sz="1800" dirty="0"/>
          </a:p>
        </p:txBody>
      </p:sp>
      <p:sp>
        <p:nvSpPr>
          <p:cNvPr id="25" name="Warnung"/>
          <p:cNvSpPr/>
          <p:nvPr/>
        </p:nvSpPr>
        <p:spPr>
          <a:xfrm>
            <a:off x="457200" y="9464040"/>
            <a:ext cx="5943600" cy="1965960"/>
          </a:xfrm>
          <a:prstGeom prst="roundRect">
            <a:avLst>
              <a:gd name="adj" fmla="val 6512"/>
            </a:avLst>
          </a:prstGeom>
          <a:solidFill>
            <a:srgbClr val="F8E1DE"/>
          </a:solidFill>
          <a:ln/>
        </p:spPr>
      </p:sp>
      <p:sp>
        <p:nvSpPr>
          <p:cNvPr id="26" name="Symbolkreis"/>
          <p:cNvSpPr/>
          <p:nvPr/>
        </p:nvSpPr>
        <p:spPr>
          <a:xfrm>
            <a:off x="685800" y="96469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7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9777679"/>
            <a:ext cx="332842" cy="33284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463040" y="960120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352A"/>
                </a:solidFill>
              </a:rPr>
              <a:t>Vorsicht Klischee!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Ein einziges Merkmal reicht nicht für ein Kundenprofil. Klischee = eingefahrene Vorstellung, Verallgemeinerung, Vorurteil.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1.1.1 FRAUEN UND MÄNNER · S. 168–169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 sich Frauen und Männer unterscheiden</a:t>
            </a:r>
            <a:endParaRPr lang="en-US" sz="3000" dirty="0"/>
          </a:p>
        </p:txBody>
      </p:sp>
      <p:sp>
        <p:nvSpPr>
          <p:cNvPr id="4" name="Diagrammkarte"/>
          <p:cNvSpPr/>
          <p:nvPr/>
        </p:nvSpPr>
        <p:spPr>
          <a:xfrm>
            <a:off x="457200" y="2286000"/>
            <a:ext cx="5943600" cy="5806440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94360" y="2423160"/>
          <a:ext cx="566928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7726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Quelle: IfD Allensbach 2023, Buch S. 169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36676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Rollenklischees wie „Frauen shoppen länger und geben mehr Geld aus“ erklären wenig. Fragen Sie nach den Gründen, z. B.: Wer erledigt die Versorgungseinkäufe für die Familie?</a:t>
            </a:r>
            <a:endParaRPr lang="en-US" sz="1800" dirty="0"/>
          </a:p>
        </p:txBody>
      </p:sp>
      <p:sp>
        <p:nvSpPr>
          <p:cNvPr id="8" name="Fachbegriff"/>
          <p:cNvSpPr/>
          <p:nvPr/>
        </p:nvSpPr>
        <p:spPr>
          <a:xfrm>
            <a:off x="457200" y="9875520"/>
            <a:ext cx="5943600" cy="1554480"/>
          </a:xfrm>
          <a:prstGeom prst="roundRect">
            <a:avLst>
              <a:gd name="adj" fmla="val 8235"/>
            </a:avLst>
          </a:prstGeom>
          <a:solidFill>
            <a:srgbClr val="FBEFD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10058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400"/>
                </a:solidFill>
              </a:rPr>
              <a:t>Gender-Marketing: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untersucht geschlechtstypisches Kaufverhalten und setzt gezielt Werbung ein. Gender = soziales Geschlecht.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1.1.1 FRAUEN UND MÄNNER · S. 169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Die Interessen verschieben sich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Etikett"/>
          <p:cNvSpPr/>
          <p:nvPr/>
        </p:nvSpPr>
        <p:spPr>
          <a:xfrm>
            <a:off x="731520" y="2560320"/>
            <a:ext cx="265176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Immer mehr Frauen 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erledigen Heimwerkerarbeiten und wollen handliches Werkzeug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kümmern sich um den Garten, z. B. um den Rasenmäher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bauen Möbel selbst auf und lassen sich gern beraten</a:t>
            </a:r>
            <a:endParaRPr lang="en-US" sz="1800" dirty="0"/>
          </a:p>
        </p:txBody>
      </p:sp>
      <p:sp>
        <p:nvSpPr>
          <p:cNvPr id="8" name="Karte"/>
          <p:cNvSpPr/>
          <p:nvPr/>
        </p:nvSpPr>
        <p:spPr>
          <a:xfrm>
            <a:off x="457200" y="5806440"/>
            <a:ext cx="5943600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9" name="Etikett"/>
          <p:cNvSpPr/>
          <p:nvPr/>
        </p:nvSpPr>
        <p:spPr>
          <a:xfrm>
            <a:off x="731520" y="6080760"/>
            <a:ext cx="2651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6080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Immer mehr Männer …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67512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legen Wert auf eine modische Frisur und kaufen Haarfärbemittel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kochen und interessieren sich für Haushaltsgeräte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kaufen freiverkäufliche Arzneimittel und lassen sich beraten</a:t>
            </a:r>
            <a:endParaRPr lang="en-US" sz="1800" dirty="0"/>
          </a:p>
        </p:txBody>
      </p:sp>
      <p:sp>
        <p:nvSpPr>
          <p:cNvPr id="12" name="Merke"/>
          <p:cNvSpPr/>
          <p:nvPr/>
        </p:nvSpPr>
        <p:spPr>
          <a:xfrm>
            <a:off x="457200" y="9418320"/>
            <a:ext cx="5943600" cy="2011680"/>
          </a:xfrm>
          <a:prstGeom prst="roundRect">
            <a:avLst>
              <a:gd name="adj" fmla="val 6364"/>
            </a:avLst>
          </a:prstGeom>
          <a:solidFill>
            <a:schemeClr val="accent5"/>
          </a:solidFill>
          <a:ln/>
        </p:spPr>
      </p:sp>
      <p:sp>
        <p:nvSpPr>
          <p:cNvPr id="13" name="Symbolkreis"/>
          <p:cNvSpPr/>
          <p:nvPr/>
        </p:nvSpPr>
        <p:spPr>
          <a:xfrm>
            <a:off x="685800" y="1012698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4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0257739"/>
            <a:ext cx="332842" cy="33284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63040" y="955548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Merke: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Die Kaufkraft von Frauen ist gestiegen. Die Angleichung geht aber langsam und betrifft nicht alle Bereiche.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1.1.1 FRAUEN UND MÄNNER · S. 169–170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 beraten Sie passend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Etikett"/>
          <p:cNvSpPr/>
          <p:nvPr/>
        </p:nvSpPr>
        <p:spPr>
          <a:xfrm>
            <a:off x="731520" y="251460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Kundinnen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4871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lassen sich eher zu Ergänzungskäufen anregen.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Weisen Sie auf passende Ergänzungsartikel hin.</a:t>
            </a:r>
            <a:endParaRPr lang="en-US" sz="1800" dirty="0"/>
          </a:p>
        </p:txBody>
      </p:sp>
      <p:sp>
        <p:nvSpPr>
          <p:cNvPr id="9" name="Karte"/>
          <p:cNvSpPr/>
          <p:nvPr/>
        </p:nvSpPr>
        <p:spPr>
          <a:xfrm>
            <a:off x="457200" y="4114800"/>
            <a:ext cx="5943600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0" name="Etikett"/>
          <p:cNvSpPr/>
          <p:nvPr/>
        </p:nvSpPr>
        <p:spPr>
          <a:xfrm>
            <a:off x="731520" y="434340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Kundinnen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4315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wollen bei teuren Anschaffungen umfassend informiert werden.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834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Beraten Sie fundiert und lassen Sie die Ware testen.</a:t>
            </a:r>
            <a:endParaRPr lang="en-US" sz="1800" dirty="0"/>
          </a:p>
        </p:txBody>
      </p:sp>
      <p:sp>
        <p:nvSpPr>
          <p:cNvPr id="14" name="Karte"/>
          <p:cNvSpPr/>
          <p:nvPr/>
        </p:nvSpPr>
        <p:spPr>
          <a:xfrm>
            <a:off x="457200" y="5943600"/>
            <a:ext cx="5943600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5" name="Etikett"/>
          <p:cNvSpPr/>
          <p:nvPr/>
        </p:nvSpPr>
        <p:spPr>
          <a:xfrm>
            <a:off x="731520" y="617220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6172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Kunden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61447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informieren sich vorab über technische Daten.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812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Stellen Sie früh den Wissensstand fest. Keine „Besserwisserei“.</a:t>
            </a:r>
            <a:endParaRPr lang="en-US" sz="1800" dirty="0"/>
          </a:p>
        </p:txBody>
      </p:sp>
      <p:sp>
        <p:nvSpPr>
          <p:cNvPr id="19" name="Karte"/>
          <p:cNvSpPr/>
          <p:nvPr/>
        </p:nvSpPr>
        <p:spPr>
          <a:xfrm>
            <a:off x="457200" y="7772400"/>
            <a:ext cx="5943600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20" name="Etikett"/>
          <p:cNvSpPr/>
          <p:nvPr/>
        </p:nvSpPr>
        <p:spPr>
          <a:xfrm>
            <a:off x="731520" y="800100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8001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Kunden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79735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kaufen zielgerichtet und wollen ein zügiges Gespräch.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8641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Nennen Sie konkrete Vorteile, die für den Kunden wichtig sind.</a:t>
            </a:r>
            <a:endParaRPr lang="en-US" sz="1800" dirty="0"/>
          </a:p>
        </p:txBody>
      </p:sp>
      <p:sp>
        <p:nvSpPr>
          <p:cNvPr id="24" name="Merke"/>
          <p:cNvSpPr/>
          <p:nvPr/>
        </p:nvSpPr>
        <p:spPr>
          <a:xfrm>
            <a:off x="457200" y="9692640"/>
            <a:ext cx="5943600" cy="1737360"/>
          </a:xfrm>
          <a:prstGeom prst="roundRect">
            <a:avLst>
              <a:gd name="adj" fmla="val 7368"/>
            </a:avLst>
          </a:prstGeom>
          <a:solidFill>
            <a:schemeClr val="accent5"/>
          </a:solidFill>
          <a:ln/>
        </p:spPr>
      </p:sp>
      <p:sp>
        <p:nvSpPr>
          <p:cNvPr id="25" name="Symbolkreis"/>
          <p:cNvSpPr/>
          <p:nvPr/>
        </p:nvSpPr>
        <p:spPr>
          <a:xfrm>
            <a:off x="685800" y="102641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6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0394899"/>
            <a:ext cx="332842" cy="33284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463040" y="9829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Merke: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Nicht jede Situation braucht ein geschlechtsspezifisches Vorgehen. Ordnen Sie niemanden zwanghaft einer Gruppe zu.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1.1.2 ALTERSGRUPPEN · S. 170–171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Kinder kaufen mit und beeinflussen</a:t>
            </a:r>
            <a:endParaRPr lang="en-US" sz="3000" dirty="0"/>
          </a:p>
        </p:txBody>
      </p:sp>
      <p:sp>
        <p:nvSpPr>
          <p:cNvPr id="4" name="Symbolkreis"/>
          <p:cNvSpPr/>
          <p:nvPr/>
        </p:nvSpPr>
        <p:spPr>
          <a:xfrm>
            <a:off x="457200" y="22860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24368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Bis zu 10 Spontankäufe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743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 viele Artikel bringen Kinder ihre Eltern pro Einkauf in den Wagen, oft unbemerkt.</a:t>
            </a:r>
            <a:endParaRPr lang="en-US" sz="1800" dirty="0"/>
          </a:p>
        </p:txBody>
      </p:sp>
      <p:sp>
        <p:nvSpPr>
          <p:cNvPr id="8" name="Symbolkreis"/>
          <p:cNvSpPr/>
          <p:nvPr/>
        </p:nvSpPr>
        <p:spPr>
          <a:xfrm>
            <a:off x="457200" y="40233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417423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Kunden von morgen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4480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Fühlen sich Kinder zurückgesetzt, erzählen sie es zu Hause. Dann meiden manchmal auch die Eltern das Geschäft.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806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Geschäftsfähigkeit</a:t>
            </a:r>
            <a:endParaRPr lang="en-US" sz="2100" dirty="0"/>
          </a:p>
        </p:txBody>
      </p:sp>
      <p:sp>
        <p:nvSpPr>
          <p:cNvPr id="13" name="Karte"/>
          <p:cNvSpPr/>
          <p:nvPr/>
        </p:nvSpPr>
        <p:spPr>
          <a:xfrm>
            <a:off x="457200" y="6355080"/>
            <a:ext cx="594360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4" name="Etikett"/>
          <p:cNvSpPr/>
          <p:nvPr/>
        </p:nvSpPr>
        <p:spPr>
          <a:xfrm>
            <a:off x="731520" y="662940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1520" y="6629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0–6 Jahre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377440" y="6629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geschäftsunfähig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717804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Nur Botengänge für die Eltern. Ist die Ware nicht da, geben Sie keine Ersatzware mit.</a:t>
            </a:r>
            <a:endParaRPr lang="en-US" sz="1800" dirty="0"/>
          </a:p>
        </p:txBody>
      </p:sp>
      <p:sp>
        <p:nvSpPr>
          <p:cNvPr id="18" name="Karte"/>
          <p:cNvSpPr/>
          <p:nvPr/>
        </p:nvSpPr>
        <p:spPr>
          <a:xfrm>
            <a:off x="457200" y="8869680"/>
            <a:ext cx="594360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9" name="Etikett"/>
          <p:cNvSpPr/>
          <p:nvPr/>
        </p:nvSpPr>
        <p:spPr>
          <a:xfrm>
            <a:off x="731520" y="914400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9144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7–17 Jahre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2377440" y="9144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beschränkt geschäftsfähig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731520" y="969264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Eltern müssen zustimmen, außer beim Kauf vom Taschengeld. Bei größeren Beträgen Zustimmung einholen lassen.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1.1.2 ALTERSGRUPPEN · S. 171–172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Jugendliche und junge Erwachsene</a:t>
            </a:r>
            <a:endParaRPr lang="en-US" sz="3000" dirty="0"/>
          </a:p>
        </p:txBody>
      </p:sp>
      <p:sp>
        <p:nvSpPr>
          <p:cNvPr id="4" name="Symbolkreis"/>
          <p:cNvSpPr/>
          <p:nvPr/>
        </p:nvSpPr>
        <p:spPr>
          <a:xfrm>
            <a:off x="457200" y="22860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24368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Image und Trend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7432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Sie wollen im Trend liegen, kaufen Markenartikel und neue Produkte, auch wenn sie teuer sind.</a:t>
            </a:r>
            <a:endParaRPr lang="en-US" sz="1800" dirty="0"/>
          </a:p>
        </p:txBody>
      </p:sp>
      <p:sp>
        <p:nvSpPr>
          <p:cNvPr id="8" name="Symbolkreis"/>
          <p:cNvSpPr/>
          <p:nvPr/>
        </p:nvSpPr>
        <p:spPr>
          <a:xfrm>
            <a:off x="457200" y="38862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40370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886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Influencer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43434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Werbung in sozialen Medien beeinflusst ihre Kaufentscheidungen stark.</a:t>
            </a:r>
            <a:endParaRPr lang="en-US" sz="1800" dirty="0"/>
          </a:p>
        </p:txBody>
      </p:sp>
      <p:sp>
        <p:nvSpPr>
          <p:cNvPr id="12" name="Symbolkreis"/>
          <p:cNvSpPr/>
          <p:nvPr/>
        </p:nvSpPr>
        <p:spPr>
          <a:xfrm>
            <a:off x="457200" y="54864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372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5486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Anerkennung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59436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Oft zählt nicht der Nutzen, sondern die Anerkennung im Freundeskreis.</a:t>
            </a:r>
            <a:endParaRPr lang="en-US" sz="1800" dirty="0"/>
          </a:p>
        </p:txBody>
      </p:sp>
      <p:sp>
        <p:nvSpPr>
          <p:cNvPr id="16" name="Symbolkreis"/>
          <p:cNvSpPr/>
          <p:nvPr/>
        </p:nvSpPr>
        <p:spPr>
          <a:xfrm>
            <a:off x="457200" y="70866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723747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7086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Convenience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7543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Bei Lebensmitteln greifen viele zu Fertigprodukten und achten wenig auf Qualität.</a:t>
            </a:r>
            <a:endParaRPr lang="en-US" sz="1800" dirty="0"/>
          </a:p>
        </p:txBody>
      </p:sp>
      <p:sp>
        <p:nvSpPr>
          <p:cNvPr id="20" name="Fachbegriff"/>
          <p:cNvSpPr/>
          <p:nvPr/>
        </p:nvSpPr>
        <p:spPr>
          <a:xfrm>
            <a:off x="457200" y="8778240"/>
            <a:ext cx="5943600" cy="2606040"/>
          </a:xfrm>
          <a:prstGeom prst="roundRect">
            <a:avLst>
              <a:gd name="adj" fmla="val 4912"/>
            </a:avLst>
          </a:prstGeom>
          <a:solidFill>
            <a:srgbClr val="FBEFD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31520" y="8961120"/>
            <a:ext cx="5394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400"/>
                </a:solidFill>
              </a:rPr>
              <a:t>Digital Natives: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mit digitalen Medien aufgewachsen. Sie nutzen gern Omni-Channel-Angebote, z. B. online reservieren und im Laden abholen.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JUGENDSCHUTZGESETZ · S. 172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Diese Waren dürfen Sie nicht verkaufen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Etikett"/>
          <p:cNvSpPr/>
          <p:nvPr/>
        </p:nvSpPr>
        <p:spPr>
          <a:xfrm>
            <a:off x="731520" y="25603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 unter 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Partyknaller, Wunderkerzen und anderes Feuerwerk der Kategorie F1</a:t>
            </a:r>
            <a:endParaRPr lang="en-US" sz="1800" dirty="0"/>
          </a:p>
        </p:txBody>
      </p:sp>
      <p:sp>
        <p:nvSpPr>
          <p:cNvPr id="8" name="Karte"/>
          <p:cNvSpPr/>
          <p:nvPr/>
        </p:nvSpPr>
        <p:spPr>
          <a:xfrm>
            <a:off x="457200" y="4160520"/>
            <a:ext cx="594360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9" name="Etikett"/>
          <p:cNvSpPr/>
          <p:nvPr/>
        </p:nvSpPr>
        <p:spPr>
          <a:xfrm>
            <a:off x="731520" y="443484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 unter 16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377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Getränke mit wenig Alkohol, z. B. Bier und Wein</a:t>
            </a:r>
            <a:endParaRPr lang="en-US" sz="1800" dirty="0"/>
          </a:p>
        </p:txBody>
      </p:sp>
      <p:sp>
        <p:nvSpPr>
          <p:cNvPr id="12" name="Karte"/>
          <p:cNvSpPr/>
          <p:nvPr/>
        </p:nvSpPr>
        <p:spPr>
          <a:xfrm>
            <a:off x="457200" y="6035040"/>
            <a:ext cx="5943600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3" name="Etikett"/>
          <p:cNvSpPr/>
          <p:nvPr/>
        </p:nvSpPr>
        <p:spPr>
          <a:xfrm>
            <a:off x="731520" y="630936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6309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 unter 18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812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starke Alkoholika (über 15 Vol.-%), Alkopops, Tabakwaren, jugendgefährdende Medien, Feuerwerk F2 (Verkauf nur 28.–31. Dezember)</a:t>
            </a:r>
            <a:endParaRPr lang="en-US" sz="1800" dirty="0"/>
          </a:p>
        </p:txBody>
      </p:sp>
      <p:sp>
        <p:nvSpPr>
          <p:cNvPr id="16" name="Ausweis"/>
          <p:cNvSpPr/>
          <p:nvPr/>
        </p:nvSpPr>
        <p:spPr>
          <a:xfrm>
            <a:off x="457200" y="8458200"/>
            <a:ext cx="5943600" cy="2971800"/>
          </a:xfrm>
          <a:prstGeom prst="roundRect">
            <a:avLst>
              <a:gd name="adj" fmla="val 430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7" name="Symbolkreis"/>
          <p:cNvSpPr/>
          <p:nvPr/>
        </p:nvSpPr>
        <p:spPr>
          <a:xfrm>
            <a:off x="731520" y="8732520"/>
            <a:ext cx="777240" cy="777240"/>
          </a:xfrm>
          <a:prstGeom prst="ellipse">
            <a:avLst/>
          </a:prstGeom>
          <a:solidFill>
            <a:srgbClr val="2A3D6B"/>
          </a:solidFill>
          <a:ln/>
        </p:spPr>
      </p:sp>
      <p:pic>
        <p:nvPicPr>
          <p:cNvPr id="18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3" y="8903513"/>
            <a:ext cx="435254" cy="43525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737360" y="8778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Im Zweifel: Ausweis zeigen lassen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97383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Verlassen Sie sich nie auf Ihre Schätzung. Ratenkäufe mit Jugendlichen schließen Sie überhaupt nicht ab.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GENERATION 50PLUS · S. 172–173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Generation 50plus: kaufkräftig und anspruchsvoll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2880360" cy="30175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468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47 %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616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der Kaufkraft in Deutschland hat die Generation 50plus, Tendenz steigend.</a:t>
            </a:r>
            <a:endParaRPr lang="en-US" sz="1700" dirty="0"/>
          </a:p>
        </p:txBody>
      </p:sp>
      <p:sp>
        <p:nvSpPr>
          <p:cNvPr id="7" name="Karte"/>
          <p:cNvSpPr/>
          <p:nvPr/>
        </p:nvSpPr>
        <p:spPr>
          <a:xfrm>
            <a:off x="3520440" y="2286000"/>
            <a:ext cx="2880360" cy="30175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49040" y="2468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56616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der Generation 50plus bestellen einmal im Monat online.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6235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Viele fühlen sich jünger, sind aktiv und gesund und wollen sich etwas gönnen.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Sie sind qualitätsbewusst, probieren Neues aus und wollen fachkundig beraten werden.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Je älter die Kunden, desto wichtiger ist der persönliche Einkauf im Geschäft.</a:t>
            </a:r>
            <a:endParaRPr lang="en-US" sz="1800" dirty="0"/>
          </a:p>
        </p:txBody>
      </p:sp>
      <p:sp>
        <p:nvSpPr>
          <p:cNvPr id="11" name="Fachbegriff"/>
          <p:cNvSpPr/>
          <p:nvPr/>
        </p:nvSpPr>
        <p:spPr>
          <a:xfrm>
            <a:off x="457200" y="9006840"/>
            <a:ext cx="5943600" cy="1051560"/>
          </a:xfrm>
          <a:prstGeom prst="roundRect">
            <a:avLst>
              <a:gd name="adj" fmla="val 12174"/>
            </a:avLst>
          </a:prstGeom>
          <a:solidFill>
            <a:srgbClr val="FBEF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91897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400"/>
                </a:solidFill>
              </a:rPr>
              <a:t>Best Ager: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andere Bezeichnung für die Generation 50plus.</a:t>
            </a:r>
            <a:endParaRPr lang="en-US" sz="1800" dirty="0"/>
          </a:p>
        </p:txBody>
      </p:sp>
      <p:sp>
        <p:nvSpPr>
          <p:cNvPr id="13" name="Fachbegriff"/>
          <p:cNvSpPr/>
          <p:nvPr/>
        </p:nvSpPr>
        <p:spPr>
          <a:xfrm>
            <a:off x="457200" y="10287000"/>
            <a:ext cx="5943600" cy="1051560"/>
          </a:xfrm>
          <a:prstGeom prst="roundRect">
            <a:avLst>
              <a:gd name="adj" fmla="val 12174"/>
            </a:avLst>
          </a:prstGeom>
          <a:solidFill>
            <a:srgbClr val="FBEF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104698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400"/>
                </a:solidFill>
              </a:rPr>
              <a:t>Silver Surfer: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ältere Menschen, die das Internet nutzen.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GENERATION 50PLUS · S. 173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Was älteren Kunden hilft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288036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Symbolkreis"/>
          <p:cNvSpPr/>
          <p:nvPr/>
        </p:nvSpPr>
        <p:spPr>
          <a:xfrm>
            <a:off x="731520" y="25603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3" y="2731313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4747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Sitzgelegenheiten</a:t>
            </a:r>
            <a:endParaRPr lang="en-US" sz="1800" dirty="0"/>
          </a:p>
        </p:txBody>
      </p:sp>
      <p:sp>
        <p:nvSpPr>
          <p:cNvPr id="8" name="Karte"/>
          <p:cNvSpPr/>
          <p:nvPr/>
        </p:nvSpPr>
        <p:spPr>
          <a:xfrm>
            <a:off x="3520440" y="2286000"/>
            <a:ext cx="288036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9" name="Symbolkreis"/>
          <p:cNvSpPr/>
          <p:nvPr/>
        </p:nvSpPr>
        <p:spPr>
          <a:xfrm>
            <a:off x="3794760" y="25603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753" y="273131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94760" y="34747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Leselupen und gut lesbare Preise</a:t>
            </a:r>
            <a:endParaRPr lang="en-US" sz="1800" dirty="0"/>
          </a:p>
        </p:txBody>
      </p:sp>
      <p:sp>
        <p:nvSpPr>
          <p:cNvPr id="12" name="Karte"/>
          <p:cNvSpPr/>
          <p:nvPr/>
        </p:nvSpPr>
        <p:spPr>
          <a:xfrm>
            <a:off x="457200" y="4800600"/>
            <a:ext cx="288036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3" name="Symbolkreis"/>
          <p:cNvSpPr/>
          <p:nvPr/>
        </p:nvSpPr>
        <p:spPr>
          <a:xfrm>
            <a:off x="731520" y="50749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3" y="5245913"/>
            <a:ext cx="435254" cy="43525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" y="5989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Hilfe beim Verpacken und Geldzählen</a:t>
            </a:r>
            <a:endParaRPr lang="en-US" sz="1800" dirty="0"/>
          </a:p>
        </p:txBody>
      </p:sp>
      <p:sp>
        <p:nvSpPr>
          <p:cNvPr id="16" name="Karte"/>
          <p:cNvSpPr/>
          <p:nvPr/>
        </p:nvSpPr>
        <p:spPr>
          <a:xfrm>
            <a:off x="3520440" y="4800600"/>
            <a:ext cx="288036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7" name="Symbolkreis"/>
          <p:cNvSpPr/>
          <p:nvPr/>
        </p:nvSpPr>
        <p:spPr>
          <a:xfrm>
            <a:off x="3794760" y="50749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753" y="5245913"/>
            <a:ext cx="435254" cy="43525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794760" y="5989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Lieferung, Montage, Reparatur</a:t>
            </a:r>
            <a:endParaRPr lang="en-US" sz="1800" dirty="0"/>
          </a:p>
        </p:txBody>
      </p:sp>
      <p:sp>
        <p:nvSpPr>
          <p:cNvPr id="20" name="Karte"/>
          <p:cNvSpPr/>
          <p:nvPr/>
        </p:nvSpPr>
        <p:spPr>
          <a:xfrm>
            <a:off x="457200" y="7315200"/>
            <a:ext cx="288036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21" name="Symbolkreis"/>
          <p:cNvSpPr/>
          <p:nvPr/>
        </p:nvSpPr>
        <p:spPr>
          <a:xfrm>
            <a:off x="731520" y="75895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mage 4" descr="Symbo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13" y="7760513"/>
            <a:ext cx="435254" cy="43525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1520" y="8503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deutlich sprechen und nachfragen</a:t>
            </a:r>
            <a:endParaRPr lang="en-US" sz="1800" dirty="0"/>
          </a:p>
        </p:txBody>
      </p:sp>
      <p:sp>
        <p:nvSpPr>
          <p:cNvPr id="24" name="Karte"/>
          <p:cNvSpPr/>
          <p:nvPr/>
        </p:nvSpPr>
        <p:spPr>
          <a:xfrm>
            <a:off x="3520440" y="7315200"/>
            <a:ext cx="288036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25" name="Symbolkreis"/>
          <p:cNvSpPr/>
          <p:nvPr/>
        </p:nvSpPr>
        <p:spPr>
          <a:xfrm>
            <a:off x="3794760" y="75895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mage 5" descr="Symb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753" y="7760513"/>
            <a:ext cx="435254" cy="43525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794760" y="8503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kleine Mengen, einfache Gerichte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99212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Ein Teil der älteren Menschen ist in der Mobilität, beim Hören oder beim Sehen eingeschränkt. Viele leben allein und wünschen gesunde, regionale Lebensmittel.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1.1.3 INTERNATIONALE KUNDEN · S. 174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Internationale Kunden: eine wachsende Gruppe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4688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13,9 Mio.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Menschen mit ausländischer Staatsangehörigkeit lebten 2023 in Deutschland. Die meisten kommen aus der Türkei, der Ukraine und Syrien.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074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Dazu kommen Kunden mit kurzem Aufenthalt:</a:t>
            </a:r>
            <a:endParaRPr lang="en-US" sz="2000" dirty="0"/>
          </a:p>
        </p:txBody>
      </p:sp>
      <p:sp>
        <p:nvSpPr>
          <p:cNvPr id="8" name="Symbolkreis"/>
          <p:cNvSpPr/>
          <p:nvPr/>
        </p:nvSpPr>
        <p:spPr>
          <a:xfrm>
            <a:off x="457200" y="57150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86587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5715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Touristen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6172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für den Alltag oder auf Shopping-Tour nach regionalen Besonderheiten</a:t>
            </a:r>
            <a:endParaRPr lang="en-US" sz="1800" dirty="0"/>
          </a:p>
        </p:txBody>
      </p:sp>
      <p:sp>
        <p:nvSpPr>
          <p:cNvPr id="12" name="Symbolkreis"/>
          <p:cNvSpPr/>
          <p:nvPr/>
        </p:nvSpPr>
        <p:spPr>
          <a:xfrm>
            <a:off x="457200" y="71323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72831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7132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Handelsreisende, Messebesucher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371600" y="75895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beruflich für kurze Zeit in Deutschland</a:t>
            </a:r>
            <a:endParaRPr lang="en-US" sz="1800" dirty="0"/>
          </a:p>
        </p:txBody>
      </p:sp>
      <p:sp>
        <p:nvSpPr>
          <p:cNvPr id="16" name="Symbolkreis"/>
          <p:cNvSpPr/>
          <p:nvPr/>
        </p:nvSpPr>
        <p:spPr>
          <a:xfrm>
            <a:off x="457200" y="85496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87005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8549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Patienten und Angehörige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90068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während eines Klinikaufenthalts</a:t>
            </a:r>
            <a:endParaRPr lang="en-US" sz="1800" dirty="0"/>
          </a:p>
        </p:txBody>
      </p:sp>
      <p:sp>
        <p:nvSpPr>
          <p:cNvPr id="20" name="Symbolkreis"/>
          <p:cNvSpPr/>
          <p:nvPr/>
        </p:nvSpPr>
        <p:spPr>
          <a:xfrm>
            <a:off x="457200" y="99669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101178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9966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Schüler, Studierende, Grenzgänger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" y="104241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aus dem Ausland, die hier lernen oder arbeiten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1.1.3 INTERNATIONALE KUNDEN · S. 174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 überwinden Sie Sprachbarrieren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457200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Symbolkreis"/>
          <p:cNvSpPr/>
          <p:nvPr/>
        </p:nvSpPr>
        <p:spPr>
          <a:xfrm>
            <a:off x="731520" y="25146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6755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5146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Im Gespräch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7472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langsam und deutlich sprechen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freundlich und aufmerksam bleiben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auf Symbole oder Zahlen zeigen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die Ware „sprechen lassen“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eine Fremdsprache nutzen</a:t>
            </a:r>
            <a:endParaRPr lang="en-US" sz="1800" dirty="0"/>
          </a:p>
        </p:txBody>
      </p:sp>
      <p:sp>
        <p:nvSpPr>
          <p:cNvPr id="9" name="Karte"/>
          <p:cNvSpPr/>
          <p:nvPr/>
        </p:nvSpPr>
        <p:spPr>
          <a:xfrm>
            <a:off x="457200" y="7132320"/>
            <a:ext cx="5943600" cy="4297680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0" name="Symbolkreis"/>
          <p:cNvSpPr/>
          <p:nvPr/>
        </p:nvSpPr>
        <p:spPr>
          <a:xfrm>
            <a:off x="731520" y="73609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752185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7360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Im Geschäft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83210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internationale Kreditkarten und digitale Zahlung, z. B. PayPal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Sortiment anpassen, z. B. asiatische Produkte in einer eigenen Zone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mehrsprachige Etiketten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1.2 KUNDENTYPEN · S. 175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Drei Arten, Kundentypen zu unterscheiden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Symbolkreis"/>
          <p:cNvSpPr/>
          <p:nvPr/>
        </p:nvSpPr>
        <p:spPr>
          <a:xfrm>
            <a:off x="731520" y="2560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7212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560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Nach dem Kaufmotiv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6"/>
                </a:solidFill>
              </a:rPr>
              <a:t>Warum kauft die Person?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preisorientiert · markenbewusst · gesundheitsorientiert</a:t>
            </a:r>
            <a:endParaRPr lang="en-US" sz="1800" dirty="0"/>
          </a:p>
        </p:txBody>
      </p:sp>
      <p:sp>
        <p:nvSpPr>
          <p:cNvPr id="10" name="Karte"/>
          <p:cNvSpPr/>
          <p:nvPr/>
        </p:nvSpPr>
        <p:spPr>
          <a:xfrm>
            <a:off x="457200" y="4892040"/>
            <a:ext cx="5943600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1" name="Symbolkreis"/>
          <p:cNvSpPr/>
          <p:nvPr/>
        </p:nvSpPr>
        <p:spPr>
          <a:xfrm>
            <a:off x="731520" y="516636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532729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5166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Nach der Situation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5605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6"/>
                </a:solidFill>
              </a:rPr>
              <a:t>Wie verhält sie sich gerade?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6126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eilig · spät · serviceorientiert · Showroomer</a:t>
            </a:r>
            <a:endParaRPr lang="en-US" sz="1800" dirty="0"/>
          </a:p>
        </p:txBody>
      </p:sp>
      <p:sp>
        <p:nvSpPr>
          <p:cNvPr id="16" name="Karte"/>
          <p:cNvSpPr/>
          <p:nvPr/>
        </p:nvSpPr>
        <p:spPr>
          <a:xfrm>
            <a:off x="457200" y="7498080"/>
            <a:ext cx="5943600" cy="237744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7" name="Symbolkreis"/>
          <p:cNvSpPr/>
          <p:nvPr/>
        </p:nvSpPr>
        <p:spPr>
          <a:xfrm>
            <a:off x="731520" y="77724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793333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7772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Nach dem Charakter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8211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6"/>
                </a:solidFill>
              </a:rPr>
              <a:t>Wie ist sie als Mensch?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8732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sachverständig · skeptisch · interessiert · gesprächsfreudig · unentschlossen</a:t>
            </a:r>
            <a:endParaRPr lang="en-US" sz="1800" dirty="0"/>
          </a:p>
        </p:txBody>
      </p:sp>
      <p:sp>
        <p:nvSpPr>
          <p:cNvPr id="22" name="Merke"/>
          <p:cNvSpPr/>
          <p:nvPr/>
        </p:nvSpPr>
        <p:spPr>
          <a:xfrm>
            <a:off x="457200" y="10104120"/>
            <a:ext cx="5943600" cy="1325880"/>
          </a:xfrm>
          <a:prstGeom prst="roundRect">
            <a:avLst>
              <a:gd name="adj" fmla="val 9655"/>
            </a:avLst>
          </a:prstGeom>
          <a:solidFill>
            <a:schemeClr val="accent5"/>
          </a:solidFill>
          <a:ln/>
        </p:spPr>
      </p:sp>
      <p:sp>
        <p:nvSpPr>
          <p:cNvPr id="23" name="Symbolkreis"/>
          <p:cNvSpPr/>
          <p:nvPr/>
        </p:nvSpPr>
        <p:spPr>
          <a:xfrm>
            <a:off x="685800" y="1046988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4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" y="1060063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102412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Merke: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Kundengruppen beschreiben, wer jemand ist. Kundentypen beschreiben, wie jemand kauft.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1.2.1 NACH DEM KAUFMOTIV · S. 175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Was treibt den Kauf an?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25603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Symbolkreis"/>
          <p:cNvSpPr/>
          <p:nvPr/>
        </p:nvSpPr>
        <p:spPr>
          <a:xfrm>
            <a:off x="731520" y="2560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7212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560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Preisorientiert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832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Der Smartshopper sucht Schnäppchen, vergleicht Preise und feilscht gern.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9651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Rabatte, Sonderangebote, Bonusaktionen. Mehrwert zeigen.</a:t>
            </a:r>
            <a:endParaRPr lang="en-US" sz="1700" dirty="0"/>
          </a:p>
        </p:txBody>
      </p:sp>
      <p:sp>
        <p:nvSpPr>
          <p:cNvPr id="10" name="Karte"/>
          <p:cNvSpPr/>
          <p:nvPr/>
        </p:nvSpPr>
        <p:spPr>
          <a:xfrm>
            <a:off x="457200" y="5029200"/>
            <a:ext cx="5943600" cy="25603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1" name="Symbolkreis"/>
          <p:cNvSpPr/>
          <p:nvPr/>
        </p:nvSpPr>
        <p:spPr>
          <a:xfrm>
            <a:off x="731520" y="53035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546445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5303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Markenbewusst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61264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Vertraut der Marke und ihrem Image. Der Preis ist zweitrangig.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683971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Premiumqualität und nachkaufbare Ersatzteile betonen.</a:t>
            </a:r>
            <a:endParaRPr lang="en-US" sz="1700" dirty="0"/>
          </a:p>
        </p:txBody>
      </p:sp>
      <p:sp>
        <p:nvSpPr>
          <p:cNvPr id="16" name="Karte"/>
          <p:cNvSpPr/>
          <p:nvPr/>
        </p:nvSpPr>
        <p:spPr>
          <a:xfrm>
            <a:off x="457200" y="7772400"/>
            <a:ext cx="5943600" cy="25603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7" name="Symbolkreis"/>
          <p:cNvSpPr/>
          <p:nvPr/>
        </p:nvSpPr>
        <p:spPr>
          <a:xfrm>
            <a:off x="731520" y="80467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820765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8046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Gesundheitsorientiert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8869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Achtet auf Ernährung, Entspannung und Fitness. Bio-Kunden geben oft mehr aus.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958291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Am Wohlbefinden argumentieren, Tipps geben.</a:t>
            </a:r>
            <a:endParaRPr lang="en-US" sz="1700" dirty="0"/>
          </a:p>
        </p:txBody>
      </p:sp>
      <p:sp>
        <p:nvSpPr>
          <p:cNvPr id="22" name="Fachbegriff"/>
          <p:cNvSpPr/>
          <p:nvPr/>
        </p:nvSpPr>
        <p:spPr>
          <a:xfrm>
            <a:off x="457200" y="10561320"/>
            <a:ext cx="5943600" cy="868680"/>
          </a:xfrm>
          <a:prstGeom prst="roundRect">
            <a:avLst>
              <a:gd name="adj" fmla="val 14737"/>
            </a:avLst>
          </a:prstGeom>
          <a:solidFill>
            <a:srgbClr val="FBEFD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31520" y="107442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400"/>
                </a:solidFill>
              </a:rPr>
              <a:t>Wellness: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wellbeing (Wohlbefinden) + fitness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1.2.1 NACH DEM KAUFMOTIV · S. 175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Geschmack schlägt Preis</a:t>
            </a:r>
            <a:endParaRPr lang="en-US" sz="3000" dirty="0"/>
          </a:p>
        </p:txBody>
      </p:sp>
      <p:sp>
        <p:nvSpPr>
          <p:cNvPr id="4" name="Diagrammkarte"/>
          <p:cNvSpPr/>
          <p:nvPr/>
        </p:nvSpPr>
        <p:spPr>
          <a:xfrm>
            <a:off x="457200" y="2286000"/>
            <a:ext cx="5943600" cy="7680960"/>
          </a:xfrm>
          <a:prstGeom prst="roundRect">
            <a:avLst>
              <a:gd name="adj" fmla="val 2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94360" y="2423160"/>
          <a:ext cx="5669280" cy="7223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10104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Quelle: BMEL, Forsa, Ernährungsreport 2024 (1 001 Befragte)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Ein niedriger Preis ist nur 55 % wichtig. Für gesundheitsorientierte Kunden zählen Qualität, Herkunft und Haltung.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1.2.2 NACH DER SITUATION · S. 176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 kommt auf die Situation an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Symbolkreis"/>
          <p:cNvSpPr/>
          <p:nvPr/>
        </p:nvSpPr>
        <p:spPr>
          <a:xfrm>
            <a:off x="731520" y="2560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7212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514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Eilige Kunden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9260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Großer Zeitdruck.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478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Schnellscannerkassen anbieten, Laufwege optimieren.</a:t>
            </a:r>
            <a:endParaRPr lang="en-US" sz="1700" dirty="0"/>
          </a:p>
        </p:txBody>
      </p:sp>
      <p:sp>
        <p:nvSpPr>
          <p:cNvPr id="10" name="Karte"/>
          <p:cNvSpPr/>
          <p:nvPr/>
        </p:nvSpPr>
        <p:spPr>
          <a:xfrm>
            <a:off x="457200" y="4389120"/>
            <a:ext cx="594360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1" name="Symbolkreis"/>
          <p:cNvSpPr/>
          <p:nvPr/>
        </p:nvSpPr>
        <p:spPr>
          <a:xfrm>
            <a:off x="731520" y="46634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48243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Späte Kunden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50292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Kurz vor Ladenschluss, meist mit klarem Wunsch.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565099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Flexibel bleiben, gezielt fragen, beschleunigen.</a:t>
            </a:r>
            <a:endParaRPr lang="en-US" sz="1700" dirty="0"/>
          </a:p>
        </p:txBody>
      </p:sp>
      <p:sp>
        <p:nvSpPr>
          <p:cNvPr id="16" name="Karte"/>
          <p:cNvSpPr/>
          <p:nvPr/>
        </p:nvSpPr>
        <p:spPr>
          <a:xfrm>
            <a:off x="457200" y="6492240"/>
            <a:ext cx="594360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7" name="Symbolkreis"/>
          <p:cNvSpPr/>
          <p:nvPr/>
        </p:nvSpPr>
        <p:spPr>
          <a:xfrm>
            <a:off x="731520" y="676656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692749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6720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Serviceorientierte Kunden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71323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Wollen perfekten Service und Beratung.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775411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Zusatzleistungen wie Umtausch und einfache Rückgabe.</a:t>
            </a:r>
            <a:endParaRPr lang="en-US" sz="1700" dirty="0"/>
          </a:p>
        </p:txBody>
      </p:sp>
      <p:sp>
        <p:nvSpPr>
          <p:cNvPr id="22" name="Karte"/>
          <p:cNvSpPr/>
          <p:nvPr/>
        </p:nvSpPr>
        <p:spPr>
          <a:xfrm>
            <a:off x="457200" y="8595360"/>
            <a:ext cx="594360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23" name="Symbolkreis"/>
          <p:cNvSpPr/>
          <p:nvPr/>
        </p:nvSpPr>
        <p:spPr>
          <a:xfrm>
            <a:off x="731520" y="88696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9030614"/>
            <a:ext cx="409651" cy="4096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8823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Showroomer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92354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Lassen sich beraten, kaufen dann online oder woanders.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31520" y="98572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Mitgliedschaftsvorteile oder Garantien anbieten.</a:t>
            </a:r>
            <a:endParaRPr lang="en-US" sz="1700" dirty="0"/>
          </a:p>
        </p:txBody>
      </p:sp>
      <p:sp>
        <p:nvSpPr>
          <p:cNvPr id="28" name="Fachbegriff"/>
          <p:cNvSpPr/>
          <p:nvPr/>
        </p:nvSpPr>
        <p:spPr>
          <a:xfrm>
            <a:off x="457200" y="10698480"/>
            <a:ext cx="5943600" cy="777240"/>
          </a:xfrm>
          <a:prstGeom prst="roundRect">
            <a:avLst>
              <a:gd name="adj" fmla="val 16471"/>
            </a:avLst>
          </a:prstGeom>
          <a:solidFill>
            <a:srgbClr val="FBEFD6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31520" y="108813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400"/>
                </a:solidFill>
              </a:rPr>
              <a:t>Showroomer: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auch „Beratungsdiebe“ genannt. Sie suchen den günstigsten Preis.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1.2.3 NACH DEM CHARAKTER · S. 176–177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Kundentypen nach dem Charakter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28803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Etikett"/>
          <p:cNvSpPr/>
          <p:nvPr/>
        </p:nvSpPr>
        <p:spPr>
          <a:xfrm>
            <a:off x="731520" y="256032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Sachverständig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„Ich kenne mich aus. Kann ich beide Modelle ausprobieren?“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6732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Viel Wissen, klarer Kaufwunsch, vergleicht Marken.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Kompetent und detailliert beraten, ausprobieren lassen.</a:t>
            </a:r>
            <a:endParaRPr lang="en-US" sz="1700" dirty="0"/>
          </a:p>
        </p:txBody>
      </p:sp>
      <p:sp>
        <p:nvSpPr>
          <p:cNvPr id="10" name="Karte"/>
          <p:cNvSpPr/>
          <p:nvPr/>
        </p:nvSpPr>
        <p:spPr>
          <a:xfrm>
            <a:off x="457200" y="5394960"/>
            <a:ext cx="5943600" cy="28803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1" name="Etikett"/>
          <p:cNvSpPr/>
          <p:nvPr/>
        </p:nvSpPr>
        <p:spPr>
          <a:xfrm>
            <a:off x="731520" y="566928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Skeptisch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172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„Stimmt das wirklich? Die Bewertungen sind gemischt.“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876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Misstrauisch, recherchiert, entscheidet nach reiflicher Überlegung.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7498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Offen und ehrlich, nicht übertreiben, Garantie oder Probezeit anbieten.</a:t>
            </a:r>
            <a:endParaRPr lang="en-US" sz="1700" dirty="0"/>
          </a:p>
        </p:txBody>
      </p:sp>
      <p:sp>
        <p:nvSpPr>
          <p:cNvPr id="16" name="Karte"/>
          <p:cNvSpPr/>
          <p:nvPr/>
        </p:nvSpPr>
        <p:spPr>
          <a:xfrm>
            <a:off x="457200" y="8503920"/>
            <a:ext cx="5943600" cy="28803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7" name="Etikett"/>
          <p:cNvSpPr/>
          <p:nvPr/>
        </p:nvSpPr>
        <p:spPr>
          <a:xfrm>
            <a:off x="731520" y="877824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8778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Interessiert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92811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„Ist die Jacke wasserdicht? Wie pflege ich sie?“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998524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Will eine bestimmte Ware, braucht mehr Informationen.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106070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Umfassend beraten, z. B. mit Broschüren. Vorteile zeigen.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1.2.3 NACH DEM CHARAKTER · S. 177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8686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Kundentypen nach dem Charakter</a:t>
            </a:r>
            <a:endParaRPr lang="en-US" sz="3000" dirty="0"/>
          </a:p>
        </p:txBody>
      </p:sp>
      <p:sp>
        <p:nvSpPr>
          <p:cNvPr id="4" name="Karte"/>
          <p:cNvSpPr/>
          <p:nvPr/>
        </p:nvSpPr>
        <p:spPr>
          <a:xfrm>
            <a:off x="457200" y="2286000"/>
            <a:ext cx="5943600" cy="28803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5" name="Etikett"/>
          <p:cNvSpPr/>
          <p:nvPr/>
        </p:nvSpPr>
        <p:spPr>
          <a:xfrm>
            <a:off x="731520" y="256032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Gesprächsfreudig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„Mein Enkel hat auch so eine Uhr. Wie finden Sie die?“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6732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Erzählt gern, stellt viele Fragen, Einkauf als Erlebnis.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Echtes Interesse zeigen, aktiv zuhören, ausführlich antworten.</a:t>
            </a:r>
            <a:endParaRPr lang="en-US" sz="1700" dirty="0"/>
          </a:p>
        </p:txBody>
      </p:sp>
      <p:sp>
        <p:nvSpPr>
          <p:cNvPr id="10" name="Karte"/>
          <p:cNvSpPr/>
          <p:nvPr/>
        </p:nvSpPr>
        <p:spPr>
          <a:xfrm>
            <a:off x="457200" y="5394960"/>
            <a:ext cx="5943600" cy="28803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11" name="Etikett"/>
          <p:cNvSpPr/>
          <p:nvPr/>
        </p:nvSpPr>
        <p:spPr>
          <a:xfrm>
            <a:off x="731520" y="566928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Unentschlossen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172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„Die blaue oder doch die graue? Oder die erste?“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8762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Unsicher, wägt lange ab, schwankt.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7498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</a:rPr>
              <a:t>→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Wie Sie helfen, steht im Buch auf S. 178.</a:t>
            </a:r>
            <a:endParaRPr lang="en-US" sz="1700" dirty="0"/>
          </a:p>
        </p:txBody>
      </p:sp>
      <p:sp>
        <p:nvSpPr>
          <p:cNvPr id="16" name="Merke"/>
          <p:cNvSpPr/>
          <p:nvPr/>
        </p:nvSpPr>
        <p:spPr>
          <a:xfrm>
            <a:off x="457200" y="8778240"/>
            <a:ext cx="5943600" cy="1828800"/>
          </a:xfrm>
          <a:prstGeom prst="roundRect">
            <a:avLst>
              <a:gd name="adj" fmla="val 7000"/>
            </a:avLst>
          </a:prstGeom>
          <a:solidFill>
            <a:schemeClr val="accent5"/>
          </a:solidFill>
          <a:ln/>
        </p:spPr>
      </p:sp>
      <p:sp>
        <p:nvSpPr>
          <p:cNvPr id="17" name="Symbolkreis"/>
          <p:cNvSpPr/>
          <p:nvPr/>
        </p:nvSpPr>
        <p:spPr>
          <a:xfrm>
            <a:off x="685800" y="93954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8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9526219"/>
            <a:ext cx="332842" cy="33284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89154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Merke: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Hören Sie genau zu: Die Äußerungen der Kunden verraten den Typ. Passen Sie Ihre Beratung daran 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117043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548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DAS WICHTIGSTE IN 5 SÄTZEN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0058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Jetzt sind Sie dran</a:t>
            </a:r>
            <a:endParaRPr lang="en-US" sz="3200" dirty="0"/>
          </a:p>
        </p:txBody>
      </p:sp>
      <p:sp>
        <p:nvSpPr>
          <p:cNvPr id="4" name="Nummer"/>
          <p:cNvSpPr/>
          <p:nvPr/>
        </p:nvSpPr>
        <p:spPr>
          <a:xfrm>
            <a:off x="457200" y="2514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4688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Merkmale wie Alter oder Geschlecht bilden Kundengruppen. Vorsicht vor Klischees.</a:t>
            </a:r>
            <a:endParaRPr lang="en-US" sz="1800" dirty="0"/>
          </a:p>
        </p:txBody>
      </p:sp>
      <p:sp>
        <p:nvSpPr>
          <p:cNvPr id="7" name="Nummer"/>
          <p:cNvSpPr/>
          <p:nvPr/>
        </p:nvSpPr>
        <p:spPr>
          <a:xfrm>
            <a:off x="457200" y="372160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67588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Bei Kindern und Jugendlichen gelten Geschäftsfähigkeit und Jugendschutz.</a:t>
            </a:r>
            <a:endParaRPr lang="en-US" sz="1800" dirty="0"/>
          </a:p>
        </p:txBody>
      </p:sp>
      <p:sp>
        <p:nvSpPr>
          <p:cNvPr id="10" name="Nummer"/>
          <p:cNvSpPr/>
          <p:nvPr/>
        </p:nvSpPr>
        <p:spPr>
          <a:xfrm>
            <a:off x="457200" y="4928616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4928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882896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Die Generation 50plus ist kaufkräftig und braucht guten Service.</a:t>
            </a:r>
            <a:endParaRPr lang="en-US" sz="1800" dirty="0"/>
          </a:p>
        </p:txBody>
      </p:sp>
      <p:sp>
        <p:nvSpPr>
          <p:cNvPr id="13" name="Nummer"/>
          <p:cNvSpPr/>
          <p:nvPr/>
        </p:nvSpPr>
        <p:spPr>
          <a:xfrm>
            <a:off x="457200" y="613562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6135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6089904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Internationale Kunden: langsam sprechen, Ware zeigen, Symbole nutzen.</a:t>
            </a:r>
            <a:endParaRPr lang="en-US" sz="1800" dirty="0"/>
          </a:p>
        </p:txBody>
      </p:sp>
      <p:sp>
        <p:nvSpPr>
          <p:cNvPr id="16" name="Nummer"/>
          <p:cNvSpPr/>
          <p:nvPr/>
        </p:nvSpPr>
        <p:spPr>
          <a:xfrm>
            <a:off x="457200" y="734263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7342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7296912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Kundentypen erkennen Sie am Kaufmotiv, an der Situation und am Charakter.</a:t>
            </a:r>
            <a:endParaRPr lang="en-US" sz="1800" dirty="0"/>
          </a:p>
        </p:txBody>
      </p:sp>
      <p:sp>
        <p:nvSpPr>
          <p:cNvPr id="19" name="Auftrag"/>
          <p:cNvSpPr/>
          <p:nvPr/>
        </p:nvSpPr>
        <p:spPr>
          <a:xfrm>
            <a:off x="457200" y="8778240"/>
            <a:ext cx="5943600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8202B">
                <a:alpha val="12000"/>
              </a:srgbClr>
            </a:outerShdw>
          </a:effectLst>
        </p:spPr>
      </p:sp>
      <p:sp>
        <p:nvSpPr>
          <p:cNvPr id="20" name="Symbolkreis"/>
          <p:cNvSpPr/>
          <p:nvPr/>
        </p:nvSpPr>
        <p:spPr>
          <a:xfrm>
            <a:off x="731520" y="905256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mage 0" descr="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3" y="9223553"/>
            <a:ext cx="435254" cy="43525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737360" y="9052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Öffnen Sie jetzt die Online-Übung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100584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Den Link erhalten Sie von Ihrer Lehrkraft. Bearbeiten Sie alle fünf Stationen und machen Sie am Ende einen Screenshot vom Nachweis.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ndenvielfalt">
  <a:themeElements>
    <a:clrScheme name="Kundenvielfalt">
      <a:dk1>
        <a:srgbClr val="18202B"/>
      </a:dk1>
      <a:lt1>
        <a:srgbClr val="FFFFFF"/>
      </a:lt1>
      <a:dk2>
        <a:srgbClr val="1B2A4E"/>
      </a:dk2>
      <a:lt2>
        <a:srgbClr val="F2F4F6"/>
      </a:lt2>
      <a:accent1>
        <a:srgbClr val="2346A0"/>
      </a:accent1>
      <a:accent2>
        <a:srgbClr val="1D7A4C"/>
      </a:accent2>
      <a:accent3>
        <a:srgbClr val="B5352A"/>
      </a:accent3>
      <a:accent4>
        <a:srgbClr val="9A6400"/>
      </a:accent4>
      <a:accent5>
        <a:srgbClr val="E3E9F8"/>
      </a:accent5>
      <a:accent6>
        <a:srgbClr val="5B6676"/>
      </a:accent6>
      <a:hlink>
        <a:srgbClr val="2346A0"/>
      </a:hlink>
      <a:folHlink>
        <a:srgbClr val="5B6676"/>
      </a:folHlink>
    </a:clrScheme>
    <a:fontScheme name="Kundenvielfalt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Kundenvielfalt: Kundengruppen und Kundentypen</dc:title>
  <dc:subject>PptxGenJS Presentation</dc:subject>
  <dc:creator>Einzelhandel, 2. Ausbildungsjahr</dc:creator>
  <cp:lastModifiedBy>Einzelhandel, 2. Ausbildungsjahr</cp:lastModifiedBy>
  <cp:revision>1</cp:revision>
  <dcterms:created xsi:type="dcterms:W3CDTF">2026-10-15T13:18:33Z</dcterms:created>
  <dcterms:modified xsi:type="dcterms:W3CDTF">2026-10-15T13:18:33Z</dcterms:modified>
</cp:coreProperties>
</file>